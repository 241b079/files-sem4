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70" r:id="rId3"/>
    <p:sldId id="271" r:id="rId4"/>
    <p:sldId id="272" r:id="rId5"/>
    <p:sldId id="273" r:id="rId6"/>
    <p:sldId id="274" r:id="rId7"/>
    <p:sldId id="275" r:id="rId8"/>
    <p:sldId id="276" r:id="rId9"/>
    <p:sldId id="278" r:id="rId10"/>
    <p:sldId id="279" r:id="rId11"/>
    <p:sldId id="280" r:id="rId12"/>
    <p:sldId id="281" r:id="rId13"/>
    <p:sldId id="282" r:id="rId14"/>
    <p:sldId id="283" r:id="rId15"/>
    <p:sldId id="284" r:id="rId16"/>
    <p:sldId id="285" r:id="rId17"/>
    <p:sldId id="286" r:id="rId18"/>
  </p:sldIdLst>
  <p:sldSz cx="9906000" cy="6858000" type="A4"/>
  <p:notesSz cx="6629400" cy="9753600"/>
  <p:embeddedFontLst>
    <p:embeddedFont>
      <p:font typeface="Calibri" pitchFamily="34" charset="0"/>
      <p:regular r:id="rId20"/>
      <p:bold r:id="rId21"/>
      <p:italic r:id="rId22"/>
      <p:boldItalic r:id="rId23"/>
    </p:embeddedFont>
    <p:embeddedFont>
      <p:font typeface="Tahoma" pitchFamily="3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12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380" y="-84"/>
      </p:cViewPr>
      <p:guideLst>
        <p:guide orient="horz" pos="2160"/>
        <p:guide pos="3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body" idx="1"/>
          </p:nvPr>
        </p:nvSpPr>
        <p:spPr>
          <a:xfrm>
            <a:off x="800100" y="4635500"/>
            <a:ext cx="5029200" cy="4114800"/>
          </a:xfrm>
          <a:prstGeom prst="rect">
            <a:avLst/>
          </a:prstGeom>
          <a:noFill/>
          <a:ln>
            <a:noFill/>
          </a:ln>
        </p:spPr>
        <p:txBody>
          <a:bodyPr spcFirstLastPara="1" wrap="square" lIns="90475" tIns="44450" rIns="90475" bIns="444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4" name="Google Shape;4;n"/>
          <p:cNvSpPr>
            <a:spLocks noGrp="1" noRot="1" noChangeAspect="1"/>
          </p:cNvSpPr>
          <p:nvPr>
            <p:ph type="sldImg" idx="2"/>
          </p:nvPr>
        </p:nvSpPr>
        <p:spPr>
          <a:xfrm>
            <a:off x="847725" y="850900"/>
            <a:ext cx="4933950" cy="3416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800100" y="46355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303338" y="830263"/>
            <a:ext cx="3997325" cy="2768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1"/>
          <p:cNvSpPr>
            <a:spLocks noGrp="1" noRot="1" noChangeAspect="1" noChangeArrowheads="1" noTextEdit="1"/>
          </p:cNvSpPr>
          <p:nvPr>
            <p:ph type="sldImg"/>
          </p:nvPr>
        </p:nvSpPr>
        <p:spPr>
          <a:xfrm>
            <a:off x="571500" y="323850"/>
            <a:ext cx="5483225" cy="3797300"/>
          </a:xfrm>
          <a:ln/>
        </p:spPr>
      </p:sp>
      <p:sp>
        <p:nvSpPr>
          <p:cNvPr id="64515"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1"/>
          <p:cNvSpPr>
            <a:spLocks noGrp="1" noRot="1" noChangeAspect="1" noChangeArrowheads="1" noTextEdit="1"/>
          </p:cNvSpPr>
          <p:nvPr>
            <p:ph type="sldImg"/>
          </p:nvPr>
        </p:nvSpPr>
        <p:spPr>
          <a:xfrm>
            <a:off x="571500" y="323850"/>
            <a:ext cx="5483225" cy="3797300"/>
          </a:xfrm>
          <a:ln/>
        </p:spPr>
      </p:sp>
      <p:sp>
        <p:nvSpPr>
          <p:cNvPr id="65539"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1"/>
          <p:cNvSpPr>
            <a:spLocks noGrp="1" noRot="1" noChangeAspect="1" noChangeArrowheads="1" noTextEdit="1"/>
          </p:cNvSpPr>
          <p:nvPr>
            <p:ph type="sldImg"/>
          </p:nvPr>
        </p:nvSpPr>
        <p:spPr>
          <a:xfrm>
            <a:off x="571500" y="323850"/>
            <a:ext cx="5483225" cy="3797300"/>
          </a:xfrm>
          <a:ln/>
        </p:spPr>
      </p:sp>
      <p:sp>
        <p:nvSpPr>
          <p:cNvPr id="66563"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1"/>
          <p:cNvSpPr>
            <a:spLocks noGrp="1" noRot="1" noChangeAspect="1" noChangeArrowheads="1" noTextEdit="1"/>
          </p:cNvSpPr>
          <p:nvPr>
            <p:ph type="sldImg"/>
          </p:nvPr>
        </p:nvSpPr>
        <p:spPr>
          <a:xfrm>
            <a:off x="571500" y="323850"/>
            <a:ext cx="5483225" cy="3797300"/>
          </a:xfrm>
          <a:ln/>
        </p:spPr>
      </p:sp>
      <p:sp>
        <p:nvSpPr>
          <p:cNvPr id="67587"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1"/>
          <p:cNvSpPr>
            <a:spLocks noGrp="1" noRot="1" noChangeAspect="1" noChangeArrowheads="1" noTextEdit="1"/>
          </p:cNvSpPr>
          <p:nvPr>
            <p:ph type="sldImg"/>
          </p:nvPr>
        </p:nvSpPr>
        <p:spPr>
          <a:xfrm>
            <a:off x="571500" y="323850"/>
            <a:ext cx="5483225" cy="3797300"/>
          </a:xfrm>
          <a:ln/>
        </p:spPr>
      </p:sp>
      <p:sp>
        <p:nvSpPr>
          <p:cNvPr id="68611"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1"/>
          <p:cNvSpPr>
            <a:spLocks noGrp="1" noRot="1" noChangeAspect="1" noChangeArrowheads="1" noTextEdit="1"/>
          </p:cNvSpPr>
          <p:nvPr>
            <p:ph type="sldImg"/>
          </p:nvPr>
        </p:nvSpPr>
        <p:spPr>
          <a:xfrm>
            <a:off x="571500" y="323850"/>
            <a:ext cx="5483225" cy="3797300"/>
          </a:xfrm>
          <a:ln/>
        </p:spPr>
      </p:sp>
      <p:sp>
        <p:nvSpPr>
          <p:cNvPr id="69635"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1"/>
          <p:cNvSpPr>
            <a:spLocks noGrp="1" noRot="1" noChangeAspect="1" noChangeArrowheads="1" noTextEdit="1"/>
          </p:cNvSpPr>
          <p:nvPr>
            <p:ph type="sldImg"/>
          </p:nvPr>
        </p:nvSpPr>
        <p:spPr>
          <a:xfrm>
            <a:off x="571500" y="323850"/>
            <a:ext cx="5483225" cy="3797300"/>
          </a:xfrm>
          <a:ln/>
        </p:spPr>
      </p:sp>
      <p:sp>
        <p:nvSpPr>
          <p:cNvPr id="70659"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1"/>
          <p:cNvSpPr>
            <a:spLocks noGrp="1" noRot="1" noChangeAspect="1" noChangeArrowheads="1" noTextEdit="1"/>
          </p:cNvSpPr>
          <p:nvPr>
            <p:ph type="sldImg"/>
          </p:nvPr>
        </p:nvSpPr>
        <p:spPr>
          <a:xfrm>
            <a:off x="571500" y="323850"/>
            <a:ext cx="5483225" cy="3797300"/>
          </a:xfrm>
          <a:ln/>
        </p:spPr>
      </p:sp>
      <p:sp>
        <p:nvSpPr>
          <p:cNvPr id="72707"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1"/>
          <p:cNvSpPr>
            <a:spLocks noGrp="1" noRot="1" noChangeAspect="1" noChangeArrowheads="1" noTextEdit="1"/>
          </p:cNvSpPr>
          <p:nvPr>
            <p:ph type="sldImg"/>
          </p:nvPr>
        </p:nvSpPr>
        <p:spPr>
          <a:xfrm>
            <a:off x="571500" y="323850"/>
            <a:ext cx="5483225" cy="3797300"/>
          </a:xfrm>
          <a:ln/>
        </p:spPr>
      </p:sp>
      <p:sp>
        <p:nvSpPr>
          <p:cNvPr id="73731"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1"/>
          <p:cNvSpPr>
            <a:spLocks noGrp="1" noRot="1" noChangeAspect="1" noChangeArrowheads="1" noTextEdit="1"/>
          </p:cNvSpPr>
          <p:nvPr>
            <p:ph type="sldImg"/>
          </p:nvPr>
        </p:nvSpPr>
        <p:spPr>
          <a:xfrm>
            <a:off x="571500" y="323850"/>
            <a:ext cx="5483225" cy="3797300"/>
          </a:xfrm>
          <a:ln/>
        </p:spPr>
      </p:sp>
      <p:sp>
        <p:nvSpPr>
          <p:cNvPr id="74755"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1"/>
          <p:cNvSpPr>
            <a:spLocks noGrp="1" noRot="1" noChangeAspect="1" noChangeArrowheads="1" noTextEdit="1"/>
          </p:cNvSpPr>
          <p:nvPr>
            <p:ph type="sldImg"/>
          </p:nvPr>
        </p:nvSpPr>
        <p:spPr>
          <a:xfrm>
            <a:off x="571500" y="323850"/>
            <a:ext cx="5483225" cy="3797300"/>
          </a:xfrm>
          <a:ln/>
        </p:spPr>
      </p:sp>
      <p:sp>
        <p:nvSpPr>
          <p:cNvPr id="75779"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1"/>
          <p:cNvSpPr>
            <a:spLocks noGrp="1" noRot="1" noChangeAspect="1" noChangeArrowheads="1" noTextEdit="1"/>
          </p:cNvSpPr>
          <p:nvPr>
            <p:ph type="sldImg"/>
          </p:nvPr>
        </p:nvSpPr>
        <p:spPr>
          <a:xfrm>
            <a:off x="571500" y="323850"/>
            <a:ext cx="5483225" cy="3797300"/>
          </a:xfrm>
          <a:ln/>
        </p:spPr>
      </p:sp>
      <p:sp>
        <p:nvSpPr>
          <p:cNvPr id="76803"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1"/>
          <p:cNvSpPr>
            <a:spLocks noGrp="1" noRot="1" noChangeAspect="1" noChangeArrowheads="1" noTextEdit="1"/>
          </p:cNvSpPr>
          <p:nvPr>
            <p:ph type="sldImg"/>
          </p:nvPr>
        </p:nvSpPr>
        <p:spPr>
          <a:xfrm>
            <a:off x="571500" y="323850"/>
            <a:ext cx="5483225" cy="3797300"/>
          </a:xfrm>
          <a:ln/>
        </p:spPr>
      </p:sp>
      <p:sp>
        <p:nvSpPr>
          <p:cNvPr id="77827"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1"/>
          <p:cNvSpPr>
            <a:spLocks noGrp="1" noRot="1" noChangeAspect="1" noChangeArrowheads="1" noTextEdit="1"/>
          </p:cNvSpPr>
          <p:nvPr>
            <p:ph type="sldImg"/>
          </p:nvPr>
        </p:nvSpPr>
        <p:spPr>
          <a:xfrm>
            <a:off x="571500" y="323850"/>
            <a:ext cx="5483225" cy="3797300"/>
          </a:xfrm>
          <a:ln/>
        </p:spPr>
      </p:sp>
      <p:sp>
        <p:nvSpPr>
          <p:cNvPr id="78851"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1"/>
          <p:cNvSpPr>
            <a:spLocks noGrp="1" noRot="1" noChangeAspect="1" noChangeArrowheads="1" noTextEdit="1"/>
          </p:cNvSpPr>
          <p:nvPr>
            <p:ph type="sldImg"/>
          </p:nvPr>
        </p:nvSpPr>
        <p:spPr>
          <a:xfrm>
            <a:off x="571500" y="323850"/>
            <a:ext cx="5483225" cy="3797300"/>
          </a:xfrm>
          <a:ln/>
        </p:spPr>
      </p:sp>
      <p:sp>
        <p:nvSpPr>
          <p:cNvPr id="79875" name="Text Box 2"/>
          <p:cNvSpPr txBox="1">
            <a:spLocks noChangeArrowheads="1"/>
          </p:cNvSpPr>
          <p:nvPr/>
        </p:nvSpPr>
        <p:spPr bwMode="auto">
          <a:xfrm>
            <a:off x="486464" y="4604174"/>
            <a:ext cx="5658008" cy="4328160"/>
          </a:xfrm>
          <a:prstGeom prst="rect">
            <a:avLst/>
          </a:prstGeom>
          <a:noFill/>
          <a:ln w="9525">
            <a:noFill/>
            <a:miter lim="800000"/>
            <a:headEnd/>
            <a:tailE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495300" y="1600200"/>
            <a:ext cx="89154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95300" y="273050"/>
            <a:ext cx="3259006"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3872972" y="273055"/>
            <a:ext cx="5537729"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9" name="Google Shape;39;p6"/>
          <p:cNvSpPr txBox="1">
            <a:spLocks noGrp="1"/>
          </p:cNvSpPr>
          <p:nvPr>
            <p:ph type="body" idx="2"/>
          </p:nvPr>
        </p:nvSpPr>
        <p:spPr>
          <a:xfrm>
            <a:off x="495300" y="1435103"/>
            <a:ext cx="3259006"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0" name="Google Shape;40;p6"/>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495300" y="1535113"/>
            <a:ext cx="437687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495300" y="2174875"/>
            <a:ext cx="4376870"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6" name="Google Shape;56;p9"/>
          <p:cNvSpPr txBox="1">
            <a:spLocks noGrp="1"/>
          </p:cNvSpPr>
          <p:nvPr>
            <p:ph type="body" idx="3"/>
          </p:nvPr>
        </p:nvSpPr>
        <p:spPr>
          <a:xfrm>
            <a:off x="5032113" y="1535113"/>
            <a:ext cx="437859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5032113" y="2174875"/>
            <a:ext cx="4378590"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8" name="Google Shape;58;p9"/>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782506" y="4406905"/>
            <a:ext cx="84201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11"/>
          <p:cNvSpPr txBox="1">
            <a:spLocks noGrp="1"/>
          </p:cNvSpPr>
          <p:nvPr>
            <p:ph type="body" idx="1"/>
          </p:nvPr>
        </p:nvSpPr>
        <p:spPr>
          <a:xfrm>
            <a:off x="782506" y="2906713"/>
            <a:ext cx="84201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1" name="Google Shape;71;p11"/>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2"/>
          <p:cNvSpPr txBox="1">
            <a:spLocks noGrp="1"/>
          </p:cNvSpPr>
          <p:nvPr>
            <p:ph type="ctrTitle"/>
          </p:nvPr>
        </p:nvSpPr>
        <p:spPr>
          <a:xfrm>
            <a:off x="742950" y="2130430"/>
            <a:ext cx="84201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2"/>
          <p:cNvSpPr txBox="1">
            <a:spLocks noGrp="1"/>
          </p:cNvSpPr>
          <p:nvPr>
            <p:ph type="subTitle" idx="1"/>
          </p:nvPr>
        </p:nvSpPr>
        <p:spPr>
          <a:xfrm>
            <a:off x="1485900" y="3886200"/>
            <a:ext cx="69342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77" name="Google Shape;77;p12"/>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885950"/>
            <a:ext cx="43476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08034" y="1885950"/>
            <a:ext cx="43476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C709788-CFC8-4DB1-BD45-ABECE7C616E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95300" y="1600200"/>
            <a:ext cx="89154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9" name="Google Shape;9;p1"/>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10" name="Google Shape;10;p1"/>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7" r:id="rId4"/>
    <p:sldLayoutId id="2147483658" r:id="rId5"/>
    <p:sldLayoutId id="2147483660"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cxnSp>
        <p:nvCxnSpPr>
          <p:cNvPr id="84" name="Google Shape;84;p13"/>
          <p:cNvCxnSpPr/>
          <p:nvPr/>
        </p:nvCxnSpPr>
        <p:spPr>
          <a:xfrm>
            <a:off x="0" y="4038600"/>
            <a:ext cx="9906000" cy="0"/>
          </a:xfrm>
          <a:prstGeom prst="straightConnector1">
            <a:avLst/>
          </a:prstGeom>
          <a:noFill/>
          <a:ln w="50800" cap="flat" cmpd="sng">
            <a:solidFill>
              <a:schemeClr val="accent1"/>
            </a:solidFill>
            <a:prstDash val="solid"/>
            <a:miter lim="800000"/>
            <a:headEnd type="none" w="med" len="med"/>
            <a:tailEnd type="none" w="med" len="med"/>
          </a:ln>
        </p:spPr>
      </p:cxnSp>
      <p:sp>
        <p:nvSpPr>
          <p:cNvPr id="85" name="Google Shape;85;p13"/>
          <p:cNvSpPr txBox="1">
            <a:spLocks noGrp="1"/>
          </p:cNvSpPr>
          <p:nvPr>
            <p:ph type="body" idx="1"/>
          </p:nvPr>
        </p:nvSpPr>
        <p:spPr>
          <a:xfrm>
            <a:off x="725487" y="1981200"/>
            <a:ext cx="8455025" cy="2057400"/>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4400"/>
              <a:buFont typeface="Arial"/>
              <a:buNone/>
            </a:pPr>
            <a:r>
              <a:rPr lang="en-US" sz="4400" b="0" i="0" u="none" strike="noStrike" cap="none" smtClean="0">
                <a:solidFill>
                  <a:schemeClr val="dk1"/>
                </a:solidFill>
                <a:latin typeface="Calibri"/>
                <a:ea typeface="Calibri"/>
                <a:cs typeface="Calibri"/>
                <a:sym typeface="Calibri"/>
              </a:rPr>
              <a:t>Software Estimation-4</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4294967295"/>
          </p:nvPr>
        </p:nvSpPr>
        <p:spPr>
          <a:noFill/>
        </p:spPr>
        <p:txBody>
          <a:bodyPr/>
          <a:lstStyle/>
          <a:p>
            <a:fld id="{29F8D2F0-C316-4FCC-AF3F-88BFEA929EA7}" type="slidenum">
              <a:rPr lang="en-US" smtClean="0">
                <a:latin typeface="Arial" charset="0"/>
              </a:rPr>
              <a:pPr/>
              <a:t>2</a:t>
            </a:fld>
            <a:endParaRPr lang="en-US" smtClean="0">
              <a:latin typeface="Arial" charset="0"/>
            </a:endParaRPr>
          </a:p>
        </p:txBody>
      </p:sp>
      <p:sp>
        <p:nvSpPr>
          <p:cNvPr id="9219" name="Rectangle 1"/>
          <p:cNvSpPr>
            <a:spLocks noGrp="1" noChangeArrowheads="1"/>
          </p:cNvSpPr>
          <p:nvPr>
            <p:ph type="title"/>
          </p:nvPr>
        </p:nvSpPr>
        <p:spPr>
          <a:xfrm>
            <a:off x="440267" y="333376"/>
            <a:ext cx="8416660" cy="1139825"/>
          </a:xfrm>
        </p:spPr>
        <p:txBody>
          <a:bodyPr lIns="18000" tIns="46800" rIns="18000" bIns="46800" anchor="ctr"/>
          <a:lstStyle/>
          <a:p>
            <a:pPr>
              <a:spcBef>
                <a:spcPts val="988"/>
              </a:spcBef>
            </a:pPr>
            <a:r>
              <a:rPr lang="en-GB" smtClean="0">
                <a:solidFill>
                  <a:srgbClr val="0000CC"/>
                </a:solidFill>
              </a:rPr>
              <a:t>Staffing Level Estimation</a:t>
            </a:r>
          </a:p>
        </p:txBody>
      </p:sp>
      <p:sp>
        <p:nvSpPr>
          <p:cNvPr id="9220" name="Rectangle 2"/>
          <p:cNvSpPr>
            <a:spLocks noGrp="1" noChangeArrowheads="1"/>
          </p:cNvSpPr>
          <p:nvPr>
            <p:ph type="body" idx="1"/>
          </p:nvPr>
        </p:nvSpPr>
        <p:spPr>
          <a:xfrm>
            <a:off x="495300" y="1676400"/>
            <a:ext cx="8860367" cy="4171950"/>
          </a:xfrm>
        </p:spPr>
        <p:txBody>
          <a:bodyPr lIns="18000" tIns="46800" rIns="18000" bIns="46800"/>
          <a:lstStyle/>
          <a:p>
            <a:pPr algn="just">
              <a:lnSpc>
                <a:spcPct val="95000"/>
              </a:lnSpc>
              <a:spcBef>
                <a:spcPts val="300"/>
              </a:spcBef>
              <a:buFont typeface="Wingdings" pitchFamily="2" charset="2"/>
              <a:buChar char="§"/>
            </a:pPr>
            <a:r>
              <a:rPr lang="en-GB" smtClean="0"/>
              <a:t>Number of personnel required during any development project:</a:t>
            </a:r>
          </a:p>
          <a:p>
            <a:pPr lvl="1" algn="just">
              <a:lnSpc>
                <a:spcPct val="95000"/>
              </a:lnSpc>
              <a:spcBef>
                <a:spcPts val="250"/>
              </a:spcBef>
              <a:buFont typeface="Wingdings" pitchFamily="2" charset="2"/>
              <a:buChar char="Ø"/>
            </a:pPr>
            <a:r>
              <a:rPr lang="en-GB" sz="3200" smtClean="0"/>
              <a:t>not constant.</a:t>
            </a:r>
          </a:p>
          <a:p>
            <a:pPr lvl="1" algn="just">
              <a:lnSpc>
                <a:spcPct val="95000"/>
              </a:lnSpc>
              <a:spcBef>
                <a:spcPts val="250"/>
              </a:spcBef>
              <a:buFont typeface="Monotype Sorts" pitchFamily="2" charset="2"/>
              <a:buNone/>
            </a:pPr>
            <a:endParaRPr lang="en-GB" sz="3200" smtClean="0"/>
          </a:p>
          <a:p>
            <a:pPr algn="just">
              <a:lnSpc>
                <a:spcPct val="95000"/>
              </a:lnSpc>
              <a:spcBef>
                <a:spcPts val="300"/>
              </a:spcBef>
              <a:buFont typeface="Wingdings" pitchFamily="2" charset="2"/>
              <a:buChar char="§"/>
            </a:pPr>
            <a:r>
              <a:rPr lang="en-GB" smtClean="0"/>
              <a:t>Norden in 1958 analyzed many R&amp;D projects, and observed:</a:t>
            </a:r>
          </a:p>
          <a:p>
            <a:pPr lvl="1" algn="just">
              <a:lnSpc>
                <a:spcPct val="95000"/>
              </a:lnSpc>
              <a:spcBef>
                <a:spcPts val="250"/>
              </a:spcBef>
              <a:buFont typeface="Wingdings" pitchFamily="2" charset="2"/>
              <a:buChar char="Ø"/>
            </a:pPr>
            <a:r>
              <a:rPr lang="en-GB" smtClean="0">
                <a:solidFill>
                  <a:srgbClr val="0000FF"/>
                </a:solidFill>
              </a:rPr>
              <a:t>Rayleigh curve represents the number of full-time personnel required at any time.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p:cNvSpPr>
            <a:spLocks noGrp="1"/>
          </p:cNvSpPr>
          <p:nvPr>
            <p:ph type="sldNum" sz="quarter" idx="12"/>
          </p:nvPr>
        </p:nvSpPr>
        <p:spPr>
          <a:noFill/>
        </p:spPr>
        <p:txBody>
          <a:bodyPr/>
          <a:lstStyle/>
          <a:p>
            <a:fld id="{357DB1A4-31CF-4AED-BDCD-579A296550D6}" type="slidenum">
              <a:rPr lang="en-US" smtClean="0">
                <a:latin typeface="Arial" charset="0"/>
              </a:rPr>
              <a:pPr/>
              <a:t>3</a:t>
            </a:fld>
            <a:endParaRPr lang="en-US" smtClean="0">
              <a:latin typeface="Arial" charset="0"/>
            </a:endParaRPr>
          </a:p>
        </p:txBody>
      </p:sp>
      <p:sp>
        <p:nvSpPr>
          <p:cNvPr id="10243" name="Rectangle 1"/>
          <p:cNvSpPr>
            <a:spLocks noGrp="1" noChangeArrowheads="1"/>
          </p:cNvSpPr>
          <p:nvPr>
            <p:ph type="title"/>
          </p:nvPr>
        </p:nvSpPr>
        <p:spPr>
          <a:xfrm>
            <a:off x="440267" y="182564"/>
            <a:ext cx="8416660" cy="1139825"/>
          </a:xfrm>
        </p:spPr>
        <p:txBody>
          <a:bodyPr lIns="18000" tIns="46800" rIns="18000" bIns="46800" anchor="ctr"/>
          <a:lstStyle/>
          <a:p>
            <a:pPr>
              <a:spcBef>
                <a:spcPts val="1213"/>
              </a:spcBef>
            </a:pPr>
            <a:r>
              <a:rPr lang="en-GB" sz="4800" smtClean="0">
                <a:solidFill>
                  <a:srgbClr val="0000CC"/>
                </a:solidFill>
              </a:rPr>
              <a:t>Rayleigh Curve</a:t>
            </a:r>
          </a:p>
        </p:txBody>
      </p:sp>
      <p:sp>
        <p:nvSpPr>
          <p:cNvPr id="10244" name="Rectangle 2"/>
          <p:cNvSpPr>
            <a:spLocks noGrp="1" noChangeArrowheads="1"/>
          </p:cNvSpPr>
          <p:nvPr>
            <p:ph type="body" idx="1"/>
          </p:nvPr>
        </p:nvSpPr>
        <p:spPr>
          <a:xfrm>
            <a:off x="164525" y="1256557"/>
            <a:ext cx="3879850" cy="3295650"/>
          </a:xfrm>
        </p:spPr>
        <p:txBody>
          <a:bodyPr lIns="18000" tIns="46800" rIns="18000" bIns="46800"/>
          <a:lstStyle/>
          <a:p>
            <a:pPr>
              <a:spcBef>
                <a:spcPts val="525"/>
              </a:spcBef>
              <a:buFont typeface="Wingdings" pitchFamily="2" charset="2"/>
              <a:buChar char="§"/>
            </a:pPr>
            <a:r>
              <a:rPr lang="en-GB" sz="2400" dirty="0" smtClean="0"/>
              <a:t>Rayleigh curve is specified by two parameters:</a:t>
            </a:r>
          </a:p>
          <a:p>
            <a:pPr lvl="1">
              <a:spcBef>
                <a:spcPts val="450"/>
              </a:spcBef>
              <a:buFont typeface="Wingdings" pitchFamily="2" charset="2"/>
              <a:buChar char="Ø"/>
            </a:pPr>
            <a:r>
              <a:rPr lang="en-GB" dirty="0" smtClean="0">
                <a:solidFill>
                  <a:srgbClr val="0000FF"/>
                </a:solidFill>
              </a:rPr>
              <a:t>t</a:t>
            </a:r>
            <a:r>
              <a:rPr lang="en-GB" baseline="-25000" dirty="0" smtClean="0">
                <a:solidFill>
                  <a:srgbClr val="0000FF"/>
                </a:solidFill>
              </a:rPr>
              <a:t>d</a:t>
            </a:r>
            <a:r>
              <a:rPr lang="en-GB" dirty="0" smtClean="0">
                <a:solidFill>
                  <a:srgbClr val="0000FF"/>
                </a:solidFill>
              </a:rPr>
              <a:t> the time at which the curve reaches its maximum </a:t>
            </a:r>
          </a:p>
          <a:p>
            <a:pPr lvl="1">
              <a:spcBef>
                <a:spcPts val="450"/>
              </a:spcBef>
              <a:buFont typeface="Wingdings" pitchFamily="2" charset="2"/>
              <a:buChar char="Ø"/>
            </a:pPr>
            <a:r>
              <a:rPr lang="en-GB" dirty="0" smtClean="0">
                <a:solidFill>
                  <a:srgbClr val="0000FF"/>
                </a:solidFill>
              </a:rPr>
              <a:t>K the total area under the curve.</a:t>
            </a:r>
          </a:p>
          <a:p>
            <a:pPr>
              <a:spcBef>
                <a:spcPts val="713"/>
              </a:spcBef>
              <a:buFont typeface="Wingdings" pitchFamily="2" charset="2"/>
              <a:buChar char="§"/>
            </a:pPr>
            <a:r>
              <a:rPr lang="en-GB" sz="2400" dirty="0" smtClean="0"/>
              <a:t>E=f(K, t</a:t>
            </a:r>
            <a:r>
              <a:rPr lang="en-GB" sz="2400" baseline="-25000" dirty="0" smtClean="0"/>
              <a:t>d</a:t>
            </a:r>
            <a:r>
              <a:rPr lang="en-GB" sz="2400" dirty="0" smtClean="0"/>
              <a:t>)</a:t>
            </a:r>
          </a:p>
          <a:p>
            <a:pPr>
              <a:spcBef>
                <a:spcPts val="713"/>
              </a:spcBef>
              <a:buFont typeface="Wingdings" pitchFamily="2" charset="2"/>
              <a:buChar char="§"/>
            </a:pPr>
            <a:endParaRPr lang="en-GB" sz="2400" dirty="0" smtClean="0"/>
          </a:p>
          <a:p>
            <a:pPr>
              <a:spcBef>
                <a:spcPts val="713"/>
              </a:spcBef>
              <a:buFont typeface="Wingdings" pitchFamily="2" charset="2"/>
              <a:buChar char="§"/>
            </a:pPr>
            <a:r>
              <a:rPr lang="en-GB" sz="2000" dirty="0" smtClean="0"/>
              <a:t>E= (K/t</a:t>
            </a:r>
            <a:r>
              <a:rPr lang="en-GB" sz="2000" baseline="-25000" dirty="0" smtClean="0"/>
              <a:t>d</a:t>
            </a:r>
            <a:r>
              <a:rPr lang="en-GB" sz="2000" baseline="30000" dirty="0" smtClean="0"/>
              <a:t>2</a:t>
            </a:r>
            <a:r>
              <a:rPr lang="en-GB" sz="2000" dirty="0" smtClean="0"/>
              <a:t>)*t*e</a:t>
            </a:r>
            <a:r>
              <a:rPr lang="en-GB" sz="2000" baseline="30000" dirty="0" smtClean="0"/>
              <a:t>(-t</a:t>
            </a:r>
            <a:r>
              <a:rPr lang="en-GB" sz="2000" baseline="44000" dirty="0" smtClean="0"/>
              <a:t>2</a:t>
            </a:r>
            <a:r>
              <a:rPr lang="en-GB" sz="2000" baseline="30000" dirty="0" smtClean="0"/>
              <a:t>/2t</a:t>
            </a:r>
            <a:r>
              <a:rPr lang="en-GB" sz="2000" baseline="-10000" dirty="0" smtClean="0"/>
              <a:t>d</a:t>
            </a:r>
            <a:r>
              <a:rPr lang="en-GB" sz="2000" baseline="40000" dirty="0" smtClean="0"/>
              <a:t>2</a:t>
            </a:r>
            <a:r>
              <a:rPr lang="en-GB" sz="2000" baseline="30000" dirty="0" smtClean="0"/>
              <a:t>)</a:t>
            </a:r>
          </a:p>
        </p:txBody>
      </p:sp>
      <p:sp>
        <p:nvSpPr>
          <p:cNvPr id="10245" name="Line 3"/>
          <p:cNvSpPr>
            <a:spLocks noChangeShapeType="1"/>
          </p:cNvSpPr>
          <p:nvPr/>
        </p:nvSpPr>
        <p:spPr bwMode="auto">
          <a:xfrm>
            <a:off x="5181500" y="1524000"/>
            <a:ext cx="0" cy="3200400"/>
          </a:xfrm>
          <a:prstGeom prst="line">
            <a:avLst/>
          </a:prstGeom>
          <a:noFill/>
          <a:ln w="38160">
            <a:solidFill>
              <a:srgbClr val="003300"/>
            </a:solidFill>
            <a:round/>
            <a:headEnd type="triangle" w="lg" len="lg"/>
            <a:tailEnd/>
          </a:ln>
        </p:spPr>
        <p:txBody>
          <a:bodyPr/>
          <a:lstStyle/>
          <a:p>
            <a:endParaRPr lang="en-US"/>
          </a:p>
        </p:txBody>
      </p:sp>
      <p:sp>
        <p:nvSpPr>
          <p:cNvPr id="10246" name="Line 4"/>
          <p:cNvSpPr>
            <a:spLocks noChangeShapeType="1"/>
          </p:cNvSpPr>
          <p:nvPr/>
        </p:nvSpPr>
        <p:spPr bwMode="auto">
          <a:xfrm>
            <a:off x="5157750" y="4724400"/>
            <a:ext cx="4540250" cy="0"/>
          </a:xfrm>
          <a:prstGeom prst="line">
            <a:avLst/>
          </a:prstGeom>
          <a:noFill/>
          <a:ln w="38160">
            <a:solidFill>
              <a:srgbClr val="003300"/>
            </a:solidFill>
            <a:round/>
            <a:headEnd/>
            <a:tailEnd type="triangle" w="lg" len="lg"/>
          </a:ln>
        </p:spPr>
        <p:txBody>
          <a:bodyPr/>
          <a:lstStyle/>
          <a:p>
            <a:endParaRPr lang="en-US"/>
          </a:p>
        </p:txBody>
      </p:sp>
      <p:sp>
        <p:nvSpPr>
          <p:cNvPr id="10247" name="Freeform 5"/>
          <p:cNvSpPr>
            <a:spLocks noChangeArrowheads="1"/>
          </p:cNvSpPr>
          <p:nvPr/>
        </p:nvSpPr>
        <p:spPr bwMode="auto">
          <a:xfrm>
            <a:off x="5184940" y="2565401"/>
            <a:ext cx="4371710" cy="2155825"/>
          </a:xfrm>
          <a:custGeom>
            <a:avLst/>
            <a:gdLst>
              <a:gd name="T0" fmla="*/ 0 w 11215"/>
              <a:gd name="T1" fmla="*/ 2147483647 h 5994"/>
              <a:gd name="T2" fmla="*/ 2147483647 w 11215"/>
              <a:gd name="T3" fmla="*/ 2147483647 h 5994"/>
              <a:gd name="T4" fmla="*/ 2147483647 w 11215"/>
              <a:gd name="T5" fmla="*/ 2147483647 h 5994"/>
              <a:gd name="T6" fmla="*/ 2147483647 w 11215"/>
              <a:gd name="T7" fmla="*/ 2147483647 h 5994"/>
              <a:gd name="T8" fmla="*/ 2147483647 w 11215"/>
              <a:gd name="T9" fmla="*/ 2147483647 h 5994"/>
              <a:gd name="T10" fmla="*/ 2147483647 w 11215"/>
              <a:gd name="T11" fmla="*/ 2147483647 h 5994"/>
              <a:gd name="T12" fmla="*/ 2147483647 w 11215"/>
              <a:gd name="T13" fmla="*/ 2147483647 h 5994"/>
              <a:gd name="T14" fmla="*/ 2147483647 w 11215"/>
              <a:gd name="T15" fmla="*/ 2147483647 h 5994"/>
              <a:gd name="T16" fmla="*/ 2147483647 w 11215"/>
              <a:gd name="T17" fmla="*/ 2147483647 h 5994"/>
              <a:gd name="T18" fmla="*/ 2147483647 w 11215"/>
              <a:gd name="T19" fmla="*/ 2147483647 h 5994"/>
              <a:gd name="T20" fmla="*/ 2147483647 w 11215"/>
              <a:gd name="T21" fmla="*/ 2147483647 h 5994"/>
              <a:gd name="T22" fmla="*/ 2147483647 w 11215"/>
              <a:gd name="T23" fmla="*/ 2147483647 h 5994"/>
              <a:gd name="T24" fmla="*/ 2147483647 w 11215"/>
              <a:gd name="T25" fmla="*/ 2147483647 h 5994"/>
              <a:gd name="T26" fmla="*/ 2147483647 w 11215"/>
              <a:gd name="T27" fmla="*/ 2147483647 h 59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215"/>
              <a:gd name="T43" fmla="*/ 0 h 5994"/>
              <a:gd name="T44" fmla="*/ 11215 w 11215"/>
              <a:gd name="T45" fmla="*/ 5994 h 59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215" h="5994">
                <a:moveTo>
                  <a:pt x="0" y="5993"/>
                </a:moveTo>
                <a:cubicBezTo>
                  <a:pt x="211" y="5958"/>
                  <a:pt x="422" y="5923"/>
                  <a:pt x="634" y="5782"/>
                </a:cubicBezTo>
                <a:cubicBezTo>
                  <a:pt x="846" y="5640"/>
                  <a:pt x="916" y="5535"/>
                  <a:pt x="1269" y="5148"/>
                </a:cubicBezTo>
                <a:cubicBezTo>
                  <a:pt x="1622" y="4760"/>
                  <a:pt x="2363" y="4019"/>
                  <a:pt x="2751" y="3455"/>
                </a:cubicBezTo>
                <a:cubicBezTo>
                  <a:pt x="3139" y="2891"/>
                  <a:pt x="3350" y="2256"/>
                  <a:pt x="3596" y="1763"/>
                </a:cubicBezTo>
                <a:cubicBezTo>
                  <a:pt x="3843" y="1269"/>
                  <a:pt x="4020" y="775"/>
                  <a:pt x="4231" y="493"/>
                </a:cubicBezTo>
                <a:cubicBezTo>
                  <a:pt x="4443" y="211"/>
                  <a:pt x="4655" y="140"/>
                  <a:pt x="4866" y="70"/>
                </a:cubicBezTo>
                <a:cubicBezTo>
                  <a:pt x="5078" y="0"/>
                  <a:pt x="5325" y="34"/>
                  <a:pt x="5501" y="70"/>
                </a:cubicBezTo>
                <a:cubicBezTo>
                  <a:pt x="5678" y="105"/>
                  <a:pt x="5678" y="70"/>
                  <a:pt x="5925" y="281"/>
                </a:cubicBezTo>
                <a:cubicBezTo>
                  <a:pt x="6172" y="493"/>
                  <a:pt x="6771" y="1128"/>
                  <a:pt x="6983" y="1340"/>
                </a:cubicBezTo>
                <a:cubicBezTo>
                  <a:pt x="7195" y="1551"/>
                  <a:pt x="6876" y="1234"/>
                  <a:pt x="7195" y="1551"/>
                </a:cubicBezTo>
                <a:cubicBezTo>
                  <a:pt x="7511" y="1868"/>
                  <a:pt x="8287" y="2679"/>
                  <a:pt x="8887" y="3244"/>
                </a:cubicBezTo>
                <a:cubicBezTo>
                  <a:pt x="9487" y="3807"/>
                  <a:pt x="10404" y="4618"/>
                  <a:pt x="10791" y="4936"/>
                </a:cubicBezTo>
                <a:cubicBezTo>
                  <a:pt x="11179" y="5253"/>
                  <a:pt x="11197" y="5200"/>
                  <a:pt x="11214" y="5148"/>
                </a:cubicBezTo>
              </a:path>
            </a:pathLst>
          </a:custGeom>
          <a:noFill/>
          <a:ln w="57240">
            <a:solidFill>
              <a:srgbClr val="FF0000"/>
            </a:solidFill>
            <a:prstDash val="sysDot"/>
            <a:round/>
            <a:headEnd/>
            <a:tailEnd/>
          </a:ln>
        </p:spPr>
        <p:txBody>
          <a:bodyPr/>
          <a:lstStyle/>
          <a:p>
            <a:endParaRPr lang="en-US"/>
          </a:p>
        </p:txBody>
      </p:sp>
      <p:sp>
        <p:nvSpPr>
          <p:cNvPr id="10248" name="Text Box 6"/>
          <p:cNvSpPr txBox="1">
            <a:spLocks noChangeArrowheads="1"/>
          </p:cNvSpPr>
          <p:nvPr/>
        </p:nvSpPr>
        <p:spPr bwMode="auto">
          <a:xfrm>
            <a:off x="4547161" y="1933700"/>
            <a:ext cx="1057672" cy="454025"/>
          </a:xfrm>
          <a:prstGeom prst="rect">
            <a:avLst/>
          </a:prstGeom>
          <a:noFill/>
          <a:ln w="9525">
            <a:noFill/>
            <a:miter lim="800000"/>
            <a:headEnd/>
            <a:tailEnd/>
          </a:ln>
        </p:spPr>
        <p:txBody>
          <a:bodyPr lIns="18000" tIns="46800" rIns="18000" bIns="46800"/>
          <a:lstStyle/>
          <a:p>
            <a:pPr>
              <a:lnSpc>
                <a:spcPct val="72000"/>
              </a:lnSpc>
              <a:spcBef>
                <a:spcPts val="538"/>
              </a:spcBef>
              <a:tabLst>
                <a:tab pos="815975" algn="l"/>
                <a:tab pos="863600" algn="l"/>
              </a:tabLst>
            </a:pPr>
            <a:r>
              <a:rPr lang="en-GB" b="1" dirty="0">
                <a:solidFill>
                  <a:srgbClr val="0000FF"/>
                </a:solidFill>
              </a:rPr>
              <a:t>Effort</a:t>
            </a:r>
          </a:p>
        </p:txBody>
      </p:sp>
      <p:sp>
        <p:nvSpPr>
          <p:cNvPr id="10249" name="Text Box 7"/>
          <p:cNvSpPr txBox="1">
            <a:spLocks noChangeArrowheads="1"/>
          </p:cNvSpPr>
          <p:nvPr/>
        </p:nvSpPr>
        <p:spPr bwMode="auto">
          <a:xfrm>
            <a:off x="6089551" y="4876801"/>
            <a:ext cx="1977760" cy="454025"/>
          </a:xfrm>
          <a:prstGeom prst="rect">
            <a:avLst/>
          </a:prstGeom>
          <a:noFill/>
          <a:ln w="9525">
            <a:noFill/>
            <a:miter lim="800000"/>
            <a:headEnd/>
            <a:tailEnd/>
          </a:ln>
        </p:spPr>
        <p:txBody>
          <a:bodyPr lIns="18000" tIns="46800" rIns="18000" bIns="46800"/>
          <a:lstStyle/>
          <a:p>
            <a:pPr>
              <a:lnSpc>
                <a:spcPct val="72000"/>
              </a:lnSpc>
              <a:spcBef>
                <a:spcPts val="1363"/>
              </a:spcBef>
              <a:tabLst>
                <a:tab pos="815975" algn="l"/>
                <a:tab pos="1633538" algn="l"/>
                <a:tab pos="1728788" algn="l"/>
              </a:tabLst>
            </a:pPr>
            <a:r>
              <a:rPr lang="en-GB" b="1">
                <a:solidFill>
                  <a:srgbClr val="0000FF"/>
                </a:solidFill>
              </a:rPr>
              <a:t>Time</a:t>
            </a:r>
          </a:p>
        </p:txBody>
      </p:sp>
      <p:sp>
        <p:nvSpPr>
          <p:cNvPr id="10250" name="Line 8"/>
          <p:cNvSpPr>
            <a:spLocks noChangeShapeType="1"/>
          </p:cNvSpPr>
          <p:nvPr/>
        </p:nvSpPr>
        <p:spPr bwMode="auto">
          <a:xfrm>
            <a:off x="7245250" y="2590800"/>
            <a:ext cx="0" cy="2133600"/>
          </a:xfrm>
          <a:prstGeom prst="line">
            <a:avLst/>
          </a:prstGeom>
          <a:noFill/>
          <a:ln w="38160" cap="rnd">
            <a:solidFill>
              <a:srgbClr val="003300"/>
            </a:solidFill>
            <a:prstDash val="sysDot"/>
            <a:round/>
            <a:headEnd/>
            <a:tailEnd/>
          </a:ln>
        </p:spPr>
        <p:txBody>
          <a:bodyPr/>
          <a:lstStyle/>
          <a:p>
            <a:endParaRPr lang="en-US"/>
          </a:p>
        </p:txBody>
      </p:sp>
      <p:sp>
        <p:nvSpPr>
          <p:cNvPr id="10251" name="Text Box 9"/>
          <p:cNvSpPr txBox="1">
            <a:spLocks noChangeArrowheads="1"/>
          </p:cNvSpPr>
          <p:nvPr/>
        </p:nvSpPr>
        <p:spPr bwMode="auto">
          <a:xfrm>
            <a:off x="6915051" y="4267200"/>
            <a:ext cx="574410" cy="393700"/>
          </a:xfrm>
          <a:prstGeom prst="rect">
            <a:avLst/>
          </a:prstGeom>
          <a:noFill/>
          <a:ln w="9525">
            <a:noFill/>
            <a:miter lim="800000"/>
            <a:headEnd/>
            <a:tailEnd/>
          </a:ln>
        </p:spPr>
        <p:txBody>
          <a:bodyPr lIns="18000" tIns="46800" rIns="18000" bIns="46800"/>
          <a:lstStyle/>
          <a:p>
            <a:pPr>
              <a:lnSpc>
                <a:spcPct val="72000"/>
              </a:lnSpc>
              <a:spcBef>
                <a:spcPts val="1138"/>
              </a:spcBef>
            </a:pPr>
            <a:r>
              <a:rPr lang="en-GB" sz="2000" b="1"/>
              <a:t>t</a:t>
            </a:r>
            <a:r>
              <a:rPr lang="en-GB" sz="2000" b="1" baseline="-25000"/>
              <a:t>d</a:t>
            </a:r>
          </a:p>
        </p:txBody>
      </p:sp>
      <p:sp>
        <p:nvSpPr>
          <p:cNvPr id="10252" name="Text Box 10"/>
          <p:cNvSpPr txBox="1">
            <a:spLocks noChangeArrowheads="1"/>
          </p:cNvSpPr>
          <p:nvPr/>
        </p:nvSpPr>
        <p:spPr bwMode="auto">
          <a:xfrm>
            <a:off x="5900701" y="2057401"/>
            <a:ext cx="3463660" cy="454025"/>
          </a:xfrm>
          <a:prstGeom prst="rect">
            <a:avLst/>
          </a:prstGeom>
          <a:noFill/>
          <a:ln w="9525">
            <a:noFill/>
            <a:miter lim="800000"/>
            <a:headEnd/>
            <a:tailEnd/>
          </a:ln>
        </p:spPr>
        <p:txBody>
          <a:bodyPr lIns="18000" tIns="46800" rIns="18000" bIns="46800"/>
          <a:lstStyle/>
          <a:p>
            <a:pPr>
              <a:lnSpc>
                <a:spcPct val="72000"/>
              </a:lnSpc>
              <a:spcBef>
                <a:spcPts val="1363"/>
              </a:spcBef>
              <a:tabLst>
                <a:tab pos="815975" algn="l"/>
                <a:tab pos="1633538" algn="l"/>
                <a:tab pos="2449513" algn="l"/>
                <a:tab pos="2735263" algn="l"/>
                <a:tab pos="2895600" algn="l"/>
              </a:tabLst>
            </a:pPr>
            <a:r>
              <a:rPr lang="en-GB" b="1" dirty="0">
                <a:solidFill>
                  <a:srgbClr val="800000"/>
                </a:solidFill>
              </a:rPr>
              <a:t>Rayleigh</a:t>
            </a:r>
            <a:r>
              <a:rPr lang="en-GB" sz="1800" b="1" dirty="0">
                <a:solidFill>
                  <a:srgbClr val="800000"/>
                </a:solidFill>
              </a:rPr>
              <a:t> </a:t>
            </a:r>
            <a:r>
              <a:rPr lang="en-GB" b="1" dirty="0">
                <a:solidFill>
                  <a:srgbClr val="800000"/>
                </a:solidFill>
              </a:rPr>
              <a:t>Curve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4294967295"/>
          </p:nvPr>
        </p:nvSpPr>
        <p:spPr>
          <a:noFill/>
        </p:spPr>
        <p:txBody>
          <a:bodyPr/>
          <a:lstStyle/>
          <a:p>
            <a:fld id="{B723207C-118F-4674-83FD-F485018520F3}" type="slidenum">
              <a:rPr lang="en-US" smtClean="0">
                <a:latin typeface="Arial" charset="0"/>
              </a:rPr>
              <a:pPr/>
              <a:t>4</a:t>
            </a:fld>
            <a:endParaRPr lang="en-US" smtClean="0">
              <a:latin typeface="Arial" charset="0"/>
            </a:endParaRPr>
          </a:p>
        </p:txBody>
      </p:sp>
      <p:sp>
        <p:nvSpPr>
          <p:cNvPr id="11267" name="Rectangle 1"/>
          <p:cNvSpPr>
            <a:spLocks noGrp="1" noChangeArrowheads="1"/>
          </p:cNvSpPr>
          <p:nvPr>
            <p:ph type="title"/>
          </p:nvPr>
        </p:nvSpPr>
        <p:spPr>
          <a:xfrm>
            <a:off x="440267" y="182564"/>
            <a:ext cx="8416660" cy="1139825"/>
          </a:xfrm>
        </p:spPr>
        <p:txBody>
          <a:bodyPr lIns="18000" tIns="46800" rIns="18000" bIns="46800" anchor="ctr"/>
          <a:lstStyle/>
          <a:p>
            <a:pPr>
              <a:spcBef>
                <a:spcPts val="1213"/>
              </a:spcBef>
            </a:pPr>
            <a:r>
              <a:rPr lang="en-GB" sz="4800" smtClean="0">
                <a:solidFill>
                  <a:srgbClr val="0000CC"/>
                </a:solidFill>
              </a:rPr>
              <a:t>Putnam’s Work:</a:t>
            </a:r>
          </a:p>
        </p:txBody>
      </p:sp>
      <p:sp>
        <p:nvSpPr>
          <p:cNvPr id="11268" name="Rectangle 2"/>
          <p:cNvSpPr>
            <a:spLocks noGrp="1" noChangeArrowheads="1"/>
          </p:cNvSpPr>
          <p:nvPr>
            <p:ph type="body" idx="1"/>
          </p:nvPr>
        </p:nvSpPr>
        <p:spPr/>
        <p:txBody>
          <a:bodyPr lIns="18000" tIns="46800" rIns="18000" bIns="46800"/>
          <a:lstStyle/>
          <a:p>
            <a:pPr algn="just">
              <a:spcBef>
                <a:spcPts val="988"/>
              </a:spcBef>
              <a:buFont typeface="Wingdings" pitchFamily="2" charset="2"/>
              <a:buChar char="§"/>
            </a:pPr>
            <a:r>
              <a:rPr lang="en-GB" smtClean="0"/>
              <a:t>In 1976, Putnam studied the problem of staffing of software projects:</a:t>
            </a:r>
          </a:p>
          <a:p>
            <a:pPr lvl="1" algn="just">
              <a:spcBef>
                <a:spcPts val="713"/>
              </a:spcBef>
              <a:buFont typeface="Wingdings" pitchFamily="2" charset="2"/>
              <a:buChar char="Ø"/>
            </a:pPr>
            <a:r>
              <a:rPr lang="en-GB" smtClean="0"/>
              <a:t>observed that the level of effort required in software development efforts has a similar to R &amp; D.</a:t>
            </a:r>
          </a:p>
          <a:p>
            <a:pPr lvl="1" algn="just">
              <a:spcBef>
                <a:spcPts val="713"/>
              </a:spcBef>
              <a:buFont typeface="Wingdings" pitchFamily="2" charset="2"/>
              <a:buChar char="Ø"/>
            </a:pPr>
            <a:r>
              <a:rPr lang="en-GB" smtClean="0">
                <a:solidFill>
                  <a:srgbClr val="0000FF"/>
                </a:solidFill>
              </a:rPr>
              <a:t>found that the Rayleigh-Norden curve </a:t>
            </a:r>
          </a:p>
          <a:p>
            <a:pPr lvl="2" algn="just">
              <a:spcBef>
                <a:spcPts val="613"/>
              </a:spcBef>
              <a:buFont typeface="Wingdings" pitchFamily="2" charset="2"/>
              <a:buChar char="v"/>
            </a:pPr>
            <a:r>
              <a:rPr lang="en-GB" smtClean="0">
                <a:solidFill>
                  <a:srgbClr val="0000FF"/>
                </a:solidFill>
              </a:rPr>
              <a:t>relates the number of delivered lines of code to effort and development time.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4294967295"/>
          </p:nvPr>
        </p:nvSpPr>
        <p:spPr>
          <a:noFill/>
        </p:spPr>
        <p:txBody>
          <a:bodyPr/>
          <a:lstStyle/>
          <a:p>
            <a:fld id="{EEE3C6F6-9726-4773-BA53-1359A6B0FF41}" type="slidenum">
              <a:rPr lang="en-US" smtClean="0">
                <a:latin typeface="Arial" charset="0"/>
              </a:rPr>
              <a:pPr/>
              <a:t>5</a:t>
            </a:fld>
            <a:endParaRPr lang="en-US" smtClean="0">
              <a:latin typeface="Arial" charset="0"/>
            </a:endParaRPr>
          </a:p>
        </p:txBody>
      </p:sp>
      <p:sp>
        <p:nvSpPr>
          <p:cNvPr id="12291" name="Rectangle 1"/>
          <p:cNvSpPr>
            <a:spLocks noGrp="1" noChangeArrowheads="1"/>
          </p:cNvSpPr>
          <p:nvPr>
            <p:ph type="title"/>
          </p:nvPr>
        </p:nvSpPr>
        <p:spPr>
          <a:xfrm>
            <a:off x="440267" y="182564"/>
            <a:ext cx="8416660" cy="1139825"/>
          </a:xfrm>
        </p:spPr>
        <p:txBody>
          <a:bodyPr lIns="18000" tIns="46800" rIns="18000" bIns="46800" anchor="ctr"/>
          <a:lstStyle/>
          <a:p>
            <a:pPr>
              <a:spcBef>
                <a:spcPts val="988"/>
              </a:spcBef>
            </a:pPr>
            <a:r>
              <a:rPr lang="en-GB" smtClean="0">
                <a:solidFill>
                  <a:srgbClr val="0000CC"/>
                </a:solidFill>
              </a:rPr>
              <a:t>Putnam’s Work</a:t>
            </a:r>
            <a:r>
              <a:rPr lang="en-GB" sz="1400" smtClean="0">
                <a:solidFill>
                  <a:srgbClr val="0000CC"/>
                </a:solidFill>
              </a:rPr>
              <a:t> (CONT.)</a:t>
            </a:r>
            <a:r>
              <a:rPr lang="en-GB" smtClean="0">
                <a:solidFill>
                  <a:srgbClr val="0000CC"/>
                </a:solidFill>
              </a:rPr>
              <a:t>:</a:t>
            </a:r>
          </a:p>
        </p:txBody>
      </p:sp>
      <p:sp>
        <p:nvSpPr>
          <p:cNvPr id="12292" name="Rectangle 2"/>
          <p:cNvSpPr>
            <a:spLocks noGrp="1" noChangeArrowheads="1"/>
          </p:cNvSpPr>
          <p:nvPr>
            <p:ph type="body" idx="1"/>
          </p:nvPr>
        </p:nvSpPr>
        <p:spPr>
          <a:xfrm>
            <a:off x="577851" y="1600201"/>
            <a:ext cx="8856927" cy="4422775"/>
          </a:xfrm>
        </p:spPr>
        <p:txBody>
          <a:bodyPr lIns="18000" tIns="46800" rIns="18000" bIns="46800"/>
          <a:lstStyle/>
          <a:p>
            <a:pPr algn="just">
              <a:lnSpc>
                <a:spcPct val="90000"/>
              </a:lnSpc>
              <a:spcBef>
                <a:spcPts val="488"/>
              </a:spcBef>
              <a:buFont typeface="Wingdings" pitchFamily="2" charset="2"/>
              <a:buChar char="§"/>
            </a:pPr>
            <a:r>
              <a:rPr lang="en-GB" sz="3600" smtClean="0"/>
              <a:t>Putnam analyzed a large number of army projects, and derived the expression:</a:t>
            </a:r>
          </a:p>
          <a:p>
            <a:pPr algn="just">
              <a:lnSpc>
                <a:spcPct val="90000"/>
              </a:lnSpc>
              <a:spcBef>
                <a:spcPts val="488"/>
              </a:spcBef>
              <a:buFont typeface="Monotype Sorts" pitchFamily="2" charset="2"/>
              <a:buNone/>
            </a:pPr>
            <a:r>
              <a:rPr lang="en-GB" sz="3600" smtClean="0"/>
              <a:t>    </a:t>
            </a:r>
            <a:r>
              <a:rPr lang="en-GB" sz="3600" smtClean="0">
                <a:solidFill>
                  <a:srgbClr val="800000"/>
                </a:solidFill>
              </a:rPr>
              <a:t> </a:t>
            </a:r>
            <a:r>
              <a:rPr lang="en-GB" sz="3600" smtClean="0">
                <a:solidFill>
                  <a:srgbClr val="0000FF"/>
                </a:solidFill>
              </a:rPr>
              <a:t>L=C</a:t>
            </a:r>
            <a:r>
              <a:rPr lang="en-GB" sz="3600" baseline="-25000" smtClean="0">
                <a:solidFill>
                  <a:srgbClr val="0000FF"/>
                </a:solidFill>
              </a:rPr>
              <a:t>k</a:t>
            </a:r>
            <a:r>
              <a:rPr lang="en-GB" sz="3600" smtClean="0">
                <a:solidFill>
                  <a:srgbClr val="0000FF"/>
                </a:solidFill>
              </a:rPr>
              <a:t>K</a:t>
            </a:r>
            <a:r>
              <a:rPr lang="en-GB" sz="3600" baseline="30000" smtClean="0">
                <a:solidFill>
                  <a:srgbClr val="0000FF"/>
                </a:solidFill>
              </a:rPr>
              <a:t>1/3</a:t>
            </a:r>
            <a:r>
              <a:rPr lang="en-GB" sz="3600" smtClean="0">
                <a:solidFill>
                  <a:srgbClr val="0000FF"/>
                </a:solidFill>
              </a:rPr>
              <a:t>t</a:t>
            </a:r>
            <a:r>
              <a:rPr lang="en-GB" sz="3600" baseline="-25000" smtClean="0">
                <a:solidFill>
                  <a:srgbClr val="0000FF"/>
                </a:solidFill>
              </a:rPr>
              <a:t>d</a:t>
            </a:r>
            <a:r>
              <a:rPr lang="en-GB" sz="3600" baseline="30000" smtClean="0">
                <a:solidFill>
                  <a:srgbClr val="0000FF"/>
                </a:solidFill>
              </a:rPr>
              <a:t>4/3</a:t>
            </a:r>
          </a:p>
          <a:p>
            <a:pPr lvl="1" algn="just">
              <a:lnSpc>
                <a:spcPct val="90000"/>
              </a:lnSpc>
              <a:spcBef>
                <a:spcPts val="350"/>
              </a:spcBef>
              <a:buFont typeface="Wingdings" pitchFamily="2" charset="2"/>
              <a:buChar char="Ø"/>
            </a:pPr>
            <a:r>
              <a:rPr lang="en-GB" sz="3200" smtClean="0"/>
              <a:t>K is the effort expended  and L is the size in KLOC.</a:t>
            </a:r>
          </a:p>
          <a:p>
            <a:pPr lvl="1" algn="just">
              <a:lnSpc>
                <a:spcPct val="90000"/>
              </a:lnSpc>
              <a:spcBef>
                <a:spcPts val="425"/>
              </a:spcBef>
              <a:buFont typeface="Wingdings" pitchFamily="2" charset="2"/>
              <a:buChar char="Ø"/>
            </a:pPr>
            <a:r>
              <a:rPr lang="en-GB" sz="3200" smtClean="0"/>
              <a:t>t</a:t>
            </a:r>
            <a:r>
              <a:rPr lang="en-GB" sz="3200" baseline="-25000" smtClean="0"/>
              <a:t>d</a:t>
            </a:r>
            <a:r>
              <a:rPr lang="en-GB" sz="3200" smtClean="0"/>
              <a:t> is the time to develop the software.</a:t>
            </a:r>
          </a:p>
          <a:p>
            <a:pPr lvl="1" algn="just">
              <a:lnSpc>
                <a:spcPct val="90000"/>
              </a:lnSpc>
              <a:spcBef>
                <a:spcPts val="425"/>
              </a:spcBef>
              <a:buFont typeface="Wingdings" pitchFamily="2" charset="2"/>
              <a:buChar char="Ø"/>
            </a:pPr>
            <a:r>
              <a:rPr lang="en-GB" sz="3200" smtClean="0"/>
              <a:t>C</a:t>
            </a:r>
            <a:r>
              <a:rPr lang="en-GB" sz="3200" baseline="-25000" smtClean="0"/>
              <a:t>k</a:t>
            </a:r>
            <a:r>
              <a:rPr lang="en-GB" sz="3200" smtClean="0"/>
              <a:t> is the state of technology constant</a:t>
            </a:r>
          </a:p>
          <a:p>
            <a:pPr lvl="2" algn="just">
              <a:lnSpc>
                <a:spcPct val="90000"/>
              </a:lnSpc>
              <a:spcBef>
                <a:spcPts val="300"/>
              </a:spcBef>
              <a:buFont typeface="Wingdings" pitchFamily="2" charset="2"/>
              <a:buChar char="v"/>
            </a:pPr>
            <a:r>
              <a:rPr lang="en-GB" sz="2800" smtClean="0"/>
              <a:t>reflects factors that affect programmer productivity.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4294967295"/>
          </p:nvPr>
        </p:nvSpPr>
        <p:spPr>
          <a:noFill/>
        </p:spPr>
        <p:txBody>
          <a:bodyPr/>
          <a:lstStyle/>
          <a:p>
            <a:fld id="{CAC59DA1-FC39-46F3-801A-DD23A430AD68}" type="slidenum">
              <a:rPr lang="en-US" smtClean="0">
                <a:latin typeface="Arial" charset="0"/>
              </a:rPr>
              <a:pPr/>
              <a:t>6</a:t>
            </a:fld>
            <a:endParaRPr lang="en-US" smtClean="0">
              <a:latin typeface="Arial" charset="0"/>
            </a:endParaRPr>
          </a:p>
        </p:txBody>
      </p:sp>
      <p:sp>
        <p:nvSpPr>
          <p:cNvPr id="13315" name="Rectangle 1"/>
          <p:cNvSpPr>
            <a:spLocks noGrp="1" noChangeArrowheads="1"/>
          </p:cNvSpPr>
          <p:nvPr>
            <p:ph type="title"/>
          </p:nvPr>
        </p:nvSpPr>
        <p:spPr>
          <a:xfrm>
            <a:off x="440267" y="182564"/>
            <a:ext cx="8416660" cy="1139825"/>
          </a:xfrm>
        </p:spPr>
        <p:txBody>
          <a:bodyPr lIns="18000" tIns="46800" rIns="18000" bIns="46800" anchor="ctr"/>
          <a:lstStyle/>
          <a:p>
            <a:pPr>
              <a:spcBef>
                <a:spcPts val="988"/>
              </a:spcBef>
            </a:pPr>
            <a:r>
              <a:rPr lang="en-GB" smtClean="0">
                <a:solidFill>
                  <a:srgbClr val="0000CC"/>
                </a:solidFill>
              </a:rPr>
              <a:t>Putnam’s Work</a:t>
            </a:r>
            <a:r>
              <a:rPr lang="en-GB" sz="1400" smtClean="0">
                <a:solidFill>
                  <a:srgbClr val="0000CC"/>
                </a:solidFill>
              </a:rPr>
              <a:t> (CONT.)</a:t>
            </a:r>
            <a:r>
              <a:rPr lang="en-GB" smtClean="0">
                <a:solidFill>
                  <a:srgbClr val="0000CC"/>
                </a:solidFill>
              </a:rPr>
              <a:t>:</a:t>
            </a:r>
          </a:p>
        </p:txBody>
      </p:sp>
      <p:sp>
        <p:nvSpPr>
          <p:cNvPr id="13316" name="Rectangle 2"/>
          <p:cNvSpPr>
            <a:spLocks noGrp="1" noChangeArrowheads="1"/>
          </p:cNvSpPr>
          <p:nvPr>
            <p:ph type="body" idx="1"/>
          </p:nvPr>
        </p:nvSpPr>
        <p:spPr/>
        <p:txBody>
          <a:bodyPr lIns="18000" tIns="46800" rIns="18000" bIns="46800"/>
          <a:lstStyle/>
          <a:p>
            <a:pPr algn="just">
              <a:spcBef>
                <a:spcPts val="750"/>
              </a:spcBef>
              <a:buFont typeface="Wingdings" pitchFamily="2" charset="2"/>
              <a:buChar char="§"/>
            </a:pPr>
            <a:r>
              <a:rPr lang="en-GB" dirty="0" smtClean="0"/>
              <a:t>C</a:t>
            </a:r>
            <a:r>
              <a:rPr lang="en-GB" baseline="-25000" dirty="0" smtClean="0"/>
              <a:t>k</a:t>
            </a:r>
            <a:r>
              <a:rPr lang="en-GB" dirty="0" smtClean="0"/>
              <a:t>=2 for poor development environment </a:t>
            </a:r>
          </a:p>
          <a:p>
            <a:pPr lvl="1" algn="just">
              <a:spcBef>
                <a:spcPts val="525"/>
              </a:spcBef>
              <a:buFont typeface="Wingdings" pitchFamily="2" charset="2"/>
              <a:buChar char="Ø"/>
            </a:pPr>
            <a:r>
              <a:rPr lang="en-GB" dirty="0" smtClean="0"/>
              <a:t>no methodology, poor documentation, and review, etc.</a:t>
            </a:r>
          </a:p>
          <a:p>
            <a:pPr algn="just">
              <a:spcBef>
                <a:spcPts val="750"/>
              </a:spcBef>
              <a:buFont typeface="Wingdings" pitchFamily="2" charset="2"/>
              <a:buChar char="§"/>
            </a:pPr>
            <a:r>
              <a:rPr lang="en-GB" dirty="0" smtClean="0"/>
              <a:t>C</a:t>
            </a:r>
            <a:r>
              <a:rPr lang="en-GB" baseline="-25000" dirty="0" smtClean="0"/>
              <a:t>k</a:t>
            </a:r>
            <a:r>
              <a:rPr lang="en-GB" dirty="0" smtClean="0"/>
              <a:t>=8 for good software development environment </a:t>
            </a:r>
          </a:p>
          <a:p>
            <a:pPr lvl="1" algn="just">
              <a:spcBef>
                <a:spcPts val="525"/>
              </a:spcBef>
              <a:buFont typeface="Wingdings" pitchFamily="2" charset="2"/>
              <a:buChar char="Ø"/>
            </a:pPr>
            <a:r>
              <a:rPr lang="en-GB" dirty="0" smtClean="0"/>
              <a:t>software engineering principles used </a:t>
            </a:r>
          </a:p>
          <a:p>
            <a:pPr algn="just">
              <a:spcBef>
                <a:spcPts val="750"/>
              </a:spcBef>
              <a:buFont typeface="Wingdings" pitchFamily="2" charset="2"/>
              <a:buChar char="§"/>
            </a:pPr>
            <a:r>
              <a:rPr lang="en-GB" dirty="0" smtClean="0"/>
              <a:t>C</a:t>
            </a:r>
            <a:r>
              <a:rPr lang="en-GB" baseline="-25000" dirty="0" smtClean="0"/>
              <a:t>k</a:t>
            </a:r>
            <a:r>
              <a:rPr lang="en-GB" dirty="0" smtClean="0"/>
              <a:t>=11 for an excellent environment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4294967295"/>
          </p:nvPr>
        </p:nvSpPr>
        <p:spPr>
          <a:noFill/>
        </p:spPr>
        <p:txBody>
          <a:bodyPr/>
          <a:lstStyle/>
          <a:p>
            <a:fld id="{6E50F215-BF69-401F-8554-B73B877E17FF}" type="slidenum">
              <a:rPr lang="en-US" smtClean="0">
                <a:latin typeface="Arial" charset="0"/>
              </a:rPr>
              <a:pPr/>
              <a:t>7</a:t>
            </a:fld>
            <a:endParaRPr lang="en-US" smtClean="0">
              <a:latin typeface="Arial" charset="0"/>
            </a:endParaRPr>
          </a:p>
        </p:txBody>
      </p:sp>
      <p:sp>
        <p:nvSpPr>
          <p:cNvPr id="14339" name="Rectangle 1"/>
          <p:cNvSpPr>
            <a:spLocks noGrp="1" noChangeArrowheads="1"/>
          </p:cNvSpPr>
          <p:nvPr>
            <p:ph type="title"/>
          </p:nvPr>
        </p:nvSpPr>
        <p:spPr>
          <a:xfrm>
            <a:off x="440267" y="182564"/>
            <a:ext cx="8416660" cy="1139825"/>
          </a:xfrm>
        </p:spPr>
        <p:txBody>
          <a:bodyPr lIns="18000" tIns="46800" rIns="18000" bIns="46800" anchor="ctr"/>
          <a:lstStyle/>
          <a:p>
            <a:pPr>
              <a:spcBef>
                <a:spcPts val="1213"/>
              </a:spcBef>
            </a:pPr>
            <a:r>
              <a:rPr lang="en-GB" sz="4800" smtClean="0">
                <a:solidFill>
                  <a:srgbClr val="0000CC"/>
                </a:solidFill>
              </a:rPr>
              <a:t>Rayleigh Curve</a:t>
            </a:r>
          </a:p>
        </p:txBody>
      </p:sp>
      <p:sp>
        <p:nvSpPr>
          <p:cNvPr id="14340" name="Rectangle 2"/>
          <p:cNvSpPr>
            <a:spLocks noGrp="1" noChangeArrowheads="1"/>
          </p:cNvSpPr>
          <p:nvPr>
            <p:ph type="body" idx="1"/>
          </p:nvPr>
        </p:nvSpPr>
        <p:spPr/>
        <p:txBody>
          <a:bodyPr lIns="18000" tIns="46800" rIns="18000" bIns="46800"/>
          <a:lstStyle/>
          <a:p>
            <a:pPr algn="just">
              <a:spcBef>
                <a:spcPts val="613"/>
              </a:spcBef>
              <a:buFont typeface="Wingdings" pitchFamily="2" charset="2"/>
              <a:buChar char="§"/>
            </a:pPr>
            <a:r>
              <a:rPr lang="en-GB" sz="3600" smtClean="0"/>
              <a:t>Very small number of engineers are needed at the beginning of a project</a:t>
            </a:r>
          </a:p>
          <a:p>
            <a:pPr lvl="1" algn="just">
              <a:spcBef>
                <a:spcPts val="525"/>
              </a:spcBef>
              <a:buFont typeface="Wingdings" pitchFamily="2" charset="2"/>
              <a:buChar char="Ø"/>
            </a:pPr>
            <a:r>
              <a:rPr lang="en-GB" sz="3200" smtClean="0"/>
              <a:t> carry out planning and specification. </a:t>
            </a:r>
          </a:p>
          <a:p>
            <a:pPr algn="just">
              <a:spcBef>
                <a:spcPts val="613"/>
              </a:spcBef>
              <a:buFont typeface="Wingdings" pitchFamily="2" charset="2"/>
              <a:buChar char="§"/>
            </a:pPr>
            <a:r>
              <a:rPr lang="en-GB" sz="3600" smtClean="0"/>
              <a:t>As the project progresses:</a:t>
            </a:r>
          </a:p>
          <a:p>
            <a:pPr lvl="1" algn="just">
              <a:spcBef>
                <a:spcPts val="525"/>
              </a:spcBef>
              <a:buFont typeface="Wingdings" pitchFamily="2" charset="2"/>
              <a:buChar char="Ø"/>
            </a:pPr>
            <a:r>
              <a:rPr lang="en-GB" sz="3200" smtClean="0"/>
              <a:t>more detailed work is required, </a:t>
            </a:r>
          </a:p>
          <a:p>
            <a:pPr lvl="1" algn="just">
              <a:spcBef>
                <a:spcPts val="525"/>
              </a:spcBef>
              <a:buFont typeface="Wingdings" pitchFamily="2" charset="2"/>
              <a:buChar char="Ø"/>
            </a:pPr>
            <a:r>
              <a:rPr lang="en-GB" sz="3200" smtClean="0"/>
              <a:t>number of engineers slowly increases and reaches a peak.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4294967295"/>
          </p:nvPr>
        </p:nvSpPr>
        <p:spPr>
          <a:noFill/>
        </p:spPr>
        <p:txBody>
          <a:bodyPr/>
          <a:lstStyle/>
          <a:p>
            <a:fld id="{0D9398D3-05E0-42B9-A82B-3B25EEAAD643}" type="slidenum">
              <a:rPr lang="en-US" smtClean="0">
                <a:latin typeface="Arial" charset="0"/>
              </a:rPr>
              <a:pPr/>
              <a:t>8</a:t>
            </a:fld>
            <a:endParaRPr lang="en-US" smtClean="0">
              <a:latin typeface="Arial" charset="0"/>
            </a:endParaRPr>
          </a:p>
        </p:txBody>
      </p:sp>
      <p:sp>
        <p:nvSpPr>
          <p:cNvPr id="15363" name="Rectangle 1"/>
          <p:cNvSpPr>
            <a:spLocks noGrp="1" noChangeArrowheads="1"/>
          </p:cNvSpPr>
          <p:nvPr>
            <p:ph type="title"/>
          </p:nvPr>
        </p:nvSpPr>
        <p:spPr>
          <a:xfrm>
            <a:off x="440267" y="182564"/>
            <a:ext cx="8416660" cy="1139825"/>
          </a:xfrm>
        </p:spPr>
        <p:txBody>
          <a:bodyPr lIns="18000" tIns="46800" rIns="18000" bIns="46800" anchor="ctr"/>
          <a:lstStyle/>
          <a:p>
            <a:pPr>
              <a:spcBef>
                <a:spcPts val="1213"/>
              </a:spcBef>
            </a:pPr>
            <a:r>
              <a:rPr lang="en-GB" sz="4800" smtClean="0">
                <a:solidFill>
                  <a:srgbClr val="0000CC"/>
                </a:solidFill>
              </a:rPr>
              <a:t>Rayleigh Curve</a:t>
            </a:r>
          </a:p>
        </p:txBody>
      </p:sp>
      <p:sp>
        <p:nvSpPr>
          <p:cNvPr id="15364" name="Rectangle 2"/>
          <p:cNvSpPr>
            <a:spLocks noGrp="1" noChangeArrowheads="1"/>
          </p:cNvSpPr>
          <p:nvPr>
            <p:ph type="body" idx="1"/>
          </p:nvPr>
        </p:nvSpPr>
        <p:spPr>
          <a:xfrm>
            <a:off x="495300" y="1676400"/>
            <a:ext cx="8860367" cy="4171950"/>
          </a:xfrm>
        </p:spPr>
        <p:txBody>
          <a:bodyPr lIns="18000" tIns="46800" rIns="18000" bIns="46800"/>
          <a:lstStyle/>
          <a:p>
            <a:pPr algn="just">
              <a:spcBef>
                <a:spcPts val="988"/>
              </a:spcBef>
              <a:buFont typeface="Wingdings" pitchFamily="2" charset="2"/>
              <a:buChar char="§"/>
            </a:pPr>
            <a:r>
              <a:rPr lang="en-GB" sz="3600" smtClean="0"/>
              <a:t>Putnam observed that:</a:t>
            </a:r>
          </a:p>
          <a:p>
            <a:pPr lvl="1" algn="just">
              <a:spcBef>
                <a:spcPts val="713"/>
              </a:spcBef>
              <a:buFont typeface="Wingdings" pitchFamily="2" charset="2"/>
              <a:buChar char="Ø"/>
            </a:pPr>
            <a:r>
              <a:rPr lang="en-GB" sz="3200" smtClean="0">
                <a:solidFill>
                  <a:srgbClr val="0000FF"/>
                </a:solidFill>
              </a:rPr>
              <a:t>the time at which the Rayleigh curve reaches its maximum value </a:t>
            </a:r>
          </a:p>
          <a:p>
            <a:pPr lvl="2" algn="just">
              <a:spcBef>
                <a:spcPts val="613"/>
              </a:spcBef>
              <a:buFont typeface="Wingdings" pitchFamily="2" charset="2"/>
              <a:buChar char="v"/>
            </a:pPr>
            <a:r>
              <a:rPr lang="en-GB" sz="2800" smtClean="0">
                <a:solidFill>
                  <a:srgbClr val="0000FF"/>
                </a:solidFill>
              </a:rPr>
              <a:t>corresponds to system code and testing of product.</a:t>
            </a:r>
          </a:p>
          <a:p>
            <a:pPr lvl="1" algn="just">
              <a:spcBef>
                <a:spcPts val="713"/>
              </a:spcBef>
              <a:buFont typeface="Wingdings" pitchFamily="2" charset="2"/>
              <a:buChar char="Ø"/>
            </a:pPr>
            <a:r>
              <a:rPr lang="en-GB" sz="3200" smtClean="0"/>
              <a:t>After system testing, </a:t>
            </a:r>
          </a:p>
          <a:p>
            <a:pPr lvl="2" algn="just">
              <a:spcBef>
                <a:spcPts val="613"/>
              </a:spcBef>
              <a:buFont typeface="Wingdings" pitchFamily="2" charset="2"/>
              <a:buChar char="v"/>
            </a:pPr>
            <a:r>
              <a:rPr lang="en-GB" sz="2800" smtClean="0"/>
              <a:t>the number of project staff falls till product installation and delivery.</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4294967295"/>
          </p:nvPr>
        </p:nvSpPr>
        <p:spPr>
          <a:noFill/>
        </p:spPr>
        <p:txBody>
          <a:bodyPr/>
          <a:lstStyle/>
          <a:p>
            <a:fld id="{D3FA4471-1E9A-4A8D-A885-BCA1FA56BCFF}" type="slidenum">
              <a:rPr lang="en-US" smtClean="0">
                <a:latin typeface="Arial" charset="0"/>
              </a:rPr>
              <a:pPr/>
              <a:t>9</a:t>
            </a:fld>
            <a:endParaRPr lang="en-US" smtClean="0">
              <a:latin typeface="Arial" charset="0"/>
            </a:endParaRPr>
          </a:p>
        </p:txBody>
      </p:sp>
      <p:sp>
        <p:nvSpPr>
          <p:cNvPr id="17411" name="Rectangle 1"/>
          <p:cNvSpPr>
            <a:spLocks noGrp="1" noChangeArrowheads="1"/>
          </p:cNvSpPr>
          <p:nvPr>
            <p:ph type="title"/>
          </p:nvPr>
        </p:nvSpPr>
        <p:spPr>
          <a:xfrm>
            <a:off x="440267" y="314326"/>
            <a:ext cx="8416660" cy="1406525"/>
          </a:xfrm>
        </p:spPr>
        <p:txBody>
          <a:bodyPr lIns="18000" tIns="46800" rIns="18000" bIns="46800" anchor="ctr"/>
          <a:lstStyle/>
          <a:p>
            <a:pPr>
              <a:spcBef>
                <a:spcPts val="988"/>
              </a:spcBef>
            </a:pPr>
            <a:r>
              <a:rPr lang="en-GB" smtClean="0">
                <a:solidFill>
                  <a:srgbClr val="0000CC"/>
                </a:solidFill>
              </a:rPr>
              <a:t>Effect of Schedule Change on Cost</a:t>
            </a:r>
          </a:p>
        </p:txBody>
      </p:sp>
      <p:sp>
        <p:nvSpPr>
          <p:cNvPr id="63490" name="Rectangle 2"/>
          <p:cNvSpPr>
            <a:spLocks noGrp="1" noChangeArrowheads="1"/>
          </p:cNvSpPr>
          <p:nvPr>
            <p:ph type="body" idx="1"/>
          </p:nvPr>
        </p:nvSpPr>
        <p:spPr/>
        <p:txBody>
          <a:bodyPr lIns="18000" tIns="46800" rIns="18000" bIns="46800"/>
          <a:lstStyle/>
          <a:p>
            <a:pPr>
              <a:spcBef>
                <a:spcPts val="613"/>
              </a:spcBef>
              <a:buFont typeface="Wingdings" pitchFamily="2" charset="2"/>
              <a:buChar char="§"/>
              <a:defRPr/>
            </a:pPr>
            <a:r>
              <a:rPr lang="en-GB" sz="3600" dirty="0"/>
              <a:t>Using the Putnam's expression for L,</a:t>
            </a:r>
            <a:br>
              <a:rPr lang="en-GB" sz="3600" dirty="0"/>
            </a:br>
            <a:r>
              <a:rPr lang="en-GB" sz="3600" dirty="0"/>
              <a:t>		K=L</a:t>
            </a:r>
            <a:r>
              <a:rPr lang="en-GB" sz="3600" baseline="30000" dirty="0"/>
              <a:t>3</a:t>
            </a:r>
            <a:r>
              <a:rPr lang="en-GB" sz="3600" dirty="0"/>
              <a:t>/C</a:t>
            </a:r>
            <a:r>
              <a:rPr lang="en-GB" sz="3600" baseline="-25000" dirty="0"/>
              <a:t>k</a:t>
            </a:r>
            <a:r>
              <a:rPr lang="en-GB" sz="3600" baseline="30000" dirty="0"/>
              <a:t>3</a:t>
            </a:r>
            <a:r>
              <a:rPr lang="en-GB" sz="3600" dirty="0"/>
              <a:t>t</a:t>
            </a:r>
            <a:r>
              <a:rPr lang="en-GB" sz="3600" baseline="-25000" dirty="0"/>
              <a:t>d</a:t>
            </a:r>
            <a:r>
              <a:rPr lang="en-GB" sz="3600" baseline="30000" dirty="0"/>
              <a:t>4</a:t>
            </a:r>
            <a:r>
              <a:rPr lang="en-GB" sz="3600" dirty="0"/>
              <a:t> </a:t>
            </a:r>
            <a:br>
              <a:rPr lang="en-GB" sz="3600" dirty="0"/>
            </a:br>
            <a:r>
              <a:rPr lang="en-GB" sz="3600" dirty="0"/>
              <a:t>	 Or, K=C1/t</a:t>
            </a:r>
            <a:r>
              <a:rPr lang="en-GB" sz="3600" baseline="-25000" dirty="0"/>
              <a:t>d</a:t>
            </a:r>
            <a:r>
              <a:rPr lang="en-GB" sz="3600" baseline="30000" dirty="0"/>
              <a:t>4</a:t>
            </a:r>
          </a:p>
          <a:p>
            <a:pPr>
              <a:spcBef>
                <a:spcPts val="913"/>
              </a:spcBef>
              <a:buFont typeface="Wingdings" pitchFamily="2" charset="2"/>
              <a:buChar char="§"/>
              <a:defRPr/>
            </a:pPr>
            <a:r>
              <a:rPr lang="en-GB" sz="3600" dirty="0"/>
              <a:t>For the same product size, C1=L</a:t>
            </a:r>
            <a:r>
              <a:rPr lang="en-GB" sz="3600" baseline="30000" dirty="0"/>
              <a:t>3</a:t>
            </a:r>
            <a:r>
              <a:rPr lang="en-GB" sz="3600" dirty="0"/>
              <a:t>/C</a:t>
            </a:r>
            <a:r>
              <a:rPr lang="en-GB" sz="3600" baseline="-25000" dirty="0"/>
              <a:t>k</a:t>
            </a:r>
            <a:r>
              <a:rPr lang="en-GB" sz="3600" baseline="30000" dirty="0"/>
              <a:t>3</a:t>
            </a:r>
            <a:r>
              <a:rPr lang="en-GB" sz="3600" dirty="0"/>
              <a:t> is a constant.</a:t>
            </a:r>
          </a:p>
          <a:p>
            <a:pPr>
              <a:spcBef>
                <a:spcPts val="913"/>
              </a:spcBef>
              <a:buFont typeface="Wingdings" pitchFamily="2" charset="2"/>
              <a:buChar char="§"/>
              <a:defRPr/>
            </a:pPr>
            <a:r>
              <a:rPr lang="en-GB" sz="3600" dirty="0"/>
              <a:t>Or,  </a:t>
            </a:r>
            <a:r>
              <a:rPr lang="en-GB" sz="3600" dirty="0">
                <a:solidFill>
                  <a:srgbClr val="0000FF"/>
                </a:solidFill>
                <a:effectLst>
                  <a:outerShdw blurRad="38100" dist="38100" dir="2700000" algn="tl">
                    <a:srgbClr val="C0C0C0"/>
                  </a:outerShdw>
                </a:effectLst>
              </a:rPr>
              <a:t>K1/K2 = t</a:t>
            </a:r>
            <a:r>
              <a:rPr lang="en-GB" sz="3600" baseline="-25000" dirty="0">
                <a:solidFill>
                  <a:srgbClr val="0000FF"/>
                </a:solidFill>
                <a:effectLst>
                  <a:outerShdw blurRad="38100" dist="38100" dir="2700000" algn="tl">
                    <a:srgbClr val="C0C0C0"/>
                  </a:outerShdw>
                </a:effectLst>
              </a:rPr>
              <a:t>d2</a:t>
            </a:r>
            <a:r>
              <a:rPr lang="en-GB" sz="3600" baseline="30000" dirty="0">
                <a:solidFill>
                  <a:srgbClr val="0000FF"/>
                </a:solidFill>
                <a:effectLst>
                  <a:outerShdw blurRad="38100" dist="38100" dir="2700000" algn="tl">
                    <a:srgbClr val="C0C0C0"/>
                  </a:outerShdw>
                </a:effectLst>
              </a:rPr>
              <a:t>4</a:t>
            </a:r>
            <a:r>
              <a:rPr lang="en-GB" sz="3600" dirty="0">
                <a:solidFill>
                  <a:srgbClr val="0000FF"/>
                </a:solidFill>
                <a:effectLst>
                  <a:outerShdw blurRad="38100" dist="38100" dir="2700000" algn="tl">
                    <a:srgbClr val="C0C0C0"/>
                  </a:outerShdw>
                </a:effectLst>
              </a:rPr>
              <a:t>/t</a:t>
            </a:r>
            <a:r>
              <a:rPr lang="en-GB" sz="3600" baseline="-25000" dirty="0">
                <a:solidFill>
                  <a:srgbClr val="0000FF"/>
                </a:solidFill>
                <a:effectLst>
                  <a:outerShdw blurRad="38100" dist="38100" dir="2700000" algn="tl">
                    <a:srgbClr val="C0C0C0"/>
                  </a:outerShdw>
                </a:effectLst>
              </a:rPr>
              <a:t>d1</a:t>
            </a:r>
            <a:r>
              <a:rPr lang="en-GB" sz="3600" baseline="30000" dirty="0">
                <a:solidFill>
                  <a:srgbClr val="0000FF"/>
                </a:solidFill>
                <a:effectLst>
                  <a:outerShdw blurRad="38100" dist="38100" dir="2700000" algn="tl">
                    <a:srgbClr val="C0C0C0"/>
                  </a:outerShdw>
                </a:effectLst>
              </a:rPr>
              <a:t>4</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4294967295"/>
          </p:nvPr>
        </p:nvSpPr>
        <p:spPr>
          <a:noFill/>
        </p:spPr>
        <p:txBody>
          <a:bodyPr/>
          <a:lstStyle/>
          <a:p>
            <a:fld id="{0CD46B42-EC30-42A5-98B5-698F7CEF793D}" type="slidenum">
              <a:rPr lang="en-US" smtClean="0">
                <a:latin typeface="Arial" charset="0"/>
              </a:rPr>
              <a:pPr/>
              <a:t>10</a:t>
            </a:fld>
            <a:endParaRPr lang="en-US" smtClean="0">
              <a:latin typeface="Arial" charset="0"/>
            </a:endParaRPr>
          </a:p>
        </p:txBody>
      </p:sp>
      <p:sp>
        <p:nvSpPr>
          <p:cNvPr id="18435" name="Rectangle 1"/>
          <p:cNvSpPr>
            <a:spLocks noGrp="1" noChangeArrowheads="1"/>
          </p:cNvSpPr>
          <p:nvPr>
            <p:ph type="title"/>
          </p:nvPr>
        </p:nvSpPr>
        <p:spPr>
          <a:xfrm>
            <a:off x="440267" y="314326"/>
            <a:ext cx="8416660" cy="1406525"/>
          </a:xfrm>
        </p:spPr>
        <p:txBody>
          <a:bodyPr lIns="18000" tIns="46800" rIns="18000" bIns="46800" anchor="ctr"/>
          <a:lstStyle/>
          <a:p>
            <a:pPr>
              <a:spcBef>
                <a:spcPts val="988"/>
              </a:spcBef>
            </a:pPr>
            <a:r>
              <a:rPr lang="en-GB" sz="3600" b="1" smtClean="0">
                <a:solidFill>
                  <a:srgbClr val="0000CC"/>
                </a:solidFill>
              </a:rPr>
              <a:t>Effect of Schedule Change on</a:t>
            </a:r>
            <a:r>
              <a:rPr lang="en-GB" b="1" smtClean="0">
                <a:solidFill>
                  <a:srgbClr val="0000CC"/>
                </a:solidFill>
              </a:rPr>
              <a:t> Cost</a:t>
            </a:r>
            <a:r>
              <a:rPr lang="en-GB" sz="1400" smtClean="0">
                <a:solidFill>
                  <a:srgbClr val="0000CC"/>
                </a:solidFill>
              </a:rPr>
              <a:t> (CONT.)</a:t>
            </a:r>
          </a:p>
        </p:txBody>
      </p:sp>
      <p:sp>
        <p:nvSpPr>
          <p:cNvPr id="18436" name="Rectangle 2"/>
          <p:cNvSpPr>
            <a:spLocks noGrp="1" noChangeArrowheads="1"/>
          </p:cNvSpPr>
          <p:nvPr>
            <p:ph type="body" idx="1"/>
          </p:nvPr>
        </p:nvSpPr>
        <p:spPr>
          <a:xfrm>
            <a:off x="495301" y="1600201"/>
            <a:ext cx="8856927" cy="4168775"/>
          </a:xfrm>
        </p:spPr>
        <p:txBody>
          <a:bodyPr lIns="18000" tIns="46800" rIns="18000" bIns="46800"/>
          <a:lstStyle/>
          <a:p>
            <a:pPr algn="just">
              <a:spcBef>
                <a:spcPts val="988"/>
              </a:spcBef>
              <a:buFont typeface="Wingdings" pitchFamily="2" charset="2"/>
              <a:buChar char="§"/>
            </a:pPr>
            <a:r>
              <a:rPr lang="en-GB" sz="3600" smtClean="0"/>
              <a:t>Observe:</a:t>
            </a:r>
          </a:p>
          <a:p>
            <a:pPr lvl="1" algn="just">
              <a:spcBef>
                <a:spcPts val="713"/>
              </a:spcBef>
              <a:buFont typeface="Wingdings" pitchFamily="2" charset="2"/>
              <a:buChar char="Ø"/>
            </a:pPr>
            <a:r>
              <a:rPr lang="en-GB" sz="3200" smtClean="0"/>
              <a:t>a relatively small compression in delivery schedule </a:t>
            </a:r>
          </a:p>
          <a:p>
            <a:pPr lvl="2" algn="just">
              <a:spcBef>
                <a:spcPts val="613"/>
              </a:spcBef>
              <a:buFont typeface="Wingdings" pitchFamily="2" charset="2"/>
              <a:buChar char="v"/>
            </a:pPr>
            <a:r>
              <a:rPr lang="en-GB" sz="2800" smtClean="0"/>
              <a:t>can result in substantial penalty on human effort. </a:t>
            </a:r>
          </a:p>
          <a:p>
            <a:pPr algn="just">
              <a:spcBef>
                <a:spcPts val="988"/>
              </a:spcBef>
              <a:buFont typeface="Wingdings" pitchFamily="2" charset="2"/>
              <a:buChar char="§"/>
            </a:pPr>
            <a:r>
              <a:rPr lang="en-GB" sz="3600" smtClean="0"/>
              <a:t>Also,  observe: </a:t>
            </a:r>
          </a:p>
          <a:p>
            <a:pPr lvl="1" algn="just">
              <a:spcBef>
                <a:spcPts val="713"/>
              </a:spcBef>
              <a:buFont typeface="Wingdings" pitchFamily="2" charset="2"/>
              <a:buChar char="Ø"/>
            </a:pPr>
            <a:r>
              <a:rPr lang="en-GB" sz="3200" smtClean="0"/>
              <a:t>benefits can be gained by using fewer people over a somewhat longer time span.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4294967295"/>
          </p:nvPr>
        </p:nvSpPr>
        <p:spPr>
          <a:noFill/>
        </p:spPr>
        <p:txBody>
          <a:bodyPr/>
          <a:lstStyle/>
          <a:p>
            <a:fld id="{57C99E8F-4920-4FA4-9049-E36C968C66A1}" type="slidenum">
              <a:rPr lang="en-US" smtClean="0">
                <a:latin typeface="Arial" charset="0"/>
              </a:rPr>
              <a:pPr/>
              <a:t>11</a:t>
            </a:fld>
            <a:endParaRPr lang="en-US" smtClean="0">
              <a:latin typeface="Arial" charset="0"/>
            </a:endParaRPr>
          </a:p>
        </p:txBody>
      </p:sp>
      <p:sp>
        <p:nvSpPr>
          <p:cNvPr id="19459" name="Rectangle 1"/>
          <p:cNvSpPr>
            <a:spLocks noGrp="1" noChangeArrowheads="1"/>
          </p:cNvSpPr>
          <p:nvPr>
            <p:ph type="title"/>
          </p:nvPr>
        </p:nvSpPr>
        <p:spPr>
          <a:xfrm>
            <a:off x="440267" y="182564"/>
            <a:ext cx="8416660" cy="1139825"/>
          </a:xfrm>
        </p:spPr>
        <p:txBody>
          <a:bodyPr lIns="18000" tIns="46800" rIns="18000" bIns="46800" anchor="ctr"/>
          <a:lstStyle/>
          <a:p>
            <a:pPr>
              <a:spcBef>
                <a:spcPts val="1213"/>
              </a:spcBef>
            </a:pPr>
            <a:r>
              <a:rPr lang="en-GB" sz="4800" b="1" smtClean="0"/>
              <a:t>Example</a:t>
            </a:r>
          </a:p>
        </p:txBody>
      </p:sp>
      <p:sp>
        <p:nvSpPr>
          <p:cNvPr id="19460" name="Rectangle 2"/>
          <p:cNvSpPr>
            <a:spLocks noGrp="1" noChangeArrowheads="1"/>
          </p:cNvSpPr>
          <p:nvPr>
            <p:ph type="body" idx="1"/>
          </p:nvPr>
        </p:nvSpPr>
        <p:spPr>
          <a:xfrm>
            <a:off x="495300" y="1676400"/>
            <a:ext cx="8860367" cy="4171950"/>
          </a:xfrm>
        </p:spPr>
        <p:txBody>
          <a:bodyPr lIns="18000" tIns="46800" rIns="18000" bIns="46800"/>
          <a:lstStyle/>
          <a:p>
            <a:pPr algn="just">
              <a:spcBef>
                <a:spcPts val="988"/>
              </a:spcBef>
              <a:buFont typeface="Wingdings" pitchFamily="2" charset="2"/>
              <a:buChar char="§"/>
            </a:pPr>
            <a:r>
              <a:rPr lang="en-GB" sz="3600" smtClean="0"/>
              <a:t>If the estimated development time is 1 year, then in order to develop the product in 6 months,</a:t>
            </a:r>
          </a:p>
          <a:p>
            <a:pPr lvl="1" algn="just">
              <a:spcBef>
                <a:spcPts val="713"/>
              </a:spcBef>
              <a:buFont typeface="Wingdings" pitchFamily="2" charset="2"/>
              <a:buChar char="Ø"/>
            </a:pPr>
            <a:r>
              <a:rPr lang="en-GB" sz="3200" smtClean="0">
                <a:solidFill>
                  <a:srgbClr val="0000FF"/>
                </a:solidFill>
              </a:rPr>
              <a:t>the total effort and hence the cost increases 16 times.</a:t>
            </a:r>
          </a:p>
          <a:p>
            <a:pPr lvl="1" algn="just">
              <a:spcBef>
                <a:spcPts val="713"/>
              </a:spcBef>
              <a:buFont typeface="Wingdings" pitchFamily="2" charset="2"/>
              <a:buChar char="Ø"/>
            </a:pPr>
            <a:r>
              <a:rPr lang="en-GB" sz="3200" smtClean="0">
                <a:solidFill>
                  <a:srgbClr val="0000FF"/>
                </a:solidFill>
              </a:rPr>
              <a:t>In other words, </a:t>
            </a:r>
          </a:p>
          <a:p>
            <a:pPr lvl="2" algn="just">
              <a:spcBef>
                <a:spcPts val="613"/>
              </a:spcBef>
              <a:buFont typeface="Wingdings" pitchFamily="2" charset="2"/>
              <a:buChar char="v"/>
            </a:pPr>
            <a:r>
              <a:rPr lang="en-GB" sz="2800" smtClean="0">
                <a:solidFill>
                  <a:srgbClr val="0000FF"/>
                </a:solidFill>
              </a:rPr>
              <a:t>the relationship between effort and the chronological delivery time is highly nonlinear.</a:t>
            </a:r>
            <a:r>
              <a:rPr lang="en-GB" sz="2800" smtClean="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4294967295"/>
          </p:nvPr>
        </p:nvSpPr>
        <p:spPr>
          <a:noFill/>
        </p:spPr>
        <p:txBody>
          <a:bodyPr/>
          <a:lstStyle/>
          <a:p>
            <a:fld id="{F9D80A3F-8DD5-40CE-BD99-37A684E83D86}" type="slidenum">
              <a:rPr lang="en-US" smtClean="0">
                <a:latin typeface="Arial" charset="0"/>
              </a:rPr>
              <a:pPr/>
              <a:t>12</a:t>
            </a:fld>
            <a:endParaRPr lang="en-US" smtClean="0">
              <a:latin typeface="Arial" charset="0"/>
            </a:endParaRPr>
          </a:p>
        </p:txBody>
      </p:sp>
      <p:sp>
        <p:nvSpPr>
          <p:cNvPr id="20483" name="Rectangle 1"/>
          <p:cNvSpPr>
            <a:spLocks noGrp="1" noChangeArrowheads="1"/>
          </p:cNvSpPr>
          <p:nvPr>
            <p:ph type="title"/>
          </p:nvPr>
        </p:nvSpPr>
        <p:spPr>
          <a:xfrm>
            <a:off x="440267" y="314326"/>
            <a:ext cx="8416660" cy="1406525"/>
          </a:xfrm>
        </p:spPr>
        <p:txBody>
          <a:bodyPr lIns="18000" tIns="46800" rIns="18000" bIns="46800" anchor="ctr"/>
          <a:lstStyle/>
          <a:p>
            <a:pPr>
              <a:spcBef>
                <a:spcPts val="988"/>
              </a:spcBef>
            </a:pPr>
            <a:r>
              <a:rPr lang="en-GB" sz="3600" b="1" smtClean="0">
                <a:solidFill>
                  <a:srgbClr val="0000CC"/>
                </a:solidFill>
              </a:rPr>
              <a:t>Effect of Schedule Change on</a:t>
            </a:r>
            <a:r>
              <a:rPr lang="en-GB" smtClean="0">
                <a:solidFill>
                  <a:srgbClr val="0000CC"/>
                </a:solidFill>
              </a:rPr>
              <a:t> </a:t>
            </a:r>
            <a:r>
              <a:rPr lang="en-GB" sz="3600" b="1" smtClean="0">
                <a:solidFill>
                  <a:srgbClr val="0000CC"/>
                </a:solidFill>
              </a:rPr>
              <a:t>Cost</a:t>
            </a:r>
            <a:r>
              <a:rPr lang="en-GB" sz="1400" smtClean="0">
                <a:solidFill>
                  <a:srgbClr val="0000CC"/>
                </a:solidFill>
              </a:rPr>
              <a:t> (CONT.)</a:t>
            </a:r>
          </a:p>
        </p:txBody>
      </p:sp>
      <p:sp>
        <p:nvSpPr>
          <p:cNvPr id="20484" name="Rectangle 2"/>
          <p:cNvSpPr>
            <a:spLocks noGrp="1" noChangeArrowheads="1"/>
          </p:cNvSpPr>
          <p:nvPr>
            <p:ph type="body" idx="1"/>
          </p:nvPr>
        </p:nvSpPr>
        <p:spPr>
          <a:xfrm>
            <a:off x="495300" y="1752600"/>
            <a:ext cx="8860367" cy="4171950"/>
          </a:xfrm>
        </p:spPr>
        <p:txBody>
          <a:bodyPr lIns="18000" tIns="46800" rIns="18000" bIns="46800"/>
          <a:lstStyle/>
          <a:p>
            <a:pPr algn="just">
              <a:spcBef>
                <a:spcPts val="613"/>
              </a:spcBef>
              <a:buFont typeface="Wingdings" pitchFamily="2" charset="2"/>
              <a:buChar char="§"/>
            </a:pPr>
            <a:r>
              <a:rPr lang="en-GB" smtClean="0"/>
              <a:t>Putnam model indicates extreme penalty for schedule compression </a:t>
            </a:r>
          </a:p>
          <a:p>
            <a:pPr lvl="1" algn="just">
              <a:spcBef>
                <a:spcPts val="525"/>
              </a:spcBef>
              <a:buFont typeface="Wingdings" pitchFamily="2" charset="2"/>
              <a:buChar char="Ø"/>
            </a:pPr>
            <a:r>
              <a:rPr lang="en-GB" smtClean="0"/>
              <a:t>and extreme reward for expanding the schedule.</a:t>
            </a:r>
          </a:p>
          <a:p>
            <a:pPr algn="just">
              <a:spcBef>
                <a:spcPts val="613"/>
              </a:spcBef>
              <a:buFont typeface="Wingdings" pitchFamily="2" charset="2"/>
              <a:buChar char="§"/>
            </a:pPr>
            <a:r>
              <a:rPr lang="en-GB" smtClean="0"/>
              <a:t>Putnam estimation model works reasonably well for very large systems,</a:t>
            </a:r>
          </a:p>
          <a:p>
            <a:pPr lvl="1" algn="just">
              <a:spcBef>
                <a:spcPts val="525"/>
              </a:spcBef>
              <a:buFont typeface="Wingdings" pitchFamily="2" charset="2"/>
              <a:buChar char="Ø"/>
            </a:pPr>
            <a:r>
              <a:rPr lang="en-GB" smtClean="0"/>
              <a:t>but seriously overestimates the effort for medium and small systems.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4294967295"/>
          </p:nvPr>
        </p:nvSpPr>
        <p:spPr>
          <a:noFill/>
        </p:spPr>
        <p:txBody>
          <a:bodyPr/>
          <a:lstStyle/>
          <a:p>
            <a:fld id="{27BBBB88-73BB-42B2-8FED-267CCC806B87}" type="slidenum">
              <a:rPr lang="en-US" smtClean="0">
                <a:latin typeface="Arial" charset="0"/>
              </a:rPr>
              <a:pPr/>
              <a:t>13</a:t>
            </a:fld>
            <a:endParaRPr lang="en-US" smtClean="0">
              <a:latin typeface="Arial" charset="0"/>
            </a:endParaRPr>
          </a:p>
        </p:txBody>
      </p:sp>
      <p:sp>
        <p:nvSpPr>
          <p:cNvPr id="21507" name="Rectangle 1"/>
          <p:cNvSpPr>
            <a:spLocks noGrp="1" noChangeArrowheads="1"/>
          </p:cNvSpPr>
          <p:nvPr>
            <p:ph type="title"/>
          </p:nvPr>
        </p:nvSpPr>
        <p:spPr>
          <a:xfrm>
            <a:off x="440267" y="239714"/>
            <a:ext cx="8416660" cy="1406525"/>
          </a:xfrm>
        </p:spPr>
        <p:txBody>
          <a:bodyPr lIns="18000" tIns="46800" rIns="18000" bIns="46800" anchor="ctr"/>
          <a:lstStyle/>
          <a:p>
            <a:pPr>
              <a:spcBef>
                <a:spcPts val="988"/>
              </a:spcBef>
            </a:pPr>
            <a:r>
              <a:rPr lang="en-GB" sz="3600" b="1" smtClean="0">
                <a:solidFill>
                  <a:srgbClr val="0000CC"/>
                </a:solidFill>
              </a:rPr>
              <a:t>Effect of Schedule Change on</a:t>
            </a:r>
            <a:r>
              <a:rPr lang="en-GB" b="1" smtClean="0">
                <a:solidFill>
                  <a:srgbClr val="0000CC"/>
                </a:solidFill>
              </a:rPr>
              <a:t> </a:t>
            </a:r>
            <a:r>
              <a:rPr lang="en-GB" sz="3600" b="1" smtClean="0">
                <a:solidFill>
                  <a:srgbClr val="0000CC"/>
                </a:solidFill>
              </a:rPr>
              <a:t>Cost</a:t>
            </a:r>
            <a:r>
              <a:rPr lang="en-GB" sz="1400" b="1" smtClean="0">
                <a:solidFill>
                  <a:srgbClr val="0000CC"/>
                </a:solidFill>
              </a:rPr>
              <a:t> (CONT.)</a:t>
            </a:r>
          </a:p>
        </p:txBody>
      </p:sp>
      <p:sp>
        <p:nvSpPr>
          <p:cNvPr id="21508" name="Rectangle 2"/>
          <p:cNvSpPr>
            <a:spLocks noGrp="1" noChangeArrowheads="1"/>
          </p:cNvSpPr>
          <p:nvPr>
            <p:ph type="body" idx="1"/>
          </p:nvPr>
        </p:nvSpPr>
        <p:spPr/>
        <p:txBody>
          <a:bodyPr lIns="18000" tIns="46800" rIns="18000" bIns="46800"/>
          <a:lstStyle/>
          <a:p>
            <a:pPr algn="just">
              <a:spcBef>
                <a:spcPts val="788"/>
              </a:spcBef>
              <a:buFont typeface="Wingdings" pitchFamily="2" charset="2"/>
              <a:buChar char="§"/>
            </a:pPr>
            <a:r>
              <a:rPr lang="en-GB" sz="3600" smtClean="0"/>
              <a:t>Boehm observed:</a:t>
            </a:r>
          </a:p>
          <a:p>
            <a:pPr lvl="1" algn="just">
              <a:spcBef>
                <a:spcPts val="713"/>
              </a:spcBef>
              <a:buFont typeface="Wingdings" pitchFamily="2" charset="2"/>
              <a:buChar char="Ø"/>
            </a:pPr>
            <a:r>
              <a:rPr lang="en-GB" sz="3200" smtClean="0"/>
              <a:t>“</a:t>
            </a:r>
            <a:r>
              <a:rPr lang="en-GB" sz="3200" smtClean="0">
                <a:solidFill>
                  <a:srgbClr val="800000"/>
                </a:solidFill>
              </a:rPr>
              <a:t>There is a limit beyond which the schedule of a software project cannot  be reduced  by buying any more personnel or equipment.”</a:t>
            </a:r>
          </a:p>
          <a:p>
            <a:pPr lvl="1" algn="just">
              <a:spcBef>
                <a:spcPts val="713"/>
              </a:spcBef>
              <a:buFont typeface="Wingdings" pitchFamily="2" charset="2"/>
              <a:buChar char="Ø"/>
            </a:pPr>
            <a:r>
              <a:rPr lang="en-GB" sz="3200" smtClean="0"/>
              <a:t>This limit occurs roughly at 75% of the nominal time estimate.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4294967295"/>
          </p:nvPr>
        </p:nvSpPr>
        <p:spPr>
          <a:noFill/>
        </p:spPr>
        <p:txBody>
          <a:bodyPr/>
          <a:lstStyle/>
          <a:p>
            <a:fld id="{A6BA80EC-3351-4F9F-9BF2-750CED677D0E}" type="slidenum">
              <a:rPr lang="en-US" smtClean="0">
                <a:latin typeface="Arial" charset="0"/>
              </a:rPr>
              <a:pPr/>
              <a:t>14</a:t>
            </a:fld>
            <a:endParaRPr lang="en-US" smtClean="0">
              <a:latin typeface="Arial" charset="0"/>
            </a:endParaRPr>
          </a:p>
        </p:txBody>
      </p:sp>
      <p:sp>
        <p:nvSpPr>
          <p:cNvPr id="22531" name="Rectangle 1"/>
          <p:cNvSpPr>
            <a:spLocks noGrp="1" noChangeArrowheads="1"/>
          </p:cNvSpPr>
          <p:nvPr>
            <p:ph type="title"/>
          </p:nvPr>
        </p:nvSpPr>
        <p:spPr>
          <a:xfrm>
            <a:off x="440267" y="382589"/>
            <a:ext cx="8416660" cy="1271587"/>
          </a:xfrm>
        </p:spPr>
        <p:txBody>
          <a:bodyPr lIns="18000" tIns="46800" rIns="18000" bIns="46800" anchor="ctr"/>
          <a:lstStyle/>
          <a:p>
            <a:pPr>
              <a:spcBef>
                <a:spcPts val="988"/>
              </a:spcBef>
            </a:pPr>
            <a:r>
              <a:rPr lang="en-GB" b="1" smtClean="0">
                <a:solidFill>
                  <a:srgbClr val="0000CC"/>
                </a:solidFill>
              </a:rPr>
              <a:t>Effect of Schedule Change on Cost</a:t>
            </a:r>
            <a:r>
              <a:rPr lang="en-GB" sz="1200" b="1" smtClean="0">
                <a:solidFill>
                  <a:srgbClr val="0000CC"/>
                </a:solidFill>
              </a:rPr>
              <a:t> (CONT.)</a:t>
            </a:r>
          </a:p>
        </p:txBody>
      </p:sp>
      <p:sp>
        <p:nvSpPr>
          <p:cNvPr id="22532" name="Rectangle 2"/>
          <p:cNvSpPr>
            <a:spLocks noGrp="1" noChangeArrowheads="1"/>
          </p:cNvSpPr>
          <p:nvPr>
            <p:ph type="body" idx="1"/>
          </p:nvPr>
        </p:nvSpPr>
        <p:spPr>
          <a:xfrm>
            <a:off x="412750" y="1676400"/>
            <a:ext cx="8860367" cy="4171950"/>
          </a:xfrm>
        </p:spPr>
        <p:txBody>
          <a:bodyPr lIns="18000" tIns="46800" rIns="18000" bIns="46800"/>
          <a:lstStyle/>
          <a:p>
            <a:pPr algn="just">
              <a:spcBef>
                <a:spcPts val="988"/>
              </a:spcBef>
              <a:buFont typeface="Wingdings" pitchFamily="2" charset="2"/>
              <a:buChar char="§"/>
            </a:pPr>
            <a:r>
              <a:rPr lang="en-GB" smtClean="0">
                <a:solidFill>
                  <a:srgbClr val="0000FF"/>
                </a:solidFill>
              </a:rPr>
              <a:t>If a project manager accepts a customer demand to compress the development time by more than 25% </a:t>
            </a:r>
          </a:p>
          <a:p>
            <a:pPr lvl="1" algn="just">
              <a:spcBef>
                <a:spcPts val="713"/>
              </a:spcBef>
              <a:buFont typeface="Wingdings" pitchFamily="2" charset="2"/>
              <a:buChar char="Ø"/>
            </a:pPr>
            <a:r>
              <a:rPr lang="en-GB" smtClean="0">
                <a:solidFill>
                  <a:srgbClr val="0000FF"/>
                </a:solidFill>
              </a:rPr>
              <a:t>very unlikely to succeed. </a:t>
            </a:r>
          </a:p>
          <a:p>
            <a:pPr lvl="2" algn="just">
              <a:spcBef>
                <a:spcPts val="613"/>
              </a:spcBef>
              <a:buFont typeface="Wingdings" pitchFamily="2" charset="2"/>
              <a:buChar char="v"/>
            </a:pPr>
            <a:r>
              <a:rPr lang="en-GB" smtClean="0"/>
              <a:t>every project has only a limited amount of parallel activities</a:t>
            </a:r>
          </a:p>
          <a:p>
            <a:pPr lvl="2" algn="just">
              <a:spcBef>
                <a:spcPts val="613"/>
              </a:spcBef>
              <a:buFont typeface="Wingdings" pitchFamily="2" charset="2"/>
              <a:buChar char="v"/>
            </a:pPr>
            <a:r>
              <a:rPr lang="en-GB" smtClean="0"/>
              <a:t>sequential activities cannot be speeded up by hiring any number of additional engineers.</a:t>
            </a:r>
          </a:p>
          <a:p>
            <a:pPr lvl="2" algn="just">
              <a:spcBef>
                <a:spcPts val="613"/>
              </a:spcBef>
              <a:buFont typeface="Wingdings" pitchFamily="2" charset="2"/>
              <a:buChar char="v"/>
            </a:pPr>
            <a:r>
              <a:rPr lang="en-GB" smtClean="0"/>
              <a:t>many engineers have to sit idle.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4294967295"/>
          </p:nvPr>
        </p:nvSpPr>
        <p:spPr>
          <a:noFill/>
        </p:spPr>
        <p:txBody>
          <a:bodyPr/>
          <a:lstStyle/>
          <a:p>
            <a:fld id="{CD0B32C5-5C95-46F5-80CF-6FDA8210C4D8}" type="slidenum">
              <a:rPr lang="en-US" smtClean="0">
                <a:latin typeface="Arial" charset="0"/>
              </a:rPr>
              <a:pPr/>
              <a:t>15</a:t>
            </a:fld>
            <a:endParaRPr lang="en-US" smtClean="0">
              <a:latin typeface="Arial" charset="0"/>
            </a:endParaRPr>
          </a:p>
        </p:txBody>
      </p:sp>
      <p:sp>
        <p:nvSpPr>
          <p:cNvPr id="23555" name="Rectangle 1"/>
          <p:cNvSpPr>
            <a:spLocks noGrp="1" noChangeArrowheads="1"/>
          </p:cNvSpPr>
          <p:nvPr>
            <p:ph type="title"/>
          </p:nvPr>
        </p:nvSpPr>
        <p:spPr>
          <a:xfrm>
            <a:off x="440267" y="182564"/>
            <a:ext cx="8416660" cy="1139825"/>
          </a:xfrm>
        </p:spPr>
        <p:txBody>
          <a:bodyPr lIns="18000" tIns="46800" rIns="18000" bIns="46800" anchor="ctr"/>
          <a:lstStyle/>
          <a:p>
            <a:pPr>
              <a:spcBef>
                <a:spcPts val="1338"/>
              </a:spcBef>
            </a:pPr>
            <a:r>
              <a:rPr lang="en-GB" sz="5400" b="1" smtClean="0">
                <a:solidFill>
                  <a:srgbClr val="0000CC"/>
                </a:solidFill>
              </a:rPr>
              <a:t>Jensen Model</a:t>
            </a:r>
          </a:p>
        </p:txBody>
      </p:sp>
      <p:sp>
        <p:nvSpPr>
          <p:cNvPr id="23556" name="Rectangle 2"/>
          <p:cNvSpPr>
            <a:spLocks noGrp="1" noChangeArrowheads="1"/>
          </p:cNvSpPr>
          <p:nvPr>
            <p:ph type="body" idx="1"/>
          </p:nvPr>
        </p:nvSpPr>
        <p:spPr>
          <a:xfrm>
            <a:off x="495300" y="1752600"/>
            <a:ext cx="8860367" cy="4171950"/>
          </a:xfrm>
        </p:spPr>
        <p:txBody>
          <a:bodyPr lIns="18000" tIns="46800" rIns="18000" bIns="46800"/>
          <a:lstStyle/>
          <a:p>
            <a:pPr algn="just">
              <a:spcBef>
                <a:spcPts val="988"/>
              </a:spcBef>
              <a:buFont typeface="Wingdings" pitchFamily="2" charset="2"/>
              <a:buChar char="§"/>
            </a:pPr>
            <a:r>
              <a:rPr lang="en-GB" sz="4000" smtClean="0"/>
              <a:t>Jensen model is very similar to Putnam model. </a:t>
            </a:r>
          </a:p>
          <a:p>
            <a:pPr lvl="1" algn="just">
              <a:spcBef>
                <a:spcPts val="713"/>
              </a:spcBef>
              <a:buFont typeface="Wingdings" pitchFamily="2" charset="2"/>
              <a:buChar char="Ø"/>
            </a:pPr>
            <a:r>
              <a:rPr lang="en-GB" sz="3600" smtClean="0"/>
              <a:t>attempts to soften the effect of schedule compression on effort</a:t>
            </a:r>
            <a:r>
              <a:rPr lang="en-GB" sz="3200" smtClean="0"/>
              <a:t> </a:t>
            </a:r>
          </a:p>
          <a:p>
            <a:pPr lvl="1" algn="just">
              <a:spcBef>
                <a:spcPts val="713"/>
              </a:spcBef>
              <a:buFont typeface="Wingdings" pitchFamily="2" charset="2"/>
              <a:buChar char="Ø"/>
            </a:pPr>
            <a:r>
              <a:rPr lang="en-GB" sz="3600" smtClean="0"/>
              <a:t>makes it applicable to smaller and medium sized projects.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4294967295"/>
          </p:nvPr>
        </p:nvSpPr>
        <p:spPr>
          <a:noFill/>
        </p:spPr>
        <p:txBody>
          <a:bodyPr/>
          <a:lstStyle/>
          <a:p>
            <a:fld id="{9245FD05-BAE6-4BAC-8C92-9296B1EA11E8}" type="slidenum">
              <a:rPr lang="en-US" smtClean="0">
                <a:latin typeface="Arial" charset="0"/>
              </a:rPr>
              <a:pPr/>
              <a:t>16</a:t>
            </a:fld>
            <a:endParaRPr lang="en-US" smtClean="0">
              <a:latin typeface="Arial" charset="0"/>
            </a:endParaRPr>
          </a:p>
        </p:txBody>
      </p:sp>
      <p:sp>
        <p:nvSpPr>
          <p:cNvPr id="24579" name="Rectangle 1"/>
          <p:cNvSpPr>
            <a:spLocks noGrp="1" noChangeArrowheads="1"/>
          </p:cNvSpPr>
          <p:nvPr>
            <p:ph type="title"/>
          </p:nvPr>
        </p:nvSpPr>
        <p:spPr>
          <a:xfrm>
            <a:off x="440267" y="182564"/>
            <a:ext cx="8416660" cy="1139825"/>
          </a:xfrm>
        </p:spPr>
        <p:txBody>
          <a:bodyPr lIns="18000" tIns="46800" rIns="18000" bIns="46800" anchor="ctr"/>
          <a:lstStyle/>
          <a:p>
            <a:pPr>
              <a:spcBef>
                <a:spcPts val="1338"/>
              </a:spcBef>
            </a:pPr>
            <a:r>
              <a:rPr lang="en-GB" sz="5400" b="1" smtClean="0">
                <a:solidFill>
                  <a:srgbClr val="0000CC"/>
                </a:solidFill>
              </a:rPr>
              <a:t>Jensen Model</a:t>
            </a:r>
          </a:p>
        </p:txBody>
      </p:sp>
      <p:sp>
        <p:nvSpPr>
          <p:cNvPr id="24580" name="Rectangle 2"/>
          <p:cNvSpPr>
            <a:spLocks noGrp="1" noChangeArrowheads="1"/>
          </p:cNvSpPr>
          <p:nvPr>
            <p:ph type="body" idx="1"/>
          </p:nvPr>
        </p:nvSpPr>
        <p:spPr>
          <a:xfrm>
            <a:off x="495300" y="1752600"/>
            <a:ext cx="8860367" cy="4171950"/>
          </a:xfrm>
        </p:spPr>
        <p:txBody>
          <a:bodyPr lIns="18000" tIns="46800" rIns="18000" bIns="46800"/>
          <a:lstStyle/>
          <a:p>
            <a:pPr algn="just">
              <a:spcBef>
                <a:spcPts val="988"/>
              </a:spcBef>
              <a:buFont typeface="Wingdings" pitchFamily="2" charset="2"/>
              <a:buChar char="§"/>
            </a:pPr>
            <a:r>
              <a:rPr lang="en-GB" sz="3600" smtClean="0"/>
              <a:t>Jensen proposed the equation:</a:t>
            </a:r>
          </a:p>
          <a:p>
            <a:pPr lvl="1" algn="just">
              <a:spcBef>
                <a:spcPts val="1063"/>
              </a:spcBef>
              <a:buFont typeface="Wingdings" pitchFamily="2" charset="2"/>
              <a:buChar char="Ø"/>
            </a:pPr>
            <a:r>
              <a:rPr lang="en-GB" sz="3200" smtClean="0">
                <a:solidFill>
                  <a:srgbClr val="800000"/>
                </a:solidFill>
              </a:rPr>
              <a:t>L=C</a:t>
            </a:r>
            <a:r>
              <a:rPr lang="en-GB" sz="3200" baseline="-25000" smtClean="0">
                <a:solidFill>
                  <a:srgbClr val="800000"/>
                </a:solidFill>
              </a:rPr>
              <a:t>te</a:t>
            </a:r>
            <a:r>
              <a:rPr lang="en-GB" sz="3200" smtClean="0">
                <a:solidFill>
                  <a:srgbClr val="800000"/>
                </a:solidFill>
              </a:rPr>
              <a:t>t</a:t>
            </a:r>
            <a:r>
              <a:rPr lang="en-GB" sz="3200" baseline="-25000" smtClean="0">
                <a:solidFill>
                  <a:srgbClr val="800000"/>
                </a:solidFill>
              </a:rPr>
              <a:t>d</a:t>
            </a:r>
            <a:r>
              <a:rPr lang="en-GB" sz="3200" smtClean="0">
                <a:solidFill>
                  <a:srgbClr val="800000"/>
                </a:solidFill>
              </a:rPr>
              <a:t>K</a:t>
            </a:r>
            <a:r>
              <a:rPr lang="en-GB" sz="3200" baseline="30000" smtClean="0">
                <a:solidFill>
                  <a:srgbClr val="800000"/>
                </a:solidFill>
              </a:rPr>
              <a:t>1/2</a:t>
            </a:r>
            <a:r>
              <a:rPr lang="en-GB" sz="3200" smtClean="0">
                <a:solidFill>
                  <a:srgbClr val="800000"/>
                </a:solidFill>
              </a:rPr>
              <a:t> </a:t>
            </a:r>
          </a:p>
          <a:p>
            <a:pPr lvl="1" algn="just">
              <a:spcBef>
                <a:spcPts val="713"/>
              </a:spcBef>
              <a:buFont typeface="Wingdings" pitchFamily="2" charset="2"/>
              <a:buChar char="Ø"/>
            </a:pPr>
            <a:r>
              <a:rPr lang="en-GB" sz="3200" smtClean="0"/>
              <a:t>Where, </a:t>
            </a:r>
          </a:p>
          <a:p>
            <a:pPr lvl="2" algn="just">
              <a:spcBef>
                <a:spcPts val="750"/>
              </a:spcBef>
              <a:buFont typeface="Wingdings" pitchFamily="2" charset="2"/>
              <a:buChar char="v"/>
            </a:pPr>
            <a:r>
              <a:rPr lang="en-GB" sz="2800" smtClean="0"/>
              <a:t>C</a:t>
            </a:r>
            <a:r>
              <a:rPr lang="en-GB" sz="2800" baseline="-25000" smtClean="0"/>
              <a:t>te</a:t>
            </a:r>
            <a:r>
              <a:rPr lang="en-GB" sz="2800" smtClean="0"/>
              <a:t> is the effective technology constant, </a:t>
            </a:r>
          </a:p>
          <a:p>
            <a:pPr lvl="2" algn="just">
              <a:spcBef>
                <a:spcPts val="750"/>
              </a:spcBef>
              <a:buFont typeface="Wingdings" pitchFamily="2" charset="2"/>
              <a:buChar char="v"/>
            </a:pPr>
            <a:r>
              <a:rPr lang="en-GB" sz="2800" smtClean="0"/>
              <a:t>t</a:t>
            </a:r>
            <a:r>
              <a:rPr lang="en-GB" sz="2800" baseline="-25000" smtClean="0"/>
              <a:t>d</a:t>
            </a:r>
            <a:r>
              <a:rPr lang="en-GB" sz="2800" smtClean="0"/>
              <a:t> is the time to develop the software, and </a:t>
            </a:r>
          </a:p>
          <a:p>
            <a:pPr lvl="2" algn="just">
              <a:spcBef>
                <a:spcPts val="613"/>
              </a:spcBef>
              <a:buFont typeface="Wingdings" pitchFamily="2" charset="2"/>
              <a:buChar char="v"/>
            </a:pPr>
            <a:r>
              <a:rPr lang="en-GB" sz="2800" smtClean="0"/>
              <a:t>K is the effort needed to develop the software.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t>Example</a:t>
            </a:r>
            <a:endParaRPr lang="en-IN" smtClean="0"/>
          </a:p>
        </p:txBody>
      </p:sp>
      <p:sp>
        <p:nvSpPr>
          <p:cNvPr id="25603" name="Content Placeholder 2"/>
          <p:cNvSpPr>
            <a:spLocks noGrp="1"/>
          </p:cNvSpPr>
          <p:nvPr>
            <p:ph idx="1"/>
          </p:nvPr>
        </p:nvSpPr>
        <p:spPr/>
        <p:txBody>
          <a:bodyPr/>
          <a:lstStyle/>
          <a:p>
            <a:pPr algn="just"/>
            <a:r>
              <a:rPr lang="en-US" sz="2000" smtClean="0"/>
              <a:t>Suppose you have estimated the nominal development time of moderate-sized software product to be 5 months. You have also estimated that it will cost ₹ 50,000 to develop the software product. Now, the customer comes and tells you that he wants you to accelerate the delivery time by 20%. Estimate and compare the additional cost that you would charge to customer for this accelerated delivery by Putnam’s and Jensen’s model? Irrespective of whether you take less time or more time to develop the product, you are essentially developing the same product. Why then does the effort depend on the duration over which you develop the product?	</a:t>
            </a:r>
            <a:endParaRPr lang="en-IN" sz="20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2691</TotalTime>
  <Words>784</Words>
  <Application>Microsoft Office PowerPoint</Application>
  <PresentationFormat>A4 Paper (210x297 mm)</PresentationFormat>
  <Paragraphs>106</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Tahoma</vt:lpstr>
      <vt:lpstr>Wingdings</vt:lpstr>
      <vt:lpstr>Monotype Sorts</vt:lpstr>
      <vt:lpstr>Office Theme</vt:lpstr>
      <vt:lpstr>Slide 1</vt:lpstr>
      <vt:lpstr>Staffing Level Estimation</vt:lpstr>
      <vt:lpstr>Rayleigh Curve</vt:lpstr>
      <vt:lpstr>Putnam’s Work:</vt:lpstr>
      <vt:lpstr>Putnam’s Work (CONT.):</vt:lpstr>
      <vt:lpstr>Putnam’s Work (CONT.):</vt:lpstr>
      <vt:lpstr>Rayleigh Curve</vt:lpstr>
      <vt:lpstr>Rayleigh Curve</vt:lpstr>
      <vt:lpstr>Effect of Schedule Change on Cost</vt:lpstr>
      <vt:lpstr>Effect of Schedule Change on Cost (CONT.)</vt:lpstr>
      <vt:lpstr>Example</vt:lpstr>
      <vt:lpstr>Effect of Schedule Change on Cost (CONT.)</vt:lpstr>
      <vt:lpstr>Effect of Schedule Change on Cost (CONT.)</vt:lpstr>
      <vt:lpstr>Effect of Schedule Change on Cost (CONT.)</vt:lpstr>
      <vt:lpstr>Jensen Model</vt:lpstr>
      <vt:lpstr>Jensen Model</vt:lpstr>
      <vt:lpstr>Example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dinesh.verma</cp:lastModifiedBy>
  <cp:revision>101</cp:revision>
  <dcterms:modified xsi:type="dcterms:W3CDTF">2025-04-20T07:31:40Z</dcterms:modified>
</cp:coreProperties>
</file>