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352" r:id="rId3"/>
    <p:sldId id="353" r:id="rId4"/>
    <p:sldId id="354" r:id="rId5"/>
    <p:sldId id="355" r:id="rId6"/>
    <p:sldId id="356" r:id="rId7"/>
    <p:sldId id="357" r:id="rId8"/>
    <p:sldId id="358" r:id="rId9"/>
    <p:sldId id="359" r:id="rId10"/>
    <p:sldId id="360" r:id="rId11"/>
    <p:sldId id="361" r:id="rId12"/>
    <p:sldId id="362" r:id="rId13"/>
    <p:sldId id="363" r:id="rId14"/>
    <p:sldId id="364" r:id="rId15"/>
    <p:sldId id="365" r:id="rId16"/>
  </p:sldIdLst>
  <p:sldSz cx="9906000" cy="6858000" type="A4"/>
  <p:notesSz cx="6629400" cy="9753600"/>
  <p:embeddedFontLst>
    <p:embeddedFont>
      <p:font typeface="Calibri" pitchFamily="34" charset="0"/>
      <p:regular r:id="rId18"/>
      <p:bold r:id="rId19"/>
      <p:italic r:id="rId20"/>
      <p:boldItalic r:id="rId21"/>
    </p:embeddedFont>
    <p:embeddedFont>
      <p:font typeface="Tahoma" pitchFamily="3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312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599" autoAdjust="0"/>
  </p:normalViewPr>
  <p:slideViewPr>
    <p:cSldViewPr snapToGrid="0">
      <p:cViewPr varScale="1">
        <p:scale>
          <a:sx n="109" d="100"/>
          <a:sy n="109" d="100"/>
        </p:scale>
        <p:origin x="-1380" y="-7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6036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body" idx="1"/>
          </p:nvPr>
        </p:nvSpPr>
        <p:spPr>
          <a:xfrm>
            <a:off x="800100" y="46355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2"/>
          </p:nvPr>
        </p:nvSpPr>
        <p:spPr>
          <a:xfrm>
            <a:off x="847725" y="850900"/>
            <a:ext cx="4933950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800100" y="46355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03338" y="830263"/>
            <a:ext cx="3997325" cy="2768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91139" name="Text Box 2"/>
          <p:cNvSpPr txBox="1">
            <a:spLocks noChangeArrowheads="1"/>
          </p:cNvSpPr>
          <p:nvPr/>
        </p:nvSpPr>
        <p:spPr bwMode="auto">
          <a:xfrm>
            <a:off x="486464" y="4604174"/>
            <a:ext cx="5658008" cy="432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92163" name="Text Box 2"/>
          <p:cNvSpPr txBox="1">
            <a:spLocks noChangeArrowheads="1"/>
          </p:cNvSpPr>
          <p:nvPr/>
        </p:nvSpPr>
        <p:spPr bwMode="auto">
          <a:xfrm>
            <a:off x="486464" y="4604174"/>
            <a:ext cx="5658008" cy="432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93187" name="Text Box 2"/>
          <p:cNvSpPr txBox="1">
            <a:spLocks noChangeArrowheads="1"/>
          </p:cNvSpPr>
          <p:nvPr/>
        </p:nvSpPr>
        <p:spPr bwMode="auto">
          <a:xfrm>
            <a:off x="486464" y="4604174"/>
            <a:ext cx="5658008" cy="432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94211" name="Text Box 2"/>
          <p:cNvSpPr txBox="1">
            <a:spLocks noChangeArrowheads="1"/>
          </p:cNvSpPr>
          <p:nvPr/>
        </p:nvSpPr>
        <p:spPr bwMode="auto">
          <a:xfrm>
            <a:off x="486464" y="4604174"/>
            <a:ext cx="5658008" cy="432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95235" name="Text Box 2"/>
          <p:cNvSpPr txBox="1">
            <a:spLocks noChangeArrowheads="1"/>
          </p:cNvSpPr>
          <p:nvPr/>
        </p:nvSpPr>
        <p:spPr bwMode="auto">
          <a:xfrm>
            <a:off x="486464" y="4604174"/>
            <a:ext cx="5658008" cy="432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96259" name="Text Box 2"/>
          <p:cNvSpPr txBox="1">
            <a:spLocks noChangeArrowheads="1"/>
          </p:cNvSpPr>
          <p:nvPr/>
        </p:nvSpPr>
        <p:spPr bwMode="auto">
          <a:xfrm>
            <a:off x="486464" y="4604174"/>
            <a:ext cx="5658008" cy="432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97283" name="Text Box 2"/>
          <p:cNvSpPr txBox="1">
            <a:spLocks noChangeArrowheads="1"/>
          </p:cNvSpPr>
          <p:nvPr/>
        </p:nvSpPr>
        <p:spPr bwMode="auto">
          <a:xfrm>
            <a:off x="486464" y="4604174"/>
            <a:ext cx="5658008" cy="432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98307" name="Text Box 2"/>
          <p:cNvSpPr txBox="1">
            <a:spLocks noChangeArrowheads="1"/>
          </p:cNvSpPr>
          <p:nvPr/>
        </p:nvSpPr>
        <p:spPr bwMode="auto">
          <a:xfrm>
            <a:off x="486464" y="4604174"/>
            <a:ext cx="5658008" cy="432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99331" name="Text Box 2"/>
          <p:cNvSpPr txBox="1">
            <a:spLocks noChangeArrowheads="1"/>
          </p:cNvSpPr>
          <p:nvPr/>
        </p:nvSpPr>
        <p:spPr bwMode="auto">
          <a:xfrm>
            <a:off x="486464" y="4604174"/>
            <a:ext cx="5658008" cy="432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100355" name="Text Box 2"/>
          <p:cNvSpPr txBox="1">
            <a:spLocks noChangeArrowheads="1"/>
          </p:cNvSpPr>
          <p:nvPr/>
        </p:nvSpPr>
        <p:spPr bwMode="auto">
          <a:xfrm>
            <a:off x="486464" y="4604174"/>
            <a:ext cx="5658008" cy="432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101379" name="Text Box 2"/>
          <p:cNvSpPr txBox="1">
            <a:spLocks noChangeArrowheads="1"/>
          </p:cNvSpPr>
          <p:nvPr/>
        </p:nvSpPr>
        <p:spPr bwMode="auto">
          <a:xfrm>
            <a:off x="486464" y="4604174"/>
            <a:ext cx="5658008" cy="432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102403" name="Text Box 2"/>
          <p:cNvSpPr txBox="1">
            <a:spLocks noChangeArrowheads="1"/>
          </p:cNvSpPr>
          <p:nvPr/>
        </p:nvSpPr>
        <p:spPr bwMode="auto">
          <a:xfrm>
            <a:off x="486464" y="4604174"/>
            <a:ext cx="5658008" cy="432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103427" name="Text Box 2"/>
          <p:cNvSpPr txBox="1">
            <a:spLocks noChangeArrowheads="1"/>
          </p:cNvSpPr>
          <p:nvPr/>
        </p:nvSpPr>
        <p:spPr bwMode="auto">
          <a:xfrm>
            <a:off x="486464" y="4604174"/>
            <a:ext cx="5658008" cy="432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71500" y="323850"/>
            <a:ext cx="5483225" cy="3797300"/>
          </a:xfrm>
          <a:ln/>
        </p:spPr>
      </p:sp>
      <p:sp>
        <p:nvSpPr>
          <p:cNvPr id="104451" name="Text Box 2"/>
          <p:cNvSpPr txBox="1">
            <a:spLocks noChangeArrowheads="1"/>
          </p:cNvSpPr>
          <p:nvPr/>
        </p:nvSpPr>
        <p:spPr bwMode="auto">
          <a:xfrm>
            <a:off x="486464" y="4604174"/>
            <a:ext cx="5658008" cy="432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95300" y="2746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95300" y="2746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 rot="5400000">
            <a:off x="2690019" y="-594519"/>
            <a:ext cx="4525962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>
            <a:spLocks noGrp="1"/>
          </p:cNvSpPr>
          <p:nvPr>
            <p:ph type="pic" idx="2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3872972" y="273055"/>
            <a:ext cx="5537729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95300" y="1435103"/>
            <a:ext cx="3259006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495300" y="2746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3"/>
          </p:nvPr>
        </p:nvSpPr>
        <p:spPr>
          <a:xfrm>
            <a:off x="5032113" y="1535113"/>
            <a:ext cx="437859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4"/>
          </p:nvPr>
        </p:nvSpPr>
        <p:spPr>
          <a:xfrm>
            <a:off x="5032113" y="2174875"/>
            <a:ext cx="437859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782506" y="4406905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ctrTitle"/>
          </p:nvPr>
        </p:nvSpPr>
        <p:spPr>
          <a:xfrm>
            <a:off x="742950" y="2130430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267" y="228600"/>
            <a:ext cx="84201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95300" y="1885950"/>
            <a:ext cx="4347633" cy="41719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5008034" y="1885950"/>
            <a:ext cx="4347633" cy="417195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07F50F-198A-4A6D-A63A-62D70ACC96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495300" y="2746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495300" y="1600205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2"/>
          </p:nvPr>
        </p:nvSpPr>
        <p:spPr>
          <a:xfrm>
            <a:off x="5035550" y="1600205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95300" y="2746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5" r:id="rId5"/>
    <p:sldLayoutId id="2147483657" r:id="rId6"/>
    <p:sldLayoutId id="2147483658" r:id="rId7"/>
    <p:sldLayoutId id="2147483660" r:id="rId8"/>
    <p:sldLayoutId id="214748366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3"/>
          <p:cNvCxnSpPr/>
          <p:nvPr/>
        </p:nvCxnSpPr>
        <p:spPr>
          <a:xfrm>
            <a:off x="0" y="4038600"/>
            <a:ext cx="9906000" cy="0"/>
          </a:xfrm>
          <a:prstGeom prst="straightConnector1">
            <a:avLst/>
          </a:prstGeom>
          <a:noFill/>
          <a:ln w="508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5" name="Google Shape;85;p13"/>
          <p:cNvSpPr txBox="1">
            <a:spLocks noGrp="1"/>
          </p:cNvSpPr>
          <p:nvPr>
            <p:ph type="body" idx="1"/>
          </p:nvPr>
        </p:nvSpPr>
        <p:spPr>
          <a:xfrm>
            <a:off x="725487" y="1981200"/>
            <a:ext cx="84550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Estimation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C017906-7DE3-4143-B4DC-FAEB2BF5A755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34819" name="Rectangle 1"/>
          <p:cNvSpPr>
            <a:spLocks noGrp="1" noChangeArrowheads="1"/>
          </p:cNvSpPr>
          <p:nvPr>
            <p:ph type="title"/>
          </p:nvPr>
        </p:nvSpPr>
        <p:spPr>
          <a:xfrm>
            <a:off x="440267" y="182564"/>
            <a:ext cx="8416660" cy="1139825"/>
          </a:xfrm>
        </p:spPr>
        <p:txBody>
          <a:bodyPr lIns="18000" tIns="46800" rIns="18000" bIns="46800" anchor="ctr"/>
          <a:lstStyle/>
          <a:p>
            <a:pPr>
              <a:spcBef>
                <a:spcPts val="788"/>
              </a:spcBef>
            </a:pP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Heuristic Estimation Techniques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95301" y="1676400"/>
            <a:ext cx="8856927" cy="4664075"/>
          </a:xfrm>
        </p:spPr>
        <p:txBody>
          <a:bodyPr lIns="18000" tIns="46800" rIns="18000" bIns="46800"/>
          <a:lstStyle/>
          <a:p>
            <a:pPr algn="just">
              <a:lnSpc>
                <a:spcPct val="90000"/>
              </a:lnSpc>
              <a:spcBef>
                <a:spcPts val="488"/>
              </a:spcBef>
              <a:buFont typeface="Wingdings" pitchFamily="2" charset="2"/>
              <a:buChar char="§"/>
              <a:defRPr/>
            </a:pPr>
            <a:r>
              <a:rPr lang="en-GB" sz="3600" u="sng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Single Variable Model:</a:t>
            </a:r>
          </a:p>
          <a:p>
            <a:pPr lvl="1" algn="just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Ø"/>
              <a:defRPr/>
            </a:pPr>
            <a:r>
              <a:rPr lang="en-GB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Parameter to be Estimated=c1*e</a:t>
            </a:r>
            <a:r>
              <a:rPr lang="en-GB" baseline="300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d1</a:t>
            </a:r>
          </a:p>
          <a:p>
            <a:pPr lvl="1" algn="just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Ø"/>
              <a:defRPr/>
            </a:pPr>
            <a:endParaRPr lang="en-GB" dirty="0" smtClean="0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spcBef>
                <a:spcPts val="488"/>
              </a:spcBef>
              <a:buFont typeface="Wingdings" pitchFamily="2" charset="2"/>
              <a:buChar char="§"/>
              <a:defRPr/>
            </a:pPr>
            <a:r>
              <a:rPr lang="en-GB" sz="3600" u="sng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Multivariable Model:</a:t>
            </a:r>
          </a:p>
          <a:p>
            <a:pPr lvl="1" algn="just">
              <a:lnSpc>
                <a:spcPct val="90000"/>
              </a:lnSpc>
              <a:spcBef>
                <a:spcPts val="350"/>
              </a:spcBef>
              <a:buFont typeface="Wingdings" pitchFamily="2" charset="2"/>
              <a:buChar char="Ø"/>
              <a:defRPr/>
            </a:pP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Assumes that the parameter to be estimated  depends on more than one characteristic.</a:t>
            </a:r>
          </a:p>
          <a:p>
            <a:pPr lvl="2" algn="just">
              <a:lnSpc>
                <a:spcPct val="90000"/>
              </a:lnSpc>
              <a:spcBef>
                <a:spcPts val="325"/>
              </a:spcBef>
              <a:buFont typeface="Wingdings" pitchFamily="2" charset="2"/>
              <a:buChar char="ü"/>
              <a:defRPr/>
            </a:pPr>
            <a:r>
              <a:rPr lang="en-GB" sz="20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Parameter to be Estimated=c1*e</a:t>
            </a:r>
            <a:r>
              <a:rPr lang="en-GB" sz="2000" baseline="300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d1</a:t>
            </a:r>
            <a:r>
              <a:rPr lang="en-GB" sz="20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+ c2*e</a:t>
            </a:r>
            <a:r>
              <a:rPr lang="en-GB" sz="2000" baseline="300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d2</a:t>
            </a:r>
            <a:r>
              <a:rPr lang="en-GB" sz="20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+ c3*e</a:t>
            </a:r>
            <a:r>
              <a:rPr lang="en-GB" sz="2000" baseline="300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d3</a:t>
            </a:r>
            <a:r>
              <a:rPr lang="en-GB" sz="20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......</a:t>
            </a:r>
          </a:p>
          <a:p>
            <a:pPr lvl="2" algn="just">
              <a:lnSpc>
                <a:spcPct val="90000"/>
              </a:lnSpc>
              <a:spcBef>
                <a:spcPts val="325"/>
              </a:spcBef>
              <a:buFont typeface="Monotype Sorts" pitchFamily="2" charset="2"/>
              <a:buNone/>
              <a:defRPr/>
            </a:pPr>
            <a:endParaRPr lang="en-GB" sz="2000" dirty="0" smtClean="0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90000"/>
              </a:lnSpc>
              <a:spcBef>
                <a:spcPts val="350"/>
              </a:spcBef>
              <a:buFont typeface="Wingdings" pitchFamily="2" charset="2"/>
              <a:buChar char="Ø"/>
              <a:defRPr/>
            </a:pP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Usually more accurate than single variable models.</a:t>
            </a:r>
          </a:p>
        </p:txBody>
      </p:sp>
      <p:sp>
        <p:nvSpPr>
          <p:cNvPr id="34821" name="AutoShape 3"/>
          <p:cNvSpPr>
            <a:spLocks noChangeArrowheads="1"/>
          </p:cNvSpPr>
          <p:nvPr/>
        </p:nvSpPr>
        <p:spPr bwMode="auto">
          <a:xfrm>
            <a:off x="1651001" y="2362201"/>
            <a:ext cx="7095860" cy="377825"/>
          </a:xfrm>
          <a:prstGeom prst="roundRect">
            <a:avLst>
              <a:gd name="adj" fmla="val 417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90E0E84-CB18-4149-BF60-186A4C9EF36C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35843" name="Rectangle 1"/>
          <p:cNvSpPr>
            <a:spLocks noGrp="1" noChangeArrowheads="1"/>
          </p:cNvSpPr>
          <p:nvPr>
            <p:ph type="title"/>
          </p:nvPr>
        </p:nvSpPr>
        <p:spPr>
          <a:xfrm>
            <a:off x="440267" y="182564"/>
            <a:ext cx="8416660" cy="1139825"/>
          </a:xfrm>
        </p:spPr>
        <p:txBody>
          <a:bodyPr lIns="18000" tIns="46800" rIns="18000" bIns="46800" anchor="ctr"/>
          <a:lstStyle/>
          <a:p>
            <a:pPr>
              <a:spcBef>
                <a:spcPts val="1213"/>
              </a:spcBef>
            </a:pPr>
            <a:r>
              <a:rPr lang="en-GB" sz="4800" smtClean="0">
                <a:latin typeface="Times New Roman" pitchFamily="18" charset="0"/>
                <a:cs typeface="Times New Roman" pitchFamily="18" charset="0"/>
              </a:rPr>
              <a:t>COCOMO Model</a:t>
            </a:r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 lIns="18000" tIns="46800" rIns="18000" bIns="46800"/>
          <a:lstStyle/>
          <a:p>
            <a:pPr algn="just">
              <a:spcBef>
                <a:spcPts val="613"/>
              </a:spcBef>
              <a:buFont typeface="Wingdings" pitchFamily="2" charset="2"/>
              <a:buChar char="§"/>
            </a:pPr>
            <a:r>
              <a:rPr lang="en-GB" sz="3600" smtClean="0">
                <a:latin typeface="Times New Roman" pitchFamily="18" charset="0"/>
                <a:cs typeface="Times New Roman" pitchFamily="18" charset="0"/>
              </a:rPr>
              <a:t>COCOMO (</a:t>
            </a:r>
            <a:r>
              <a:rPr lang="en-GB" sz="360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CO</a:t>
            </a:r>
            <a:r>
              <a:rPr lang="en-GB" sz="3600" smtClean="0">
                <a:latin typeface="Times New Roman" pitchFamily="18" charset="0"/>
                <a:cs typeface="Times New Roman" pitchFamily="18" charset="0"/>
              </a:rPr>
              <a:t>nstructive </a:t>
            </a:r>
            <a:r>
              <a:rPr lang="en-GB" sz="360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CO</a:t>
            </a:r>
            <a:r>
              <a:rPr lang="en-GB" sz="3600" smtClean="0">
                <a:latin typeface="Times New Roman" pitchFamily="18" charset="0"/>
                <a:cs typeface="Times New Roman" pitchFamily="18" charset="0"/>
              </a:rPr>
              <a:t>st </a:t>
            </a:r>
            <a:r>
              <a:rPr lang="en-GB" sz="360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MO</a:t>
            </a:r>
            <a:r>
              <a:rPr lang="en-GB" sz="3600" smtClean="0">
                <a:latin typeface="Times New Roman" pitchFamily="18" charset="0"/>
                <a:cs typeface="Times New Roman" pitchFamily="18" charset="0"/>
              </a:rPr>
              <a:t>del) proposed by Boehm.</a:t>
            </a:r>
          </a:p>
          <a:p>
            <a:pPr algn="just">
              <a:spcBef>
                <a:spcPts val="613"/>
              </a:spcBef>
              <a:buFont typeface="Wingdings" pitchFamily="2" charset="2"/>
              <a:buChar char="§"/>
            </a:pPr>
            <a:r>
              <a:rPr lang="en-GB" sz="3600" smtClean="0">
                <a:latin typeface="Times New Roman" pitchFamily="18" charset="0"/>
                <a:cs typeface="Times New Roman" pitchFamily="18" charset="0"/>
              </a:rPr>
              <a:t>Divides software product developments into 3 categories: </a:t>
            </a:r>
          </a:p>
          <a:p>
            <a:pPr lvl="1" algn="just">
              <a:spcBef>
                <a:spcPts val="525"/>
              </a:spcBef>
              <a:buFont typeface="Wingdings" pitchFamily="2" charset="2"/>
              <a:buChar char="Ø"/>
            </a:pPr>
            <a:r>
              <a:rPr lang="en-GB" sz="3200" smtClean="0">
                <a:latin typeface="Times New Roman" pitchFamily="18" charset="0"/>
                <a:cs typeface="Times New Roman" pitchFamily="18" charset="0"/>
              </a:rPr>
              <a:t>Organic </a:t>
            </a:r>
          </a:p>
          <a:p>
            <a:pPr lvl="1" algn="just">
              <a:spcBef>
                <a:spcPts val="525"/>
              </a:spcBef>
              <a:buFont typeface="Wingdings" pitchFamily="2" charset="2"/>
              <a:buChar char="Ø"/>
            </a:pPr>
            <a:r>
              <a:rPr lang="en-GB" sz="3200" smtClean="0">
                <a:latin typeface="Times New Roman" pitchFamily="18" charset="0"/>
                <a:cs typeface="Times New Roman" pitchFamily="18" charset="0"/>
              </a:rPr>
              <a:t>Semidetached </a:t>
            </a:r>
          </a:p>
          <a:p>
            <a:pPr lvl="1" algn="just">
              <a:spcBef>
                <a:spcPts val="525"/>
              </a:spcBef>
              <a:buFont typeface="Wingdings" pitchFamily="2" charset="2"/>
              <a:buChar char="Ø"/>
            </a:pPr>
            <a:r>
              <a:rPr lang="en-GB" sz="3200" smtClean="0">
                <a:latin typeface="Times New Roman" pitchFamily="18" charset="0"/>
                <a:cs typeface="Times New Roman" pitchFamily="18" charset="0"/>
              </a:rPr>
              <a:t>Embedded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CD16E58-0A89-45CD-B59B-876BE8290EC9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36867" name="Rectangle 1"/>
          <p:cNvSpPr>
            <a:spLocks noGrp="1" noChangeArrowheads="1"/>
          </p:cNvSpPr>
          <p:nvPr>
            <p:ph type="title"/>
          </p:nvPr>
        </p:nvSpPr>
        <p:spPr>
          <a:xfrm>
            <a:off x="440267" y="182564"/>
            <a:ext cx="8416660" cy="1139825"/>
          </a:xfrm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smtClean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COCOMO Product classes</a:t>
            </a: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95301" y="1600201"/>
            <a:ext cx="8856927" cy="4168775"/>
          </a:xfrm>
        </p:spPr>
        <p:txBody>
          <a:bodyPr lIns="18000" tIns="46800" rIns="18000" bIns="46800"/>
          <a:lstStyle/>
          <a:p>
            <a:pPr algn="just">
              <a:spcBef>
                <a:spcPts val="988"/>
              </a:spcBef>
              <a:buFont typeface="Wingdings" pitchFamily="2" charset="2"/>
              <a:buChar char="§"/>
            </a:pPr>
            <a:r>
              <a:rPr lang="en-GB" sz="3600" smtClean="0">
                <a:latin typeface="Times New Roman" pitchFamily="18" charset="0"/>
                <a:cs typeface="Times New Roman" pitchFamily="18" charset="0"/>
              </a:rPr>
              <a:t>Roughly correspond to: </a:t>
            </a:r>
          </a:p>
          <a:p>
            <a:pPr lvl="1" algn="just">
              <a:spcBef>
                <a:spcPts val="713"/>
              </a:spcBef>
              <a:buFont typeface="Wingdings" pitchFamily="2" charset="2"/>
              <a:buChar char="Ø"/>
            </a:pPr>
            <a:r>
              <a:rPr lang="en-GB" sz="3200" smtClean="0">
                <a:latin typeface="Times New Roman" pitchFamily="18" charset="0"/>
                <a:cs typeface="Times New Roman" pitchFamily="18" charset="0"/>
              </a:rPr>
              <a:t>application, utility and system programs respectively.</a:t>
            </a:r>
          </a:p>
          <a:p>
            <a:pPr lvl="2" algn="just">
              <a:spcBef>
                <a:spcPts val="613"/>
              </a:spcBef>
              <a:buFont typeface="Wingdings" pitchFamily="2" charset="2"/>
              <a:buChar char="§"/>
            </a:pPr>
            <a:r>
              <a:rPr lang="en-GB" sz="2800" smtClean="0">
                <a:latin typeface="Times New Roman" pitchFamily="18" charset="0"/>
                <a:cs typeface="Times New Roman" pitchFamily="18" charset="0"/>
              </a:rPr>
              <a:t>Data processing and scientific programs are considered to be </a:t>
            </a:r>
            <a:r>
              <a:rPr lang="en-GB" sz="280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application programs. </a:t>
            </a:r>
          </a:p>
          <a:p>
            <a:pPr lvl="2" algn="just">
              <a:spcBef>
                <a:spcPts val="613"/>
              </a:spcBef>
              <a:buFont typeface="Wingdings" pitchFamily="2" charset="2"/>
              <a:buChar char="§"/>
            </a:pPr>
            <a:r>
              <a:rPr lang="en-GB" sz="2800" smtClean="0">
                <a:latin typeface="Times New Roman" pitchFamily="18" charset="0"/>
                <a:cs typeface="Times New Roman" pitchFamily="18" charset="0"/>
              </a:rPr>
              <a:t>Compilers, linkers, editors, etc., are </a:t>
            </a:r>
            <a:r>
              <a:rPr lang="en-GB" sz="280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utility programs. </a:t>
            </a:r>
          </a:p>
          <a:p>
            <a:pPr lvl="2" algn="just">
              <a:spcBef>
                <a:spcPts val="613"/>
              </a:spcBef>
              <a:buFont typeface="Wingdings" pitchFamily="2" charset="2"/>
              <a:buChar char="§"/>
            </a:pPr>
            <a:r>
              <a:rPr lang="en-GB" sz="2800" smtClean="0">
                <a:latin typeface="Times New Roman" pitchFamily="18" charset="0"/>
                <a:cs typeface="Times New Roman" pitchFamily="18" charset="0"/>
              </a:rPr>
              <a:t>Operating systems and real-time system programs, etc. are </a:t>
            </a:r>
            <a:r>
              <a:rPr lang="en-GB" sz="280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system programs.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96B5961-89C8-4D47-AFDC-FD953D210087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37891" name="Rectangle 1"/>
          <p:cNvSpPr>
            <a:spLocks noGrp="1" noChangeArrowheads="1"/>
          </p:cNvSpPr>
          <p:nvPr>
            <p:ph type="title"/>
          </p:nvPr>
        </p:nvSpPr>
        <p:spPr>
          <a:xfrm>
            <a:off x="440267" y="182564"/>
            <a:ext cx="8416660" cy="1139825"/>
          </a:xfrm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Elaboration of Product classes</a:t>
            </a: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95301" y="1676401"/>
            <a:ext cx="8856927" cy="4168775"/>
          </a:xfrm>
        </p:spPr>
        <p:txBody>
          <a:bodyPr lIns="18000" tIns="46800" rIns="18000" bIns="46800"/>
          <a:lstStyle/>
          <a:p>
            <a:pPr>
              <a:lnSpc>
                <a:spcPct val="90000"/>
              </a:lnSpc>
              <a:spcBef>
                <a:spcPts val="300"/>
              </a:spcBef>
              <a:buFont typeface="Wingdings" pitchFamily="2" charset="2"/>
              <a:buChar char="§"/>
            </a:pPr>
            <a:r>
              <a:rPr lang="en-GB" u="sng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Organic:</a:t>
            </a:r>
            <a:r>
              <a:rPr lang="en-GB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>
              <a:lnSpc>
                <a:spcPct val="90000"/>
              </a:lnSpc>
              <a:spcBef>
                <a:spcPts val="250"/>
              </a:spcBef>
              <a:buFont typeface="Wingdings" pitchFamily="2" charset="2"/>
              <a:buChar char="Ø"/>
            </a:pPr>
            <a:r>
              <a:rPr lang="en-GB" smtClean="0">
                <a:latin typeface="Times New Roman" pitchFamily="18" charset="0"/>
                <a:cs typeface="Times New Roman" pitchFamily="18" charset="0"/>
              </a:rPr>
              <a:t>Relatively small groups </a:t>
            </a:r>
          </a:p>
          <a:p>
            <a:pPr lvl="2">
              <a:lnSpc>
                <a:spcPct val="90000"/>
              </a:lnSpc>
              <a:spcBef>
                <a:spcPts val="213"/>
              </a:spcBef>
              <a:buFont typeface="Wingdings" pitchFamily="2" charset="2"/>
              <a:buChar char="ü"/>
            </a:pPr>
            <a:r>
              <a:rPr lang="en-GB" smtClean="0">
                <a:latin typeface="Times New Roman" pitchFamily="18" charset="0"/>
                <a:cs typeface="Times New Roman" pitchFamily="18" charset="0"/>
              </a:rPr>
              <a:t>working to develop well-understood applications.</a:t>
            </a:r>
          </a:p>
          <a:p>
            <a:pPr>
              <a:lnSpc>
                <a:spcPct val="90000"/>
              </a:lnSpc>
              <a:spcBef>
                <a:spcPts val="300"/>
              </a:spcBef>
              <a:buFont typeface="Wingdings" pitchFamily="2" charset="2"/>
              <a:buChar char="§"/>
            </a:pPr>
            <a:r>
              <a:rPr lang="en-GB" u="sng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Semidetached:</a:t>
            </a:r>
          </a:p>
          <a:p>
            <a:pPr lvl="1">
              <a:lnSpc>
                <a:spcPct val="90000"/>
              </a:lnSpc>
              <a:spcBef>
                <a:spcPts val="250"/>
              </a:spcBef>
              <a:buFont typeface="Wingdings" pitchFamily="2" charset="2"/>
              <a:buChar char="Ø"/>
            </a:pPr>
            <a:r>
              <a:rPr lang="en-GB" smtClean="0">
                <a:latin typeface="Times New Roman" pitchFamily="18" charset="0"/>
                <a:cs typeface="Times New Roman" pitchFamily="18" charset="0"/>
              </a:rPr>
              <a:t>Project team consists of a mixture of experienced and  inexperienced staff. </a:t>
            </a:r>
          </a:p>
          <a:p>
            <a:pPr>
              <a:lnSpc>
                <a:spcPct val="90000"/>
              </a:lnSpc>
              <a:spcBef>
                <a:spcPts val="300"/>
              </a:spcBef>
              <a:buFont typeface="Wingdings" pitchFamily="2" charset="2"/>
              <a:buChar char="§"/>
            </a:pPr>
            <a:r>
              <a:rPr lang="en-GB" u="sng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Embedded:</a:t>
            </a:r>
            <a:r>
              <a:rPr lang="en-GB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>
              <a:lnSpc>
                <a:spcPct val="90000"/>
              </a:lnSpc>
              <a:spcBef>
                <a:spcPts val="250"/>
              </a:spcBef>
              <a:buFont typeface="Wingdings" pitchFamily="2" charset="2"/>
              <a:buChar char="Ø"/>
            </a:pPr>
            <a:r>
              <a:rPr lang="en-GB" smtClean="0">
                <a:latin typeface="Times New Roman" pitchFamily="18" charset="0"/>
                <a:cs typeface="Times New Roman" pitchFamily="18" charset="0"/>
              </a:rPr>
              <a:t>The software is strongly coupled to complex hardware,  or real-time systems.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00F0127-7BBE-49E7-990B-1F1BF056F74C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38915" name="Rectangle 1"/>
          <p:cNvSpPr>
            <a:spLocks noGrp="1" noChangeArrowheads="1"/>
          </p:cNvSpPr>
          <p:nvPr>
            <p:ph type="title"/>
          </p:nvPr>
        </p:nvSpPr>
        <p:spPr>
          <a:xfrm>
            <a:off x="440267" y="182564"/>
            <a:ext cx="8416660" cy="1139825"/>
          </a:xfrm>
        </p:spPr>
        <p:txBody>
          <a:bodyPr lIns="18000" tIns="46800" rIns="18000" bIns="46800" anchor="ctr"/>
          <a:lstStyle/>
          <a:p>
            <a:pPr>
              <a:spcBef>
                <a:spcPts val="1075"/>
              </a:spcBef>
            </a:pPr>
            <a:r>
              <a:rPr lang="en-GB" sz="4400" smtClean="0">
                <a:latin typeface="Times New Roman" pitchFamily="18" charset="0"/>
                <a:cs typeface="Times New Roman" pitchFamily="18" charset="0"/>
              </a:rPr>
              <a:t>COCOMO Model</a:t>
            </a:r>
            <a:r>
              <a:rPr lang="en-GB" sz="1600" smtClean="0">
                <a:latin typeface="Times New Roman" pitchFamily="18" charset="0"/>
                <a:cs typeface="Times New Roman" pitchFamily="18" charset="0"/>
              </a:rPr>
              <a:t> (CONT.)</a:t>
            </a: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95300" y="1752600"/>
            <a:ext cx="8860367" cy="4171950"/>
          </a:xfrm>
        </p:spPr>
        <p:txBody>
          <a:bodyPr lIns="18000" tIns="46800" rIns="18000" bIns="46800"/>
          <a:lstStyle/>
          <a:p>
            <a:pPr algn="just">
              <a:spcBef>
                <a:spcPts val="613"/>
              </a:spcBef>
              <a:buFont typeface="Wingdings" pitchFamily="2" charset="2"/>
              <a:buChar char="§"/>
            </a:pPr>
            <a:r>
              <a:rPr lang="en-GB" smtClean="0">
                <a:latin typeface="Times New Roman" pitchFamily="18" charset="0"/>
                <a:cs typeface="Times New Roman" pitchFamily="18" charset="0"/>
              </a:rPr>
              <a:t>For each of the three product categories: </a:t>
            </a:r>
          </a:p>
          <a:p>
            <a:pPr lvl="1" algn="just">
              <a:spcBef>
                <a:spcPts val="525"/>
              </a:spcBef>
              <a:buFont typeface="Wingdings" pitchFamily="2" charset="2"/>
              <a:buChar char="Ø"/>
            </a:pPr>
            <a:r>
              <a:rPr lang="en-GB" sz="2400" smtClean="0">
                <a:latin typeface="Times New Roman" pitchFamily="18" charset="0"/>
                <a:cs typeface="Times New Roman" pitchFamily="18" charset="0"/>
              </a:rPr>
              <a:t>From size estimation (in KLOC), </a:t>
            </a:r>
            <a:r>
              <a:rPr lang="en-GB" smtClean="0">
                <a:latin typeface="Times New Roman" pitchFamily="18" charset="0"/>
                <a:cs typeface="Times New Roman" pitchFamily="18" charset="0"/>
              </a:rPr>
              <a:t>Boehm provides equations to predict:</a:t>
            </a:r>
          </a:p>
          <a:p>
            <a:pPr lvl="2" algn="just">
              <a:spcBef>
                <a:spcPts val="450"/>
              </a:spcBef>
              <a:buFont typeface="Wingdings" pitchFamily="2" charset="2"/>
              <a:buChar char="ü"/>
            </a:pPr>
            <a:r>
              <a:rPr lang="en-GB" smtClean="0">
                <a:latin typeface="Times New Roman" pitchFamily="18" charset="0"/>
                <a:cs typeface="Times New Roman" pitchFamily="18" charset="0"/>
              </a:rPr>
              <a:t>project duration in months  </a:t>
            </a:r>
          </a:p>
          <a:p>
            <a:pPr lvl="2" algn="just">
              <a:spcBef>
                <a:spcPts val="450"/>
              </a:spcBef>
              <a:buFont typeface="Wingdings" pitchFamily="2" charset="2"/>
              <a:buChar char="ü"/>
            </a:pPr>
            <a:r>
              <a:rPr lang="en-GB" smtClean="0">
                <a:latin typeface="Times New Roman" pitchFamily="18" charset="0"/>
                <a:cs typeface="Times New Roman" pitchFamily="18" charset="0"/>
              </a:rPr>
              <a:t>effort in programmer-months </a:t>
            </a:r>
          </a:p>
          <a:p>
            <a:pPr algn="just">
              <a:spcBef>
                <a:spcPts val="613"/>
              </a:spcBef>
              <a:buFont typeface="Wingdings" pitchFamily="2" charset="2"/>
              <a:buChar char="§"/>
            </a:pPr>
            <a:r>
              <a:rPr lang="en-GB" smtClean="0">
                <a:latin typeface="Times New Roman" pitchFamily="18" charset="0"/>
                <a:cs typeface="Times New Roman" pitchFamily="18" charset="0"/>
              </a:rPr>
              <a:t>Boehm obtained these equations: </a:t>
            </a:r>
          </a:p>
          <a:p>
            <a:pPr lvl="1" algn="just">
              <a:spcBef>
                <a:spcPts val="525"/>
              </a:spcBef>
              <a:buFont typeface="Wingdings" pitchFamily="2" charset="2"/>
              <a:buChar char="Ø"/>
            </a:pPr>
            <a:r>
              <a:rPr lang="en-GB" smtClean="0">
                <a:latin typeface="Times New Roman" pitchFamily="18" charset="0"/>
                <a:cs typeface="Times New Roman" pitchFamily="18" charset="0"/>
              </a:rPr>
              <a:t>examined historical data collected from a large number of actual  projects.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DBE67D1-7539-4923-87A1-C7A8528F8DE4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39939" name="Rectangle 1"/>
          <p:cNvSpPr>
            <a:spLocks noGrp="1" noChangeArrowheads="1"/>
          </p:cNvSpPr>
          <p:nvPr>
            <p:ph type="title"/>
          </p:nvPr>
        </p:nvSpPr>
        <p:spPr>
          <a:xfrm>
            <a:off x="440267" y="182564"/>
            <a:ext cx="8416660" cy="1139825"/>
          </a:xfrm>
        </p:spPr>
        <p:txBody>
          <a:bodyPr lIns="18000" tIns="46800" rIns="18000" bIns="46800" anchor="ctr"/>
          <a:lstStyle/>
          <a:p>
            <a:pPr>
              <a:spcBef>
                <a:spcPts val="1213"/>
              </a:spcBef>
            </a:pPr>
            <a:r>
              <a:rPr lang="en-GB" sz="4800" smtClean="0">
                <a:solidFill>
                  <a:srgbClr val="336600"/>
                </a:solidFill>
                <a:latin typeface="Times New Roman" pitchFamily="18" charset="0"/>
                <a:cs typeface="Times New Roman" pitchFamily="18" charset="0"/>
              </a:rPr>
              <a:t>COCOMO Model</a:t>
            </a:r>
            <a:r>
              <a:rPr lang="en-GB" sz="1800" smtClean="0">
                <a:solidFill>
                  <a:srgbClr val="336600"/>
                </a:solidFill>
                <a:latin typeface="Times New Roman" pitchFamily="18" charset="0"/>
                <a:cs typeface="Times New Roman" pitchFamily="18" charset="0"/>
              </a:rPr>
              <a:t> (CONT.)</a:t>
            </a:r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 lIns="18000" tIns="46800" rIns="18000" bIns="46800"/>
          <a:lstStyle/>
          <a:p>
            <a:pPr algn="just">
              <a:spcBef>
                <a:spcPts val="788"/>
              </a:spcBef>
              <a:buFont typeface="Wingdings" pitchFamily="2" charset="2"/>
              <a:buChar char="§"/>
            </a:pPr>
            <a:r>
              <a:rPr lang="en-GB" sz="4000" smtClean="0">
                <a:latin typeface="Times New Roman" pitchFamily="18" charset="0"/>
                <a:cs typeface="Times New Roman" pitchFamily="18" charset="0"/>
              </a:rPr>
              <a:t>Software cost estimation is done through three stages: </a:t>
            </a:r>
          </a:p>
          <a:p>
            <a:pPr lvl="1" algn="just">
              <a:spcBef>
                <a:spcPts val="713"/>
              </a:spcBef>
              <a:buFont typeface="Wingdings" pitchFamily="2" charset="2"/>
              <a:buChar char="Ø"/>
            </a:pPr>
            <a:r>
              <a:rPr lang="en-GB" sz="3600" smtClean="0">
                <a:latin typeface="Times New Roman" pitchFamily="18" charset="0"/>
                <a:cs typeface="Times New Roman" pitchFamily="18" charset="0"/>
              </a:rPr>
              <a:t>Basic COCOMO,</a:t>
            </a:r>
          </a:p>
          <a:p>
            <a:pPr lvl="1" algn="just">
              <a:spcBef>
                <a:spcPts val="713"/>
              </a:spcBef>
              <a:buFont typeface="Wingdings" pitchFamily="2" charset="2"/>
              <a:buChar char="Ø"/>
            </a:pPr>
            <a:r>
              <a:rPr lang="en-GB" sz="3600" smtClean="0">
                <a:latin typeface="Times New Roman" pitchFamily="18" charset="0"/>
                <a:cs typeface="Times New Roman" pitchFamily="18" charset="0"/>
              </a:rPr>
              <a:t>Intermediate COCOMO,  </a:t>
            </a:r>
          </a:p>
          <a:p>
            <a:pPr lvl="1" algn="just">
              <a:spcBef>
                <a:spcPts val="713"/>
              </a:spcBef>
              <a:buFont typeface="Wingdings" pitchFamily="2" charset="2"/>
              <a:buChar char="Ø"/>
            </a:pPr>
            <a:r>
              <a:rPr lang="en-GB" sz="3600" smtClean="0">
                <a:latin typeface="Times New Roman" pitchFamily="18" charset="0"/>
                <a:cs typeface="Times New Roman" pitchFamily="18" charset="0"/>
              </a:rPr>
              <a:t>Complete COCOMO.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6074225-0B64-4262-9ABD-6D88EFF0C22B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40963" name="Rectangle 1"/>
          <p:cNvSpPr>
            <a:spLocks noGrp="1" noChangeArrowheads="1"/>
          </p:cNvSpPr>
          <p:nvPr>
            <p:ph type="title"/>
          </p:nvPr>
        </p:nvSpPr>
        <p:spPr>
          <a:xfrm>
            <a:off x="440267" y="182564"/>
            <a:ext cx="8416660" cy="1139825"/>
          </a:xfrm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smtClean="0"/>
              <a:t>Basic COCOMO Model</a:t>
            </a:r>
            <a:r>
              <a:rPr lang="en-GB" sz="1400" smtClean="0"/>
              <a:t> (CONT.)</a:t>
            </a:r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95301" y="1600200"/>
            <a:ext cx="8856927" cy="4781550"/>
          </a:xfrm>
        </p:spPr>
        <p:txBody>
          <a:bodyPr lIns="18000" tIns="46800" rIns="18000" bIns="46800"/>
          <a:lstStyle/>
          <a:p>
            <a:pPr algn="just">
              <a:lnSpc>
                <a:spcPct val="90000"/>
              </a:lnSpc>
              <a:spcBef>
                <a:spcPts val="488"/>
              </a:spcBef>
              <a:buFont typeface="Wingdings" pitchFamily="2" charset="2"/>
              <a:buChar char="§"/>
            </a:pPr>
            <a:r>
              <a:rPr lang="en-GB" sz="3600" smtClean="0">
                <a:latin typeface="Times New Roman" pitchFamily="18" charset="0"/>
                <a:cs typeface="Times New Roman" pitchFamily="18" charset="0"/>
              </a:rPr>
              <a:t>Gives only an approximate estimation:</a:t>
            </a:r>
          </a:p>
          <a:p>
            <a:pPr lvl="1" algn="just">
              <a:lnSpc>
                <a:spcPct val="90000"/>
              </a:lnSpc>
              <a:spcBef>
                <a:spcPts val="525"/>
              </a:spcBef>
              <a:buFont typeface="Wingdings" pitchFamily="2" charset="2"/>
              <a:buChar char="Ø"/>
            </a:pPr>
            <a:r>
              <a:rPr lang="en-GB" sz="3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Effort = a1</a:t>
            </a:r>
            <a:r>
              <a:rPr lang="en-GB" sz="3200" smtClean="0">
                <a:solidFill>
                  <a:srgbClr val="060080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GB" sz="3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(KLOC)</a:t>
            </a:r>
            <a:r>
              <a:rPr lang="en-GB" sz="3600" baseline="30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GB" sz="3200" baseline="30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GB" sz="3200" smtClean="0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90000"/>
              </a:lnSpc>
              <a:spcBef>
                <a:spcPts val="525"/>
              </a:spcBef>
              <a:buFont typeface="Wingdings" pitchFamily="2" charset="2"/>
              <a:buChar char="Ø"/>
            </a:pPr>
            <a:r>
              <a:rPr lang="en-GB" sz="3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Tdev = b1</a:t>
            </a:r>
            <a:r>
              <a:rPr lang="en-GB" sz="3200" smtClean="0">
                <a:solidFill>
                  <a:srgbClr val="06008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3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 (Effort)</a:t>
            </a:r>
            <a:r>
              <a:rPr lang="en-GB" sz="3600" baseline="30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GB" sz="3200" baseline="30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pPr lvl="2" algn="just">
              <a:lnSpc>
                <a:spcPct val="90000"/>
              </a:lnSpc>
              <a:spcBef>
                <a:spcPts val="300"/>
              </a:spcBef>
              <a:buFont typeface="Courier New" pitchFamily="49" charset="0"/>
              <a:buChar char="o"/>
            </a:pPr>
            <a:r>
              <a:rPr lang="en-GB" sz="2800" smtClean="0">
                <a:latin typeface="Times New Roman" pitchFamily="18" charset="0"/>
                <a:cs typeface="Times New Roman" pitchFamily="18" charset="0"/>
              </a:rPr>
              <a:t>KLOC is the  estimated kilo  lines of source code,</a:t>
            </a:r>
          </a:p>
          <a:p>
            <a:pPr lvl="2" algn="just">
              <a:lnSpc>
                <a:spcPct val="90000"/>
              </a:lnSpc>
              <a:spcBef>
                <a:spcPts val="363"/>
              </a:spcBef>
              <a:buFont typeface="Courier New" pitchFamily="49" charset="0"/>
              <a:buChar char="o"/>
            </a:pPr>
            <a:r>
              <a:rPr lang="en-GB" sz="2800" smtClean="0">
                <a:latin typeface="Times New Roman" pitchFamily="18" charset="0"/>
                <a:cs typeface="Times New Roman" pitchFamily="18" charset="0"/>
              </a:rPr>
              <a:t>a1,a2,b1,b2 are constants for different categories of software products, </a:t>
            </a:r>
          </a:p>
          <a:p>
            <a:pPr lvl="2" algn="just">
              <a:lnSpc>
                <a:spcPct val="90000"/>
              </a:lnSpc>
              <a:spcBef>
                <a:spcPts val="300"/>
              </a:spcBef>
              <a:buFont typeface="Courier New" pitchFamily="49" charset="0"/>
              <a:buChar char="o"/>
            </a:pPr>
            <a:r>
              <a:rPr lang="en-GB" sz="2800" smtClean="0">
                <a:latin typeface="Times New Roman" pitchFamily="18" charset="0"/>
                <a:cs typeface="Times New Roman" pitchFamily="18" charset="0"/>
              </a:rPr>
              <a:t>Tdev is the estimated time to develop the software in months, </a:t>
            </a:r>
          </a:p>
          <a:p>
            <a:pPr lvl="2" algn="just">
              <a:lnSpc>
                <a:spcPct val="90000"/>
              </a:lnSpc>
              <a:spcBef>
                <a:spcPts val="300"/>
              </a:spcBef>
              <a:buFont typeface="Courier New" pitchFamily="49" charset="0"/>
              <a:buChar char="o"/>
            </a:pPr>
            <a:r>
              <a:rPr lang="en-GB" sz="2800" smtClean="0">
                <a:latin typeface="Times New Roman" pitchFamily="18" charset="0"/>
                <a:cs typeface="Times New Roman" pitchFamily="18" charset="0"/>
              </a:rPr>
              <a:t>Effort  estimation is obtained in  terms of person months (PMs).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DF59B54-3265-4203-825E-99E21A3214D1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41987" name="Rectangle 1"/>
          <p:cNvSpPr>
            <a:spLocks noGrp="1" noChangeArrowheads="1"/>
          </p:cNvSpPr>
          <p:nvPr>
            <p:ph type="title"/>
          </p:nvPr>
        </p:nvSpPr>
        <p:spPr>
          <a:xfrm>
            <a:off x="440267" y="333376"/>
            <a:ext cx="8416660" cy="1139825"/>
          </a:xfrm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smtClean="0">
                <a:latin typeface="Times New Roman" pitchFamily="18" charset="0"/>
                <a:cs typeface="Times New Roman" pitchFamily="18" charset="0"/>
              </a:rPr>
              <a:t>Development Effort Estimation</a:t>
            </a: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 lIns="18000" tIns="46800" rIns="18000" bIns="46800"/>
          <a:lstStyle/>
          <a:p>
            <a:pPr>
              <a:spcBef>
                <a:spcPts val="988"/>
              </a:spcBef>
              <a:buFont typeface="Wingdings" pitchFamily="2" charset="2"/>
              <a:buChar char="§"/>
            </a:pPr>
            <a:r>
              <a:rPr lang="en-GB" sz="4000" smtClean="0">
                <a:latin typeface="Times New Roman" pitchFamily="18" charset="0"/>
                <a:cs typeface="Times New Roman" pitchFamily="18" charset="0"/>
              </a:rPr>
              <a:t>Organic :</a:t>
            </a:r>
          </a:p>
          <a:p>
            <a:pPr lvl="1">
              <a:spcBef>
                <a:spcPts val="900"/>
              </a:spcBef>
              <a:buFont typeface="Wingdings" pitchFamily="2" charset="2"/>
              <a:buChar char="Ø"/>
            </a:pPr>
            <a:r>
              <a:rPr lang="en-GB" sz="36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36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Effort = 2.4*(KLOC)</a:t>
            </a:r>
            <a:r>
              <a:rPr lang="en-GB" sz="3600" baseline="30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1.05</a:t>
            </a:r>
            <a:r>
              <a:rPr lang="en-GB" sz="36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PM</a:t>
            </a:r>
          </a:p>
          <a:p>
            <a:pPr>
              <a:spcBef>
                <a:spcPts val="988"/>
              </a:spcBef>
              <a:buFont typeface="Wingdings" pitchFamily="2" charset="2"/>
              <a:buChar char="§"/>
            </a:pPr>
            <a:r>
              <a:rPr lang="en-GB" sz="4000" smtClean="0">
                <a:latin typeface="Times New Roman" pitchFamily="18" charset="0"/>
                <a:cs typeface="Times New Roman" pitchFamily="18" charset="0"/>
              </a:rPr>
              <a:t> Semi-detached: </a:t>
            </a:r>
          </a:p>
          <a:p>
            <a:pPr lvl="1">
              <a:spcBef>
                <a:spcPts val="900"/>
              </a:spcBef>
              <a:buFont typeface="Wingdings" pitchFamily="2" charset="2"/>
              <a:buChar char="Ø"/>
            </a:pPr>
            <a:r>
              <a:rPr lang="en-GB" sz="36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Effort = 3.0*(KLOC)</a:t>
            </a:r>
            <a:r>
              <a:rPr lang="en-GB" sz="3600" baseline="30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1.12</a:t>
            </a:r>
            <a:r>
              <a:rPr lang="en-GB" sz="36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PM </a:t>
            </a:r>
          </a:p>
          <a:p>
            <a:pPr>
              <a:spcBef>
                <a:spcPts val="988"/>
              </a:spcBef>
              <a:buFont typeface="Wingdings" pitchFamily="2" charset="2"/>
              <a:buChar char="§"/>
            </a:pPr>
            <a:r>
              <a:rPr lang="en-GB" sz="4000" smtClean="0">
                <a:latin typeface="Times New Roman" pitchFamily="18" charset="0"/>
                <a:cs typeface="Times New Roman" pitchFamily="18" charset="0"/>
              </a:rPr>
              <a:t> Embedded: </a:t>
            </a:r>
          </a:p>
          <a:p>
            <a:pPr lvl="1">
              <a:spcBef>
                <a:spcPts val="900"/>
              </a:spcBef>
              <a:buFont typeface="Wingdings" pitchFamily="2" charset="2"/>
              <a:buChar char="Ø"/>
            </a:pPr>
            <a:r>
              <a:rPr lang="en-GB" sz="36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Effort = 3.6*(KLOC)</a:t>
            </a:r>
            <a:r>
              <a:rPr lang="en-GB" sz="3600" baseline="30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1.20</a:t>
            </a:r>
            <a:r>
              <a:rPr lang="en-GB" sz="36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PM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07AA404-7088-4129-B6DC-A468CB906C69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43011" name="Rectangle 1"/>
          <p:cNvSpPr>
            <a:spLocks noGrp="1" noChangeArrowheads="1"/>
          </p:cNvSpPr>
          <p:nvPr>
            <p:ph type="title"/>
          </p:nvPr>
        </p:nvSpPr>
        <p:spPr>
          <a:xfrm>
            <a:off x="440267" y="333376"/>
            <a:ext cx="8416660" cy="1139825"/>
          </a:xfrm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smtClean="0">
                <a:latin typeface="Times New Roman" pitchFamily="18" charset="0"/>
                <a:cs typeface="Times New Roman" pitchFamily="18" charset="0"/>
              </a:rPr>
              <a:t>Development Time Estimation</a:t>
            </a:r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 lIns="18000" tIns="46800" rIns="18000" bIns="46800"/>
          <a:lstStyle/>
          <a:p>
            <a:pPr>
              <a:spcBef>
                <a:spcPts val="988"/>
              </a:spcBef>
              <a:buFont typeface="Wingdings" pitchFamily="2" charset="2"/>
              <a:buChar char="§"/>
            </a:pPr>
            <a:r>
              <a:rPr lang="en-GB" sz="4000" smtClean="0">
                <a:latin typeface="Times New Roman" pitchFamily="18" charset="0"/>
                <a:cs typeface="Times New Roman" pitchFamily="18" charset="0"/>
              </a:rPr>
              <a:t>Organic:</a:t>
            </a:r>
          </a:p>
          <a:p>
            <a:pPr lvl="1">
              <a:spcBef>
                <a:spcPts val="900"/>
              </a:spcBef>
              <a:buFont typeface="Wingdings" pitchFamily="2" charset="2"/>
              <a:buChar char="Ø"/>
            </a:pPr>
            <a:r>
              <a:rPr lang="en-GB" sz="36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Tdev = 2.5*(Effort)</a:t>
            </a:r>
            <a:r>
              <a:rPr lang="en-GB" sz="3600" baseline="30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0.38</a:t>
            </a:r>
            <a:r>
              <a:rPr lang="en-GB" sz="36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Months</a:t>
            </a:r>
          </a:p>
          <a:p>
            <a:pPr>
              <a:spcBef>
                <a:spcPts val="988"/>
              </a:spcBef>
              <a:buFont typeface="Wingdings" pitchFamily="2" charset="2"/>
              <a:buChar char="§"/>
            </a:pPr>
            <a:r>
              <a:rPr lang="en-GB" sz="4000" smtClean="0">
                <a:latin typeface="Times New Roman" pitchFamily="18" charset="0"/>
                <a:cs typeface="Times New Roman" pitchFamily="18" charset="0"/>
              </a:rPr>
              <a:t>Semi-detached:</a:t>
            </a:r>
          </a:p>
          <a:p>
            <a:pPr lvl="1">
              <a:spcBef>
                <a:spcPts val="900"/>
              </a:spcBef>
              <a:buFont typeface="Wingdings" pitchFamily="2" charset="2"/>
              <a:buChar char="Ø"/>
            </a:pPr>
            <a:r>
              <a:rPr lang="en-GB" sz="36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Tdev = 2.5*(Effort)</a:t>
            </a:r>
            <a:r>
              <a:rPr lang="en-GB" sz="3600" baseline="30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0.35</a:t>
            </a:r>
            <a:r>
              <a:rPr lang="en-GB" sz="36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Months</a:t>
            </a:r>
          </a:p>
          <a:p>
            <a:pPr>
              <a:spcBef>
                <a:spcPts val="988"/>
              </a:spcBef>
              <a:buFont typeface="Wingdings" pitchFamily="2" charset="2"/>
              <a:buChar char="§"/>
            </a:pPr>
            <a:r>
              <a:rPr lang="en-GB" sz="4000" smtClean="0">
                <a:latin typeface="Times New Roman" pitchFamily="18" charset="0"/>
                <a:cs typeface="Times New Roman" pitchFamily="18" charset="0"/>
              </a:rPr>
              <a:t>Embedded:</a:t>
            </a:r>
          </a:p>
          <a:p>
            <a:pPr lvl="1">
              <a:spcBef>
                <a:spcPts val="900"/>
              </a:spcBef>
              <a:buFont typeface="Wingdings" pitchFamily="2" charset="2"/>
              <a:buChar char="Ø"/>
            </a:pPr>
            <a:r>
              <a:rPr lang="en-GB" sz="36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Tdev = 2.5*(Effort)</a:t>
            </a:r>
            <a:r>
              <a:rPr lang="en-GB" sz="3600" baseline="30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0.32</a:t>
            </a:r>
            <a:r>
              <a:rPr lang="en-GB" sz="36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Months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6C85DDB-B628-433C-88F4-2EE9416CB01D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44035" name="Rectangle 1"/>
          <p:cNvSpPr>
            <a:spLocks noGrp="1" noChangeArrowheads="1"/>
          </p:cNvSpPr>
          <p:nvPr>
            <p:ph type="title"/>
          </p:nvPr>
        </p:nvSpPr>
        <p:spPr>
          <a:xfrm>
            <a:off x="440267" y="182564"/>
            <a:ext cx="8416660" cy="1139825"/>
          </a:xfrm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smtClean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Basic COCOMO Model</a:t>
            </a:r>
            <a:r>
              <a:rPr lang="en-GB" sz="1400" smtClean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 (CONT.)</a:t>
            </a:r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12740" y="1351560"/>
            <a:ext cx="3645958" cy="4171950"/>
          </a:xfrm>
        </p:spPr>
        <p:txBody>
          <a:bodyPr lIns="18000" tIns="46800" rIns="18000" bIns="46800"/>
          <a:lstStyle/>
          <a:p>
            <a:pPr>
              <a:spcBef>
                <a:spcPts val="525"/>
              </a:spcBef>
            </a:pP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838"/>
              </a:spcBef>
              <a:buFont typeface="Wingdings" pitchFamily="2" charset="2"/>
              <a:buChar char="§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Effort is somewhat super-linear in problem  size.</a:t>
            </a:r>
            <a:r>
              <a:rPr lang="en-GB" sz="36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44037" name="Line 3"/>
          <p:cNvSpPr>
            <a:spLocks noChangeShapeType="1"/>
          </p:cNvSpPr>
          <p:nvPr/>
        </p:nvSpPr>
        <p:spPr bwMode="auto">
          <a:xfrm>
            <a:off x="4210050" y="1568450"/>
            <a:ext cx="0" cy="3352800"/>
          </a:xfrm>
          <a:prstGeom prst="line">
            <a:avLst/>
          </a:prstGeom>
          <a:noFill/>
          <a:ln w="28440">
            <a:solidFill>
              <a:srgbClr val="003300"/>
            </a:solidFill>
            <a:round/>
            <a:headEnd type="triangle" w="lg" len="lg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38" name="Line 4"/>
          <p:cNvSpPr>
            <a:spLocks noChangeShapeType="1"/>
          </p:cNvSpPr>
          <p:nvPr/>
        </p:nvSpPr>
        <p:spPr bwMode="auto">
          <a:xfrm>
            <a:off x="4210050" y="4921250"/>
            <a:ext cx="4375150" cy="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4039" name="Freeform 5"/>
          <p:cNvSpPr>
            <a:spLocks noChangeArrowheads="1"/>
          </p:cNvSpPr>
          <p:nvPr/>
        </p:nvSpPr>
        <p:spPr bwMode="auto">
          <a:xfrm>
            <a:off x="4210051" y="1949451"/>
            <a:ext cx="3628760" cy="2968625"/>
          </a:xfrm>
          <a:custGeom>
            <a:avLst/>
            <a:gdLst>
              <a:gd name="T0" fmla="*/ 0 w 9310"/>
              <a:gd name="T1" fmla="*/ 2147483647 h 8252"/>
              <a:gd name="T2" fmla="*/ 2147483647 w 9310"/>
              <a:gd name="T3" fmla="*/ 2147483647 h 8252"/>
              <a:gd name="T4" fmla="*/ 2147483647 w 9310"/>
              <a:gd name="T5" fmla="*/ 2147483647 h 8252"/>
              <a:gd name="T6" fmla="*/ 2147483647 w 9310"/>
              <a:gd name="T7" fmla="*/ 2147483647 h 8252"/>
              <a:gd name="T8" fmla="*/ 2147483647 w 9310"/>
              <a:gd name="T9" fmla="*/ 2147483647 h 8252"/>
              <a:gd name="T10" fmla="*/ 2147483647 w 9310"/>
              <a:gd name="T11" fmla="*/ 0 h 82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310"/>
              <a:gd name="T19" fmla="*/ 0 h 8252"/>
              <a:gd name="T20" fmla="*/ 9310 w 9310"/>
              <a:gd name="T21" fmla="*/ 8252 h 825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310" h="8252">
                <a:moveTo>
                  <a:pt x="0" y="8251"/>
                </a:moveTo>
                <a:cubicBezTo>
                  <a:pt x="358" y="8116"/>
                  <a:pt x="720" y="7982"/>
                  <a:pt x="1329" y="7646"/>
                </a:cubicBezTo>
                <a:cubicBezTo>
                  <a:pt x="1939" y="7313"/>
                  <a:pt x="2880" y="6808"/>
                  <a:pt x="3656" y="6239"/>
                </a:cubicBezTo>
                <a:cubicBezTo>
                  <a:pt x="4431" y="5668"/>
                  <a:pt x="5374" y="4830"/>
                  <a:pt x="5984" y="4226"/>
                </a:cubicBezTo>
                <a:cubicBezTo>
                  <a:pt x="6593" y="3622"/>
                  <a:pt x="6760" y="3320"/>
                  <a:pt x="7315" y="2615"/>
                </a:cubicBezTo>
                <a:cubicBezTo>
                  <a:pt x="7868" y="1911"/>
                  <a:pt x="8589" y="955"/>
                  <a:pt x="9309" y="0"/>
                </a:cubicBezTo>
              </a:path>
            </a:pathLst>
          </a:custGeom>
          <a:noFill/>
          <a:ln w="34920">
            <a:solidFill>
              <a:srgbClr val="FF0000"/>
            </a:solidFill>
            <a:prstDash val="lgDash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0" name="Freeform 6"/>
          <p:cNvSpPr>
            <a:spLocks noChangeArrowheads="1"/>
          </p:cNvSpPr>
          <p:nvPr/>
        </p:nvSpPr>
        <p:spPr bwMode="auto">
          <a:xfrm>
            <a:off x="4210051" y="2101850"/>
            <a:ext cx="3958960" cy="2816225"/>
          </a:xfrm>
          <a:custGeom>
            <a:avLst/>
            <a:gdLst>
              <a:gd name="T0" fmla="*/ 0 w 10157"/>
              <a:gd name="T1" fmla="*/ 2147483647 h 7829"/>
              <a:gd name="T2" fmla="*/ 2147483647 w 10157"/>
              <a:gd name="T3" fmla="*/ 2147483647 h 7829"/>
              <a:gd name="T4" fmla="*/ 2147483647 w 10157"/>
              <a:gd name="T5" fmla="*/ 2147483647 h 7829"/>
              <a:gd name="T6" fmla="*/ 2147483647 w 10157"/>
              <a:gd name="T7" fmla="*/ 2147483647 h 7829"/>
              <a:gd name="T8" fmla="*/ 2147483647 w 10157"/>
              <a:gd name="T9" fmla="*/ 0 h 782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157"/>
              <a:gd name="T16" fmla="*/ 0 h 7829"/>
              <a:gd name="T17" fmla="*/ 10157 w 10157"/>
              <a:gd name="T18" fmla="*/ 7829 h 782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157" h="7829">
                <a:moveTo>
                  <a:pt x="0" y="7828"/>
                </a:moveTo>
                <a:cubicBezTo>
                  <a:pt x="1005" y="7697"/>
                  <a:pt x="2012" y="7566"/>
                  <a:pt x="3018" y="7045"/>
                </a:cubicBezTo>
                <a:cubicBezTo>
                  <a:pt x="4025" y="6523"/>
                  <a:pt x="4985" y="5642"/>
                  <a:pt x="6039" y="4696"/>
                </a:cubicBezTo>
                <a:cubicBezTo>
                  <a:pt x="7091" y="3750"/>
                  <a:pt x="8647" y="2152"/>
                  <a:pt x="9333" y="1369"/>
                </a:cubicBezTo>
                <a:cubicBezTo>
                  <a:pt x="10019" y="586"/>
                  <a:pt x="10087" y="293"/>
                  <a:pt x="10156" y="0"/>
                </a:cubicBezTo>
              </a:path>
            </a:pathLst>
          </a:custGeom>
          <a:noFill/>
          <a:ln w="34920" cap="rnd">
            <a:solidFill>
              <a:srgbClr val="0000F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1" name="Freeform 7"/>
          <p:cNvSpPr>
            <a:spLocks noChangeArrowheads="1"/>
          </p:cNvSpPr>
          <p:nvPr/>
        </p:nvSpPr>
        <p:spPr bwMode="auto">
          <a:xfrm>
            <a:off x="4210051" y="2330451"/>
            <a:ext cx="4371710" cy="2587625"/>
          </a:xfrm>
          <a:custGeom>
            <a:avLst/>
            <a:gdLst>
              <a:gd name="T0" fmla="*/ 0 w 11215"/>
              <a:gd name="T1" fmla="*/ 2147483647 h 7194"/>
              <a:gd name="T2" fmla="*/ 2147483647 w 11215"/>
              <a:gd name="T3" fmla="*/ 2147483647 h 7194"/>
              <a:gd name="T4" fmla="*/ 2147483647 w 11215"/>
              <a:gd name="T5" fmla="*/ 2147483647 h 7194"/>
              <a:gd name="T6" fmla="*/ 2147483647 w 11215"/>
              <a:gd name="T7" fmla="*/ 0 h 7194"/>
              <a:gd name="T8" fmla="*/ 0 60000 65536"/>
              <a:gd name="T9" fmla="*/ 0 60000 65536"/>
              <a:gd name="T10" fmla="*/ 0 60000 65536"/>
              <a:gd name="T11" fmla="*/ 0 60000 65536"/>
              <a:gd name="T12" fmla="*/ 0 w 11215"/>
              <a:gd name="T13" fmla="*/ 0 h 7194"/>
              <a:gd name="T14" fmla="*/ 11215 w 11215"/>
              <a:gd name="T15" fmla="*/ 7194 h 71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215" h="7194">
                <a:moveTo>
                  <a:pt x="0" y="7193"/>
                </a:moveTo>
                <a:cubicBezTo>
                  <a:pt x="1055" y="7131"/>
                  <a:pt x="2111" y="7070"/>
                  <a:pt x="3412" y="6455"/>
                </a:cubicBezTo>
                <a:cubicBezTo>
                  <a:pt x="4712" y="5841"/>
                  <a:pt x="6500" y="4579"/>
                  <a:pt x="7801" y="3504"/>
                </a:cubicBezTo>
                <a:cubicBezTo>
                  <a:pt x="9101" y="2427"/>
                  <a:pt x="10645" y="583"/>
                  <a:pt x="11214" y="0"/>
                </a:cubicBezTo>
              </a:path>
            </a:pathLst>
          </a:custGeom>
          <a:noFill/>
          <a:ln w="28440">
            <a:solidFill>
              <a:srgbClr val="0033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2" name="Text Box 8"/>
          <p:cNvSpPr txBox="1">
            <a:spLocks noChangeArrowheads="1"/>
          </p:cNvSpPr>
          <p:nvPr/>
        </p:nvSpPr>
        <p:spPr bwMode="auto">
          <a:xfrm>
            <a:off x="3524169" y="2809503"/>
            <a:ext cx="106971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025"/>
              </a:spcBef>
              <a:tabLst>
                <a:tab pos="815975" algn="l"/>
                <a:tab pos="863600" algn="l"/>
              </a:tabLst>
            </a:pPr>
            <a:r>
              <a:rPr lang="en-GB" sz="1800" b="1" dirty="0">
                <a:solidFill>
                  <a:srgbClr val="0000CC"/>
                </a:solidFill>
              </a:rPr>
              <a:t>Effort</a:t>
            </a:r>
          </a:p>
        </p:txBody>
      </p:sp>
      <p:sp>
        <p:nvSpPr>
          <p:cNvPr id="44043" name="Text Box 9"/>
          <p:cNvSpPr txBox="1">
            <a:spLocks noChangeArrowheads="1"/>
          </p:cNvSpPr>
          <p:nvPr/>
        </p:nvSpPr>
        <p:spPr bwMode="auto">
          <a:xfrm>
            <a:off x="5695951" y="4921250"/>
            <a:ext cx="123481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025"/>
              </a:spcBef>
              <a:tabLst>
                <a:tab pos="815975" algn="l"/>
                <a:tab pos="863600" algn="l"/>
              </a:tabLst>
            </a:pPr>
            <a:r>
              <a:rPr lang="en-GB" sz="1800" b="1">
                <a:solidFill>
                  <a:srgbClr val="0000CC"/>
                </a:solidFill>
              </a:rPr>
              <a:t>Size</a:t>
            </a:r>
          </a:p>
        </p:txBody>
      </p:sp>
      <p:sp>
        <p:nvSpPr>
          <p:cNvPr id="44044" name="Text Box 10"/>
          <p:cNvSpPr txBox="1">
            <a:spLocks noChangeArrowheads="1"/>
          </p:cNvSpPr>
          <p:nvPr/>
        </p:nvSpPr>
        <p:spPr bwMode="auto">
          <a:xfrm rot="-2340000">
            <a:off x="5757862" y="3205164"/>
            <a:ext cx="1460104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913"/>
              </a:spcBef>
              <a:tabLst>
                <a:tab pos="815975" algn="l"/>
                <a:tab pos="863600" algn="l"/>
              </a:tabLst>
            </a:pPr>
            <a:r>
              <a:rPr lang="en-GB" sz="1600" b="1">
                <a:solidFill>
                  <a:srgbClr val="FF3300"/>
                </a:solidFill>
              </a:rPr>
              <a:t>Embedded</a:t>
            </a:r>
          </a:p>
        </p:txBody>
      </p:sp>
      <p:sp>
        <p:nvSpPr>
          <p:cNvPr id="44045" name="Text Box 11"/>
          <p:cNvSpPr txBox="1">
            <a:spLocks noChangeArrowheads="1"/>
          </p:cNvSpPr>
          <p:nvPr/>
        </p:nvSpPr>
        <p:spPr bwMode="auto">
          <a:xfrm rot="-2580000">
            <a:off x="6917003" y="2416176"/>
            <a:ext cx="1730110" cy="30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788"/>
              </a:spcBef>
              <a:tabLst>
                <a:tab pos="815975" algn="l"/>
                <a:tab pos="1368425" algn="l"/>
                <a:tab pos="1447800" algn="l"/>
              </a:tabLst>
            </a:pPr>
            <a:r>
              <a:rPr lang="en-GB" sz="1400" b="1">
                <a:solidFill>
                  <a:srgbClr val="0000FF"/>
                </a:solidFill>
              </a:rPr>
              <a:t>Semidetached</a:t>
            </a:r>
          </a:p>
        </p:txBody>
      </p:sp>
      <p:sp>
        <p:nvSpPr>
          <p:cNvPr id="44046" name="Text Box 12"/>
          <p:cNvSpPr txBox="1">
            <a:spLocks noChangeArrowheads="1"/>
          </p:cNvSpPr>
          <p:nvPr/>
        </p:nvSpPr>
        <p:spPr bwMode="auto">
          <a:xfrm rot="-2040000">
            <a:off x="6741584" y="3608388"/>
            <a:ext cx="106971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913"/>
              </a:spcBef>
              <a:tabLst>
                <a:tab pos="815975" algn="l"/>
                <a:tab pos="863600" algn="l"/>
              </a:tabLst>
            </a:pPr>
            <a:r>
              <a:rPr lang="en-GB" sz="1600" b="1"/>
              <a:t>Organic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A0B37A7-BB9D-46B5-86D2-D1E9705571B2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45059" name="Rectangle 1"/>
          <p:cNvSpPr>
            <a:spLocks noGrp="1" noChangeArrowheads="1"/>
          </p:cNvSpPr>
          <p:nvPr>
            <p:ph type="title"/>
          </p:nvPr>
        </p:nvSpPr>
        <p:spPr>
          <a:xfrm>
            <a:off x="440267" y="182564"/>
            <a:ext cx="8416660" cy="1139825"/>
          </a:xfrm>
        </p:spPr>
        <p:txBody>
          <a:bodyPr lIns="18000" tIns="46800" rIns="18000" bIns="46800" anchor="ctr"/>
          <a:lstStyle/>
          <a:p>
            <a:pPr>
              <a:spcBef>
                <a:spcPts val="1075"/>
              </a:spcBef>
            </a:pPr>
            <a:r>
              <a:rPr lang="en-GB" sz="440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Basic COCOMO Model</a:t>
            </a:r>
            <a:r>
              <a:rPr lang="en-GB" sz="160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(CONT.)</a:t>
            </a:r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12751" y="1447801"/>
            <a:ext cx="4124060" cy="4111625"/>
          </a:xfrm>
        </p:spPr>
        <p:txBody>
          <a:bodyPr lIns="18000" tIns="46800" rIns="18000" bIns="46800"/>
          <a:lstStyle/>
          <a:p>
            <a:pPr>
              <a:spcBef>
                <a:spcPts val="450"/>
              </a:spcBef>
              <a:buFont typeface="Wingdings" pitchFamily="2" charset="2"/>
              <a:buChar char="§"/>
            </a:pPr>
            <a:r>
              <a:rPr lang="en-GB" smtClean="0">
                <a:latin typeface="Times New Roman" pitchFamily="18" charset="0"/>
                <a:cs typeface="Times New Roman" pitchFamily="18" charset="0"/>
              </a:rPr>
              <a:t>Development time </a:t>
            </a:r>
          </a:p>
          <a:p>
            <a:pPr lvl="1">
              <a:spcBef>
                <a:spcPts val="400"/>
              </a:spcBef>
              <a:buFont typeface="Wingdings" pitchFamily="2" charset="2"/>
              <a:buChar char="Ø"/>
            </a:pPr>
            <a:r>
              <a:rPr lang="en-GB" smtClean="0">
                <a:latin typeface="Times New Roman" pitchFamily="18" charset="0"/>
                <a:cs typeface="Times New Roman" pitchFamily="18" charset="0"/>
              </a:rPr>
              <a:t>sublinear function of product size.</a:t>
            </a:r>
          </a:p>
          <a:p>
            <a:pPr>
              <a:spcBef>
                <a:spcPts val="450"/>
              </a:spcBef>
              <a:buFont typeface="Wingdings" pitchFamily="2" charset="2"/>
              <a:buChar char="§"/>
            </a:pPr>
            <a:r>
              <a:rPr lang="en-GB" smtClean="0">
                <a:latin typeface="Times New Roman" pitchFamily="18" charset="0"/>
                <a:cs typeface="Times New Roman" pitchFamily="18" charset="0"/>
              </a:rPr>
              <a:t>When product size increases two times, </a:t>
            </a:r>
          </a:p>
          <a:p>
            <a:pPr lvl="1">
              <a:spcBef>
                <a:spcPts val="400"/>
              </a:spcBef>
              <a:buFont typeface="Wingdings" pitchFamily="2" charset="2"/>
              <a:buChar char="Ø"/>
            </a:pPr>
            <a:r>
              <a:rPr lang="en-GB" smtClean="0">
                <a:latin typeface="Times New Roman" pitchFamily="18" charset="0"/>
                <a:cs typeface="Times New Roman" pitchFamily="18" charset="0"/>
              </a:rPr>
              <a:t>development time  does not double.</a:t>
            </a:r>
          </a:p>
          <a:p>
            <a:pPr>
              <a:spcBef>
                <a:spcPts val="450"/>
              </a:spcBef>
              <a:buFont typeface="Wingdings" pitchFamily="2" charset="2"/>
              <a:buChar char="§"/>
            </a:pPr>
            <a:r>
              <a:rPr lang="en-GB" smtClean="0">
                <a:latin typeface="Times New Roman" pitchFamily="18" charset="0"/>
                <a:cs typeface="Times New Roman" pitchFamily="18" charset="0"/>
              </a:rPr>
              <a:t>Time taken: </a:t>
            </a:r>
          </a:p>
          <a:p>
            <a:pPr lvl="1">
              <a:spcBef>
                <a:spcPts val="400"/>
              </a:spcBef>
              <a:buFont typeface="Wingdings" pitchFamily="2" charset="2"/>
              <a:buChar char="Ø"/>
            </a:pPr>
            <a:r>
              <a:rPr lang="en-GB" smtClean="0">
                <a:latin typeface="Times New Roman" pitchFamily="18" charset="0"/>
                <a:cs typeface="Times New Roman" pitchFamily="18" charset="0"/>
              </a:rPr>
              <a:t>almost same for all the three product categories.</a:t>
            </a:r>
          </a:p>
        </p:txBody>
      </p:sp>
      <p:sp>
        <p:nvSpPr>
          <p:cNvPr id="45061" name="Line 3"/>
          <p:cNvSpPr>
            <a:spLocks noChangeShapeType="1"/>
          </p:cNvSpPr>
          <p:nvPr/>
        </p:nvSpPr>
        <p:spPr bwMode="auto">
          <a:xfrm>
            <a:off x="4787900" y="1676400"/>
            <a:ext cx="1720" cy="335280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 type="triangle" w="lg" len="lg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62" name="Line 4"/>
          <p:cNvSpPr>
            <a:spLocks noChangeShapeType="1"/>
          </p:cNvSpPr>
          <p:nvPr/>
        </p:nvSpPr>
        <p:spPr bwMode="auto">
          <a:xfrm flipV="1">
            <a:off x="4787900" y="5029200"/>
            <a:ext cx="3879850" cy="1588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5063" name="Freeform 5"/>
          <p:cNvSpPr>
            <a:spLocks noChangeArrowheads="1"/>
          </p:cNvSpPr>
          <p:nvPr/>
        </p:nvSpPr>
        <p:spPr bwMode="auto">
          <a:xfrm>
            <a:off x="4787901" y="2987675"/>
            <a:ext cx="3628760" cy="2038350"/>
          </a:xfrm>
          <a:custGeom>
            <a:avLst/>
            <a:gdLst>
              <a:gd name="T0" fmla="*/ 0 w 9310"/>
              <a:gd name="T1" fmla="*/ 2147483647 h 5668"/>
              <a:gd name="T2" fmla="*/ 2147483647 w 9310"/>
              <a:gd name="T3" fmla="*/ 2147483647 h 5668"/>
              <a:gd name="T4" fmla="*/ 2147483647 w 9310"/>
              <a:gd name="T5" fmla="*/ 2147483647 h 5668"/>
              <a:gd name="T6" fmla="*/ 2147483647 w 9310"/>
              <a:gd name="T7" fmla="*/ 0 h 5668"/>
              <a:gd name="T8" fmla="*/ 0 60000 65536"/>
              <a:gd name="T9" fmla="*/ 0 60000 65536"/>
              <a:gd name="T10" fmla="*/ 0 60000 65536"/>
              <a:gd name="T11" fmla="*/ 0 60000 65536"/>
              <a:gd name="T12" fmla="*/ 0 w 9310"/>
              <a:gd name="T13" fmla="*/ 0 h 5668"/>
              <a:gd name="T14" fmla="*/ 9310 w 9310"/>
              <a:gd name="T15" fmla="*/ 5668 h 56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310" h="5668">
                <a:moveTo>
                  <a:pt x="0" y="5667"/>
                </a:moveTo>
                <a:cubicBezTo>
                  <a:pt x="246" y="5347"/>
                  <a:pt x="493" y="5029"/>
                  <a:pt x="1269" y="4441"/>
                </a:cubicBezTo>
                <a:cubicBezTo>
                  <a:pt x="2045" y="3854"/>
                  <a:pt x="3314" y="2884"/>
                  <a:pt x="4655" y="2143"/>
                </a:cubicBezTo>
                <a:cubicBezTo>
                  <a:pt x="5994" y="1403"/>
                  <a:pt x="7652" y="701"/>
                  <a:pt x="9309" y="0"/>
                </a:cubicBezTo>
              </a:path>
            </a:pathLst>
          </a:custGeom>
          <a:noFill/>
          <a:ln w="38160">
            <a:solidFill>
              <a:srgbClr val="0000FF"/>
            </a:solidFill>
            <a:prstDash val="lgDash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64" name="Freeform 6"/>
          <p:cNvSpPr>
            <a:spLocks noChangeArrowheads="1"/>
          </p:cNvSpPr>
          <p:nvPr/>
        </p:nvSpPr>
        <p:spPr bwMode="auto">
          <a:xfrm>
            <a:off x="4787901" y="3314701"/>
            <a:ext cx="3711310" cy="1711325"/>
          </a:xfrm>
          <a:custGeom>
            <a:avLst/>
            <a:gdLst>
              <a:gd name="T0" fmla="*/ 0 w 9521"/>
              <a:gd name="T1" fmla="*/ 2147483647 h 4759"/>
              <a:gd name="T2" fmla="*/ 2147483647 w 9521"/>
              <a:gd name="T3" fmla="*/ 2147483647 h 4759"/>
              <a:gd name="T4" fmla="*/ 2147483647 w 9521"/>
              <a:gd name="T5" fmla="*/ 2147483647 h 4759"/>
              <a:gd name="T6" fmla="*/ 2147483647 w 9521"/>
              <a:gd name="T7" fmla="*/ 2147483647 h 4759"/>
              <a:gd name="T8" fmla="*/ 2147483647 w 9521"/>
              <a:gd name="T9" fmla="*/ 0 h 47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521"/>
              <a:gd name="T16" fmla="*/ 0 h 4759"/>
              <a:gd name="T17" fmla="*/ 9521 w 9521"/>
              <a:gd name="T18" fmla="*/ 4759 h 47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521" h="4759">
                <a:moveTo>
                  <a:pt x="0" y="4758"/>
                </a:moveTo>
                <a:cubicBezTo>
                  <a:pt x="846" y="4157"/>
                  <a:pt x="1692" y="3555"/>
                  <a:pt x="2750" y="2953"/>
                </a:cubicBezTo>
                <a:cubicBezTo>
                  <a:pt x="3808" y="2351"/>
                  <a:pt x="5395" y="1585"/>
                  <a:pt x="6347" y="1148"/>
                </a:cubicBezTo>
                <a:cubicBezTo>
                  <a:pt x="7299" y="710"/>
                  <a:pt x="7934" y="518"/>
                  <a:pt x="8463" y="327"/>
                </a:cubicBezTo>
                <a:cubicBezTo>
                  <a:pt x="8991" y="135"/>
                  <a:pt x="9255" y="67"/>
                  <a:pt x="9520" y="0"/>
                </a:cubicBezTo>
              </a:path>
            </a:pathLst>
          </a:custGeom>
          <a:noFill/>
          <a:ln w="34920">
            <a:solidFill>
              <a:srgbClr val="0033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65" name="Text Box 7"/>
          <p:cNvSpPr txBox="1">
            <a:spLocks noChangeArrowheads="1"/>
          </p:cNvSpPr>
          <p:nvPr/>
        </p:nvSpPr>
        <p:spPr bwMode="auto">
          <a:xfrm>
            <a:off x="6026151" y="5092268"/>
            <a:ext cx="987160" cy="36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025"/>
              </a:spcBef>
              <a:tabLst>
                <a:tab pos="815975" algn="l"/>
                <a:tab pos="863600" algn="l"/>
              </a:tabLst>
            </a:pPr>
            <a:r>
              <a:rPr lang="en-GB" sz="1800" b="1" dirty="0">
                <a:solidFill>
                  <a:srgbClr val="0000FF"/>
                </a:solidFill>
              </a:rPr>
              <a:t>Size</a:t>
            </a:r>
          </a:p>
        </p:txBody>
      </p:sp>
      <p:sp>
        <p:nvSpPr>
          <p:cNvPr id="45066" name="Text Box 8"/>
          <p:cNvSpPr txBox="1">
            <a:spLocks noChangeArrowheads="1"/>
          </p:cNvSpPr>
          <p:nvPr/>
        </p:nvSpPr>
        <p:spPr bwMode="auto">
          <a:xfrm>
            <a:off x="4873337" y="2084119"/>
            <a:ext cx="156501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025"/>
              </a:spcBef>
              <a:tabLst>
                <a:tab pos="815975" algn="l"/>
                <a:tab pos="1368425" algn="l"/>
              </a:tabLst>
            </a:pPr>
            <a:r>
              <a:rPr lang="en-GB" sz="1800" b="1" dirty="0">
                <a:solidFill>
                  <a:srgbClr val="0000FF"/>
                </a:solidFill>
              </a:rPr>
              <a:t>Dev</a:t>
            </a:r>
            <a:r>
              <a:rPr lang="en-GB" sz="1600" b="1" dirty="0">
                <a:solidFill>
                  <a:srgbClr val="0000FF"/>
                </a:solidFill>
              </a:rPr>
              <a:t>. Time</a:t>
            </a:r>
          </a:p>
        </p:txBody>
      </p:sp>
      <p:sp>
        <p:nvSpPr>
          <p:cNvPr id="45067" name="Text Box 9"/>
          <p:cNvSpPr txBox="1">
            <a:spLocks noChangeArrowheads="1"/>
          </p:cNvSpPr>
          <p:nvPr/>
        </p:nvSpPr>
        <p:spPr bwMode="auto">
          <a:xfrm rot="-1500000">
            <a:off x="6500813" y="2808289"/>
            <a:ext cx="1647560" cy="36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025"/>
              </a:spcBef>
              <a:tabLst>
                <a:tab pos="815975" algn="l"/>
                <a:tab pos="1368425" algn="l"/>
                <a:tab pos="1447800" algn="l"/>
              </a:tabLst>
            </a:pPr>
            <a:r>
              <a:rPr lang="en-GB" sz="1800" b="1">
                <a:solidFill>
                  <a:srgbClr val="FF3300"/>
                </a:solidFill>
              </a:rPr>
              <a:t>Embedded</a:t>
            </a:r>
          </a:p>
        </p:txBody>
      </p:sp>
      <p:sp>
        <p:nvSpPr>
          <p:cNvPr id="45068" name="Text Box 10"/>
          <p:cNvSpPr txBox="1">
            <a:spLocks noChangeArrowheads="1"/>
          </p:cNvSpPr>
          <p:nvPr/>
        </p:nvSpPr>
        <p:spPr bwMode="auto">
          <a:xfrm rot="-1320000">
            <a:off x="7216247" y="2814639"/>
            <a:ext cx="197776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913"/>
              </a:spcBef>
              <a:tabLst>
                <a:tab pos="815975" algn="l"/>
                <a:tab pos="1633538" algn="l"/>
                <a:tab pos="1728788" algn="l"/>
              </a:tabLst>
            </a:pPr>
            <a:r>
              <a:rPr lang="en-GB" sz="1600" b="1">
                <a:solidFill>
                  <a:srgbClr val="0000FF"/>
                </a:solidFill>
              </a:rPr>
              <a:t>Semidetached</a:t>
            </a:r>
          </a:p>
        </p:txBody>
      </p:sp>
      <p:sp>
        <p:nvSpPr>
          <p:cNvPr id="45069" name="Text Box 11"/>
          <p:cNvSpPr txBox="1">
            <a:spLocks noChangeArrowheads="1"/>
          </p:cNvSpPr>
          <p:nvPr/>
        </p:nvSpPr>
        <p:spPr bwMode="auto">
          <a:xfrm rot="-1500000">
            <a:off x="6232526" y="3879851"/>
            <a:ext cx="131736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913"/>
              </a:spcBef>
              <a:tabLst>
                <a:tab pos="815975" algn="l"/>
                <a:tab pos="863600" algn="l"/>
              </a:tabLst>
            </a:pPr>
            <a:r>
              <a:rPr lang="en-GB" sz="1600" b="1"/>
              <a:t>Organic</a:t>
            </a:r>
          </a:p>
        </p:txBody>
      </p:sp>
      <p:sp>
        <p:nvSpPr>
          <p:cNvPr id="45070" name="Line 12"/>
          <p:cNvSpPr>
            <a:spLocks noChangeShapeType="1"/>
          </p:cNvSpPr>
          <p:nvPr/>
        </p:nvSpPr>
        <p:spPr bwMode="auto">
          <a:xfrm flipV="1">
            <a:off x="7346950" y="3070226"/>
            <a:ext cx="1720" cy="1958975"/>
          </a:xfrm>
          <a:prstGeom prst="line">
            <a:avLst/>
          </a:prstGeom>
          <a:noFill/>
          <a:ln w="38160" cap="rnd">
            <a:solidFill>
              <a:srgbClr val="8000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71" name="Text Box 13"/>
          <p:cNvSpPr txBox="1">
            <a:spLocks noChangeArrowheads="1"/>
          </p:cNvSpPr>
          <p:nvPr/>
        </p:nvSpPr>
        <p:spPr bwMode="auto">
          <a:xfrm>
            <a:off x="7264401" y="4808539"/>
            <a:ext cx="574410" cy="30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788"/>
              </a:spcBef>
            </a:pPr>
            <a:r>
              <a:rPr lang="en-GB" sz="1400" b="1"/>
              <a:t>60K</a:t>
            </a:r>
          </a:p>
        </p:txBody>
      </p:sp>
      <p:sp>
        <p:nvSpPr>
          <p:cNvPr id="45072" name="Freeform 14"/>
          <p:cNvSpPr>
            <a:spLocks noChangeArrowheads="1"/>
          </p:cNvSpPr>
          <p:nvPr/>
        </p:nvSpPr>
        <p:spPr bwMode="auto">
          <a:xfrm>
            <a:off x="4787901" y="2743201"/>
            <a:ext cx="3546210" cy="2282825"/>
          </a:xfrm>
          <a:custGeom>
            <a:avLst/>
            <a:gdLst>
              <a:gd name="T0" fmla="*/ 0 w 9098"/>
              <a:gd name="T1" fmla="*/ 2147483647 h 6347"/>
              <a:gd name="T2" fmla="*/ 2147483647 w 9098"/>
              <a:gd name="T3" fmla="*/ 2147483647 h 6347"/>
              <a:gd name="T4" fmla="*/ 2147483647 w 9098"/>
              <a:gd name="T5" fmla="*/ 2147483647 h 6347"/>
              <a:gd name="T6" fmla="*/ 2147483647 w 9098"/>
              <a:gd name="T7" fmla="*/ 2147483647 h 6347"/>
              <a:gd name="T8" fmla="*/ 2147483647 w 9098"/>
              <a:gd name="T9" fmla="*/ 2147483647 h 6347"/>
              <a:gd name="T10" fmla="*/ 2147483647 w 9098"/>
              <a:gd name="T11" fmla="*/ 0 h 634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098"/>
              <a:gd name="T19" fmla="*/ 0 h 6347"/>
              <a:gd name="T20" fmla="*/ 9098 w 9098"/>
              <a:gd name="T21" fmla="*/ 6347 h 634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098" h="6347">
                <a:moveTo>
                  <a:pt x="0" y="6346"/>
                </a:moveTo>
                <a:cubicBezTo>
                  <a:pt x="324" y="5866"/>
                  <a:pt x="649" y="5385"/>
                  <a:pt x="1082" y="4904"/>
                </a:cubicBezTo>
                <a:cubicBezTo>
                  <a:pt x="1516" y="4423"/>
                  <a:pt x="1985" y="3942"/>
                  <a:pt x="2599" y="3461"/>
                </a:cubicBezTo>
                <a:cubicBezTo>
                  <a:pt x="3213" y="2980"/>
                  <a:pt x="3899" y="2499"/>
                  <a:pt x="4765" y="2019"/>
                </a:cubicBezTo>
                <a:cubicBezTo>
                  <a:pt x="5631" y="1538"/>
                  <a:pt x="7076" y="913"/>
                  <a:pt x="7798" y="576"/>
                </a:cubicBezTo>
                <a:cubicBezTo>
                  <a:pt x="8521" y="239"/>
                  <a:pt x="8809" y="119"/>
                  <a:pt x="9097" y="0"/>
                </a:cubicBezTo>
              </a:path>
            </a:pathLst>
          </a:custGeom>
          <a:noFill/>
          <a:ln w="3816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73" name="Line 15"/>
          <p:cNvSpPr>
            <a:spLocks noChangeShapeType="1"/>
          </p:cNvSpPr>
          <p:nvPr/>
        </p:nvSpPr>
        <p:spPr bwMode="auto">
          <a:xfrm flipH="1">
            <a:off x="4787900" y="3429000"/>
            <a:ext cx="2724150" cy="1588"/>
          </a:xfrm>
          <a:prstGeom prst="line">
            <a:avLst/>
          </a:prstGeom>
          <a:noFill/>
          <a:ln w="28440">
            <a:solidFill>
              <a:srgbClr val="8000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74" name="Text Box 16"/>
          <p:cNvSpPr txBox="1">
            <a:spLocks noChangeArrowheads="1"/>
          </p:cNvSpPr>
          <p:nvPr/>
        </p:nvSpPr>
        <p:spPr bwMode="auto">
          <a:xfrm>
            <a:off x="4776603" y="3154425"/>
            <a:ext cx="1482460" cy="30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788"/>
              </a:spcBef>
              <a:tabLst>
                <a:tab pos="815975" algn="l"/>
                <a:tab pos="863600" algn="l"/>
              </a:tabLst>
            </a:pPr>
            <a:r>
              <a:rPr lang="en-GB" sz="1400" b="1" dirty="0"/>
              <a:t>18 Months</a:t>
            </a:r>
          </a:p>
        </p:txBody>
      </p:sp>
      <p:sp>
        <p:nvSpPr>
          <p:cNvPr id="45075" name="Line 17"/>
          <p:cNvSpPr>
            <a:spLocks noChangeShapeType="1"/>
          </p:cNvSpPr>
          <p:nvPr/>
        </p:nvSpPr>
        <p:spPr bwMode="auto">
          <a:xfrm flipV="1">
            <a:off x="6191250" y="3886200"/>
            <a:ext cx="1720" cy="1143000"/>
          </a:xfrm>
          <a:prstGeom prst="line">
            <a:avLst/>
          </a:prstGeom>
          <a:noFill/>
          <a:ln w="38160" cap="rnd">
            <a:solidFill>
              <a:srgbClr val="8000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76" name="Line 18"/>
          <p:cNvSpPr>
            <a:spLocks noChangeShapeType="1"/>
          </p:cNvSpPr>
          <p:nvPr/>
        </p:nvSpPr>
        <p:spPr bwMode="auto">
          <a:xfrm flipH="1">
            <a:off x="4787900" y="3962400"/>
            <a:ext cx="1485900" cy="1588"/>
          </a:xfrm>
          <a:prstGeom prst="line">
            <a:avLst/>
          </a:prstGeom>
          <a:noFill/>
          <a:ln w="28440">
            <a:solidFill>
              <a:srgbClr val="8000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5077" name="Text Box 19"/>
          <p:cNvSpPr txBox="1">
            <a:spLocks noChangeArrowheads="1"/>
          </p:cNvSpPr>
          <p:nvPr/>
        </p:nvSpPr>
        <p:spPr bwMode="auto">
          <a:xfrm>
            <a:off x="4812228" y="3733801"/>
            <a:ext cx="1482460" cy="30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788"/>
              </a:spcBef>
              <a:tabLst>
                <a:tab pos="815975" algn="l"/>
                <a:tab pos="863600" algn="l"/>
              </a:tabLst>
            </a:pPr>
            <a:r>
              <a:rPr lang="en-GB" sz="1400" b="1" dirty="0"/>
              <a:t>14 Months</a:t>
            </a:r>
          </a:p>
        </p:txBody>
      </p:sp>
      <p:sp>
        <p:nvSpPr>
          <p:cNvPr id="45078" name="Text Box 20"/>
          <p:cNvSpPr txBox="1">
            <a:spLocks noChangeArrowheads="1"/>
          </p:cNvSpPr>
          <p:nvPr/>
        </p:nvSpPr>
        <p:spPr bwMode="auto">
          <a:xfrm>
            <a:off x="6108701" y="4800601"/>
            <a:ext cx="574410" cy="30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788"/>
              </a:spcBef>
            </a:pPr>
            <a:r>
              <a:rPr lang="en-GB" sz="1400" b="1"/>
              <a:t>30K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EBD3384-8CD6-428B-B955-43EB001F41B6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46083" name="Rectangle 1"/>
          <p:cNvSpPr>
            <a:spLocks noGrp="1" noChangeArrowheads="1"/>
          </p:cNvSpPr>
          <p:nvPr>
            <p:ph type="title"/>
          </p:nvPr>
        </p:nvSpPr>
        <p:spPr>
          <a:xfrm>
            <a:off x="440267" y="182564"/>
            <a:ext cx="8416660" cy="1139825"/>
          </a:xfrm>
        </p:spPr>
        <p:txBody>
          <a:bodyPr lIns="18000" tIns="46800" rIns="18000" bIns="46800" anchor="ctr"/>
          <a:lstStyle/>
          <a:p>
            <a:pPr>
              <a:spcBef>
                <a:spcPts val="1075"/>
              </a:spcBef>
            </a:pPr>
            <a:r>
              <a:rPr lang="en-GB" sz="4400" smtClean="0">
                <a:solidFill>
                  <a:srgbClr val="0000CC"/>
                </a:solidFill>
              </a:rPr>
              <a:t>Basic COCOMO Model</a:t>
            </a:r>
            <a:r>
              <a:rPr lang="en-GB" sz="1600" smtClean="0">
                <a:solidFill>
                  <a:srgbClr val="0000CC"/>
                </a:solidFill>
              </a:rPr>
              <a:t> (CONT.)</a:t>
            </a:r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 lIns="18000" tIns="46800" rIns="18000" bIns="46800"/>
          <a:lstStyle/>
          <a:p>
            <a:pPr>
              <a:spcBef>
                <a:spcPts val="988"/>
              </a:spcBef>
              <a:buFont typeface="Wingdings" pitchFamily="2" charset="2"/>
              <a:buChar char="§"/>
            </a:pPr>
            <a:r>
              <a:rPr lang="en-GB" sz="4000" smtClean="0">
                <a:latin typeface="Times New Roman" pitchFamily="18" charset="0"/>
                <a:cs typeface="Times New Roman" pitchFamily="18" charset="0"/>
              </a:rPr>
              <a:t>Development time does not increase linearly with product size:</a:t>
            </a:r>
          </a:p>
          <a:p>
            <a:pPr lvl="1">
              <a:spcBef>
                <a:spcPts val="713"/>
              </a:spcBef>
              <a:buFont typeface="Wingdings" pitchFamily="2" charset="2"/>
              <a:buChar char="Ø"/>
            </a:pPr>
            <a:r>
              <a:rPr lang="en-GB" sz="3600" smtClean="0">
                <a:latin typeface="Times New Roman" pitchFamily="18" charset="0"/>
                <a:cs typeface="Times New Roman" pitchFamily="18" charset="0"/>
              </a:rPr>
              <a:t>For larger products more parallel activities can be identified:</a:t>
            </a:r>
          </a:p>
          <a:p>
            <a:pPr lvl="2">
              <a:spcBef>
                <a:spcPts val="613"/>
              </a:spcBef>
              <a:buFont typeface="Wingdings" pitchFamily="2" charset="2"/>
              <a:buChar char="ü"/>
            </a:pPr>
            <a:r>
              <a:rPr lang="en-GB" sz="3200" smtClean="0">
                <a:latin typeface="Times New Roman" pitchFamily="18" charset="0"/>
                <a:cs typeface="Times New Roman" pitchFamily="18" charset="0"/>
              </a:rPr>
              <a:t>can be carried out simultaneously by a number of engineers.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B6FF96B-3893-4B33-8217-D98D8DDF6EE2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47107" name="Rectangle 1"/>
          <p:cNvSpPr>
            <a:spLocks noGrp="1" noChangeArrowheads="1"/>
          </p:cNvSpPr>
          <p:nvPr>
            <p:ph type="title"/>
          </p:nvPr>
        </p:nvSpPr>
        <p:spPr>
          <a:xfrm>
            <a:off x="440267" y="182564"/>
            <a:ext cx="8416660" cy="1139825"/>
          </a:xfrm>
        </p:spPr>
        <p:txBody>
          <a:bodyPr lIns="18000" tIns="46800" rIns="18000" bIns="46800" anchor="ctr"/>
          <a:lstStyle/>
          <a:p>
            <a:pPr>
              <a:spcBef>
                <a:spcPts val="1075"/>
              </a:spcBef>
            </a:pPr>
            <a:r>
              <a:rPr lang="en-GB" sz="440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Basic</a:t>
            </a:r>
            <a:r>
              <a:rPr lang="en-GB" sz="4400" smtClean="0">
                <a:solidFill>
                  <a:srgbClr val="0000CC"/>
                </a:solidFill>
              </a:rPr>
              <a:t> COCOMO Model</a:t>
            </a:r>
            <a:r>
              <a:rPr lang="en-GB" sz="1600" smtClean="0">
                <a:solidFill>
                  <a:srgbClr val="0000CC"/>
                </a:solidFill>
              </a:rPr>
              <a:t> (CONT.)</a:t>
            </a:r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 lIns="18000" tIns="46800" rIns="18000" bIns="46800"/>
          <a:lstStyle/>
          <a:p>
            <a:pPr>
              <a:spcBef>
                <a:spcPts val="525"/>
              </a:spcBef>
              <a:buFont typeface="Wingdings" pitchFamily="2" charset="2"/>
              <a:buChar char="§"/>
            </a:pPr>
            <a:r>
              <a:rPr lang="en-GB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Development time is roughly the same for all the three categories of products: </a:t>
            </a:r>
          </a:p>
          <a:p>
            <a:pPr lvl="1">
              <a:spcBef>
                <a:spcPts val="450"/>
              </a:spcBef>
              <a:buFont typeface="Wingdings" pitchFamily="2" charset="2"/>
              <a:buChar char="Ø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For example, a 60 KLOC program can be developed in approximately 18 months</a:t>
            </a:r>
          </a:p>
          <a:p>
            <a:pPr lvl="2">
              <a:spcBef>
                <a:spcPts val="450"/>
              </a:spcBef>
              <a:buFont typeface="Wingdings" pitchFamily="2" charset="2"/>
              <a:buChar char="ü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regardless of whether it is of organic, semi-detached, or embedded type.</a:t>
            </a:r>
          </a:p>
          <a:p>
            <a:pPr lvl="1">
              <a:spcBef>
                <a:spcPts val="450"/>
              </a:spcBef>
              <a:buFont typeface="Wingdings" pitchFamily="2" charset="2"/>
              <a:buChar char="Ø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There is more scope for parallel activities for system and utility programs, </a:t>
            </a:r>
          </a:p>
          <a:p>
            <a:pPr lvl="2">
              <a:spcBef>
                <a:spcPts val="450"/>
              </a:spcBef>
              <a:buFont typeface="Wingdings" pitchFamily="2" charset="2"/>
              <a:buChar char="ü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than application programs.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09006A4-53B2-4DCC-87E7-7E4124288705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48131" name="Rectangle 1"/>
          <p:cNvSpPr>
            <a:spLocks noGrp="1" noChangeArrowheads="1"/>
          </p:cNvSpPr>
          <p:nvPr>
            <p:ph type="title"/>
          </p:nvPr>
        </p:nvSpPr>
        <p:spPr>
          <a:xfrm>
            <a:off x="440267" y="182564"/>
            <a:ext cx="8416660" cy="1139825"/>
          </a:xfrm>
        </p:spPr>
        <p:txBody>
          <a:bodyPr lIns="18000" tIns="46800" rIns="18000" bIns="46800" anchor="ctr"/>
          <a:lstStyle/>
          <a:p>
            <a:pPr>
              <a:spcBef>
                <a:spcPts val="1475"/>
              </a:spcBef>
            </a:pPr>
            <a:r>
              <a:rPr lang="en-GB" sz="600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 lIns="18000" tIns="46800" rIns="18000" bIns="46800"/>
          <a:lstStyle/>
          <a:p>
            <a:pPr>
              <a:spcBef>
                <a:spcPts val="613"/>
              </a:spcBef>
              <a:buFont typeface="Wingdings" pitchFamily="2" charset="2"/>
              <a:buChar char="§"/>
            </a:pPr>
            <a:r>
              <a:rPr lang="en-GB" sz="28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The size of an organic  software product has been estimated to be 32,000 lines of source code. </a:t>
            </a:r>
          </a:p>
          <a:p>
            <a:pPr>
              <a:spcBef>
                <a:spcPts val="613"/>
              </a:spcBef>
              <a:buClrTx/>
              <a:buFont typeface="Wingdings" pitchFamily="2" charset="2"/>
              <a:buChar char="§"/>
            </a:pPr>
            <a:endParaRPr lang="en-GB" sz="2800" dirty="0" smtClean="0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1250"/>
              </a:spcBef>
              <a:buFont typeface="Wingdings" pitchFamily="2" charset="2"/>
              <a:buChar char="§"/>
            </a:pPr>
            <a:endParaRPr lang="en-GB" sz="2800" dirty="0" smtClean="0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1250"/>
              </a:spcBef>
              <a:buFont typeface="Wingdings" pitchFamily="2" charset="2"/>
              <a:buChar char="§"/>
            </a:pPr>
            <a:r>
              <a:rPr lang="en-GB" sz="28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Effort = 2.4*(32)</a:t>
            </a:r>
            <a:r>
              <a:rPr lang="en-GB" baseline="300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1.05</a:t>
            </a:r>
            <a:r>
              <a:rPr lang="en-GB" sz="28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= 91 PM</a:t>
            </a:r>
          </a:p>
          <a:p>
            <a:pPr>
              <a:spcBef>
                <a:spcPts val="1250"/>
              </a:spcBef>
              <a:buFont typeface="Wingdings" pitchFamily="2" charset="2"/>
              <a:buChar char="§"/>
            </a:pPr>
            <a:r>
              <a:rPr lang="en-GB" sz="28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Nominal development time = 2.5*(91)</a:t>
            </a:r>
            <a:r>
              <a:rPr lang="en-GB" baseline="300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0.38</a:t>
            </a:r>
            <a:r>
              <a:rPr lang="en-GB" sz="2800" dirty="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= 14 months</a:t>
            </a:r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742950" y="3352800"/>
            <a:ext cx="8420100" cy="0"/>
          </a:xfrm>
          <a:prstGeom prst="line">
            <a:avLst/>
          </a:prstGeom>
          <a:noFill/>
          <a:ln w="38160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</TotalTime>
  <Words>585</Words>
  <Application>Microsoft Office PowerPoint</Application>
  <PresentationFormat>A4 Paper (210x297 mm)</PresentationFormat>
  <Paragraphs>118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Tahoma</vt:lpstr>
      <vt:lpstr>Times New Roman</vt:lpstr>
      <vt:lpstr>Wingdings</vt:lpstr>
      <vt:lpstr>Monotype Sorts</vt:lpstr>
      <vt:lpstr>Courier New</vt:lpstr>
      <vt:lpstr>Office Theme</vt:lpstr>
      <vt:lpstr>Slide 1</vt:lpstr>
      <vt:lpstr>Heuristic Estimation Techniques</vt:lpstr>
      <vt:lpstr>COCOMO Model</vt:lpstr>
      <vt:lpstr>COCOMO Product classes</vt:lpstr>
      <vt:lpstr>Elaboration of Product classes</vt:lpstr>
      <vt:lpstr>COCOMO Model (CONT.)</vt:lpstr>
      <vt:lpstr>COCOMO Model (CONT.)</vt:lpstr>
      <vt:lpstr>Basic COCOMO Model (CONT.)</vt:lpstr>
      <vt:lpstr>Development Effort Estimation</vt:lpstr>
      <vt:lpstr>Development Time Estimation</vt:lpstr>
      <vt:lpstr>Basic COCOMO Model (CONT.)</vt:lpstr>
      <vt:lpstr>Basic COCOMO Model (CONT.)</vt:lpstr>
      <vt:lpstr>Basic COCOMO Model (CONT.)</vt:lpstr>
      <vt:lpstr>Basic COCOMO Model (CONT.)</vt:lpstr>
      <vt:lpstr>Example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dinesh.verma</cp:lastModifiedBy>
  <cp:revision>60</cp:revision>
  <dcterms:modified xsi:type="dcterms:W3CDTF">2025-04-11T04:25:27Z</dcterms:modified>
</cp:coreProperties>
</file>