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351" r:id="rId3"/>
    <p:sldId id="352" r:id="rId4"/>
    <p:sldId id="353" r:id="rId5"/>
    <p:sldId id="374" r:id="rId6"/>
    <p:sldId id="375" r:id="rId7"/>
    <p:sldId id="376" r:id="rId8"/>
    <p:sldId id="378" r:id="rId9"/>
    <p:sldId id="379" r:id="rId10"/>
    <p:sldId id="380" r:id="rId11"/>
    <p:sldId id="381" r:id="rId12"/>
    <p:sldId id="382" r:id="rId13"/>
    <p:sldId id="383" r:id="rId14"/>
    <p:sldId id="355" r:id="rId15"/>
    <p:sldId id="356" r:id="rId16"/>
    <p:sldId id="385" r:id="rId17"/>
    <p:sldId id="386" r:id="rId18"/>
    <p:sldId id="387" r:id="rId19"/>
    <p:sldId id="359" r:id="rId20"/>
  </p:sldIdLst>
  <p:sldSz cx="9906000" cy="6858000" type="A4"/>
  <p:notesSz cx="6629400" cy="9753600"/>
  <p:embeddedFontLs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Tahoma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-1380" y="-8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847725" y="850900"/>
            <a:ext cx="493395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830263"/>
            <a:ext cx="3997325" cy="276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9"/>
            <a:ext cx="4525962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872972" y="273055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5032113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5032113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0" y="4038600"/>
            <a:ext cx="99060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725487" y="1981200"/>
            <a:ext cx="84550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Design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620" y="630213"/>
            <a:ext cx="3526277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459" y="1521758"/>
            <a:ext cx="2862984" cy="473720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sz="3000" spc="-5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Times New Roman"/>
                <a:cs typeface="Times New Roman"/>
              </a:rPr>
              <a:t>Coupling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02000" y="3294529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3091" y="3294529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02000" y="4572000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03091" y="4572000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31334" y="5333998"/>
            <a:ext cx="3766655" cy="861519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637471" marR="4776" indent="-1626128">
              <a:lnSpc>
                <a:spcPct val="120000"/>
              </a:lnSpc>
              <a:spcBef>
                <a:spcPts val="94"/>
              </a:spcBef>
            </a:pPr>
            <a:r>
              <a:rPr sz="2300" spc="-5" dirty="0">
                <a:solidFill>
                  <a:srgbClr val="FF0000"/>
                </a:solidFill>
                <a:latin typeface="Times New Roman"/>
                <a:cs typeface="Times New Roman"/>
              </a:rPr>
              <a:t>(Uncoupled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: no </a:t>
            </a:r>
            <a:r>
              <a:rPr sz="2300" spc="-5" dirty="0">
                <a:solidFill>
                  <a:srgbClr val="FF0000"/>
                </a:solidFill>
                <a:latin typeface="Times New Roman"/>
                <a:cs typeface="Times New Roman"/>
              </a:rPr>
              <a:t>dependencies) 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(a)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3943" y="2059640"/>
            <a:ext cx="2645978" cy="473720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>
              <a:spcBef>
                <a:spcPts val="94"/>
              </a:spcBef>
              <a:tabLst>
                <a:tab pos="826794" algn="l"/>
                <a:tab pos="2196229" algn="l"/>
              </a:tabLst>
            </a:pPr>
            <a:r>
              <a:rPr sz="3000" spc="-14" dirty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e	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g</a:t>
            </a:r>
            <a:r>
              <a:rPr sz="3000" spc="-14" dirty="0">
                <a:solidFill>
                  <a:srgbClr val="3232FF"/>
                </a:solidFill>
                <a:latin typeface="Times New Roman"/>
                <a:cs typeface="Times New Roman"/>
              </a:rPr>
              <a:t>r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e	</a:t>
            </a:r>
            <a:r>
              <a:rPr sz="3000" spc="-19" dirty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f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9459" y="2059639"/>
            <a:ext cx="5644044" cy="966163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 marR="5373">
              <a:spcBef>
                <a:spcPts val="94"/>
              </a:spcBef>
              <a:tabLst>
                <a:tab pos="1785518" algn="l"/>
                <a:tab pos="2391436" algn="l"/>
                <a:tab pos="3209276" algn="l"/>
                <a:tab pos="4835404" algn="l"/>
              </a:tabLst>
            </a:pP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Coupling	is	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the	measure	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of  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interdependence between</a:t>
            </a:r>
            <a:r>
              <a:rPr sz="3000" spc="-103" dirty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modules.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8166" y="585608"/>
            <a:ext cx="3805058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3059" y="3678665"/>
            <a:ext cx="2936153" cy="1361435"/>
          </a:xfrm>
          <a:prstGeom prst="rect">
            <a:avLst/>
          </a:prstGeom>
        </p:spPr>
        <p:txBody>
          <a:bodyPr vert="horz" wrap="square" lIns="0" tIns="99096" rIns="0" bIns="0" rtlCol="0">
            <a:spAutoFit/>
          </a:bodyPr>
          <a:lstStyle/>
          <a:p>
            <a:pPr marL="11939" marR="4776" indent="1791" algn="ctr">
              <a:lnSpc>
                <a:spcPct val="79700"/>
              </a:lnSpc>
              <a:spcBef>
                <a:spcPts val="78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Loosely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coupled: 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2800" spc="-6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dependencies</a:t>
            </a:r>
            <a:endParaRPr sz="2800">
              <a:latin typeface="Times New Roman"/>
              <a:cs typeface="Times New Roman"/>
            </a:endParaRPr>
          </a:p>
          <a:p>
            <a:pPr algn="ctr">
              <a:spcBef>
                <a:spcPts val="101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(B)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9907" y="3653116"/>
            <a:ext cx="2978054" cy="1361435"/>
          </a:xfrm>
          <a:prstGeom prst="rect">
            <a:avLst/>
          </a:prstGeom>
        </p:spPr>
        <p:txBody>
          <a:bodyPr vert="horz" wrap="square" lIns="0" tIns="99096" rIns="0" bIns="0" rtlCol="0">
            <a:spAutoFit/>
          </a:bodyPr>
          <a:lstStyle/>
          <a:p>
            <a:pPr marL="11939" marR="4776" algn="ctr">
              <a:lnSpc>
                <a:spcPct val="79700"/>
              </a:lnSpc>
              <a:spcBef>
                <a:spcPts val="78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Highly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coupled: 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many</a:t>
            </a:r>
            <a:r>
              <a:rPr sz="2800" spc="-5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dependencies</a:t>
            </a:r>
            <a:endParaRPr sz="2800">
              <a:latin typeface="Times New Roman"/>
              <a:cs typeface="Times New Roman"/>
            </a:endParaRPr>
          </a:p>
          <a:p>
            <a:pPr algn="ctr">
              <a:spcBef>
                <a:spcPts val="101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(C)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5675" y="1680882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6" y="758519"/>
                </a:lnTo>
                <a:lnTo>
                  <a:pt x="433919" y="748382"/>
                </a:lnTo>
                <a:lnTo>
                  <a:pt x="476205" y="732043"/>
                </a:lnTo>
                <a:lnTo>
                  <a:pt x="515793" y="709958"/>
                </a:lnTo>
                <a:lnTo>
                  <a:pt x="552269" y="682580"/>
                </a:lnTo>
                <a:lnTo>
                  <a:pt x="585221" y="650366"/>
                </a:lnTo>
                <a:lnTo>
                  <a:pt x="614235" y="613771"/>
                </a:lnTo>
                <a:lnTo>
                  <a:pt x="638900" y="573249"/>
                </a:lnTo>
                <a:lnTo>
                  <a:pt x="658802" y="529256"/>
                </a:lnTo>
                <a:lnTo>
                  <a:pt x="673529" y="482247"/>
                </a:lnTo>
                <a:lnTo>
                  <a:pt x="682668" y="432676"/>
                </a:lnTo>
                <a:lnTo>
                  <a:pt x="685806" y="380999"/>
                </a:lnTo>
                <a:lnTo>
                  <a:pt x="682668" y="329323"/>
                </a:lnTo>
                <a:lnTo>
                  <a:pt x="673529" y="279752"/>
                </a:lnTo>
                <a:lnTo>
                  <a:pt x="658802" y="232743"/>
                </a:lnTo>
                <a:lnTo>
                  <a:pt x="638900" y="188750"/>
                </a:lnTo>
                <a:lnTo>
                  <a:pt x="614235" y="148228"/>
                </a:lnTo>
                <a:lnTo>
                  <a:pt x="585221" y="111632"/>
                </a:lnTo>
                <a:lnTo>
                  <a:pt x="552269" y="79419"/>
                </a:lnTo>
                <a:lnTo>
                  <a:pt x="515793" y="52041"/>
                </a:lnTo>
                <a:lnTo>
                  <a:pt x="476205" y="29956"/>
                </a:lnTo>
                <a:lnTo>
                  <a:pt x="433919" y="13617"/>
                </a:lnTo>
                <a:lnTo>
                  <a:pt x="389346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6773" y="1680882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25675" y="2958353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6" y="758519"/>
                </a:lnTo>
                <a:lnTo>
                  <a:pt x="433919" y="748382"/>
                </a:lnTo>
                <a:lnTo>
                  <a:pt x="476205" y="732043"/>
                </a:lnTo>
                <a:lnTo>
                  <a:pt x="515793" y="709958"/>
                </a:lnTo>
                <a:lnTo>
                  <a:pt x="552269" y="682580"/>
                </a:lnTo>
                <a:lnTo>
                  <a:pt x="585221" y="650366"/>
                </a:lnTo>
                <a:lnTo>
                  <a:pt x="614235" y="613771"/>
                </a:lnTo>
                <a:lnTo>
                  <a:pt x="638900" y="573249"/>
                </a:lnTo>
                <a:lnTo>
                  <a:pt x="658802" y="529256"/>
                </a:lnTo>
                <a:lnTo>
                  <a:pt x="673529" y="482247"/>
                </a:lnTo>
                <a:lnTo>
                  <a:pt x="682668" y="432676"/>
                </a:lnTo>
                <a:lnTo>
                  <a:pt x="685806" y="380999"/>
                </a:lnTo>
                <a:lnTo>
                  <a:pt x="682668" y="329323"/>
                </a:lnTo>
                <a:lnTo>
                  <a:pt x="673529" y="279752"/>
                </a:lnTo>
                <a:lnTo>
                  <a:pt x="658802" y="232743"/>
                </a:lnTo>
                <a:lnTo>
                  <a:pt x="638900" y="188750"/>
                </a:lnTo>
                <a:lnTo>
                  <a:pt x="614235" y="148228"/>
                </a:lnTo>
                <a:lnTo>
                  <a:pt x="585221" y="111632"/>
                </a:lnTo>
                <a:lnTo>
                  <a:pt x="552269" y="79419"/>
                </a:lnTo>
                <a:lnTo>
                  <a:pt x="515793" y="52041"/>
                </a:lnTo>
                <a:lnTo>
                  <a:pt x="476205" y="29956"/>
                </a:lnTo>
                <a:lnTo>
                  <a:pt x="433919" y="13617"/>
                </a:lnTo>
                <a:lnTo>
                  <a:pt x="389346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26773" y="2958353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01091" y="1953858"/>
            <a:ext cx="1125682" cy="126626"/>
          </a:xfrm>
          <a:custGeom>
            <a:avLst/>
            <a:gdLst/>
            <a:ahLst/>
            <a:cxnLst/>
            <a:rect l="l" t="t" r="r" b="b"/>
            <a:pathLst>
              <a:path w="1143000" h="143510">
                <a:moveTo>
                  <a:pt x="1057656" y="71628"/>
                </a:moveTo>
                <a:lnTo>
                  <a:pt x="1046566" y="57912"/>
                </a:lnTo>
                <a:lnTo>
                  <a:pt x="0" y="57912"/>
                </a:lnTo>
                <a:lnTo>
                  <a:pt x="0" y="85344"/>
                </a:lnTo>
                <a:lnTo>
                  <a:pt x="1046566" y="85344"/>
                </a:lnTo>
                <a:lnTo>
                  <a:pt x="1057656" y="71628"/>
                </a:lnTo>
                <a:close/>
              </a:path>
              <a:path w="1143000" h="143510">
                <a:moveTo>
                  <a:pt x="1143000" y="71628"/>
                </a:moveTo>
                <a:lnTo>
                  <a:pt x="999744" y="0"/>
                </a:lnTo>
                <a:lnTo>
                  <a:pt x="1046566" y="57912"/>
                </a:lnTo>
                <a:lnTo>
                  <a:pt x="1057656" y="57912"/>
                </a:lnTo>
                <a:lnTo>
                  <a:pt x="1057656" y="114300"/>
                </a:lnTo>
                <a:lnTo>
                  <a:pt x="1143000" y="71628"/>
                </a:lnTo>
                <a:close/>
              </a:path>
              <a:path w="1143000" h="143510">
                <a:moveTo>
                  <a:pt x="1057656" y="114300"/>
                </a:moveTo>
                <a:lnTo>
                  <a:pt x="1057656" y="85344"/>
                </a:lnTo>
                <a:lnTo>
                  <a:pt x="1046566" y="85344"/>
                </a:lnTo>
                <a:lnTo>
                  <a:pt x="999744" y="143256"/>
                </a:lnTo>
                <a:lnTo>
                  <a:pt x="1057656" y="114300"/>
                </a:lnTo>
                <a:close/>
              </a:path>
              <a:path w="1143000" h="143510">
                <a:moveTo>
                  <a:pt x="1057656" y="71628"/>
                </a:moveTo>
                <a:lnTo>
                  <a:pt x="1057656" y="57912"/>
                </a:lnTo>
                <a:lnTo>
                  <a:pt x="1046566" y="57912"/>
                </a:lnTo>
                <a:lnTo>
                  <a:pt x="1057656" y="71628"/>
                </a:lnTo>
                <a:close/>
              </a:path>
              <a:path w="1143000" h="143510">
                <a:moveTo>
                  <a:pt x="1057656" y="85344"/>
                </a:moveTo>
                <a:lnTo>
                  <a:pt x="1057656" y="71628"/>
                </a:lnTo>
                <a:lnTo>
                  <a:pt x="1046566" y="85344"/>
                </a:lnTo>
                <a:lnTo>
                  <a:pt x="1057656" y="85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01091" y="3231328"/>
            <a:ext cx="1125682" cy="126626"/>
          </a:xfrm>
          <a:custGeom>
            <a:avLst/>
            <a:gdLst/>
            <a:ahLst/>
            <a:cxnLst/>
            <a:rect l="l" t="t" r="r" b="b"/>
            <a:pathLst>
              <a:path w="1143000" h="143510">
                <a:moveTo>
                  <a:pt x="143256" y="0"/>
                </a:moveTo>
                <a:lnTo>
                  <a:pt x="0" y="71628"/>
                </a:lnTo>
                <a:lnTo>
                  <a:pt x="85344" y="114300"/>
                </a:lnTo>
                <a:lnTo>
                  <a:pt x="85344" y="57912"/>
                </a:lnTo>
                <a:lnTo>
                  <a:pt x="96433" y="57912"/>
                </a:lnTo>
                <a:lnTo>
                  <a:pt x="143256" y="0"/>
                </a:lnTo>
                <a:close/>
              </a:path>
              <a:path w="1143000" h="143510">
                <a:moveTo>
                  <a:pt x="96433" y="57912"/>
                </a:moveTo>
                <a:lnTo>
                  <a:pt x="85344" y="57912"/>
                </a:lnTo>
                <a:lnTo>
                  <a:pt x="85344" y="71628"/>
                </a:lnTo>
                <a:lnTo>
                  <a:pt x="96433" y="57912"/>
                </a:lnTo>
                <a:close/>
              </a:path>
              <a:path w="1143000" h="143510">
                <a:moveTo>
                  <a:pt x="1143000" y="85344"/>
                </a:moveTo>
                <a:lnTo>
                  <a:pt x="1143000" y="57912"/>
                </a:lnTo>
                <a:lnTo>
                  <a:pt x="96433" y="57912"/>
                </a:lnTo>
                <a:lnTo>
                  <a:pt x="85344" y="71628"/>
                </a:lnTo>
                <a:lnTo>
                  <a:pt x="96433" y="85344"/>
                </a:lnTo>
                <a:lnTo>
                  <a:pt x="1143000" y="85344"/>
                </a:lnTo>
                <a:close/>
              </a:path>
              <a:path w="1143000" h="143510">
                <a:moveTo>
                  <a:pt x="96433" y="85344"/>
                </a:moveTo>
                <a:lnTo>
                  <a:pt x="85344" y="71628"/>
                </a:lnTo>
                <a:lnTo>
                  <a:pt x="85344" y="85344"/>
                </a:lnTo>
                <a:lnTo>
                  <a:pt x="96433" y="85344"/>
                </a:lnTo>
                <a:close/>
              </a:path>
              <a:path w="1143000" h="143510">
                <a:moveTo>
                  <a:pt x="143256" y="143256"/>
                </a:moveTo>
                <a:lnTo>
                  <a:pt x="96433" y="85344"/>
                </a:lnTo>
                <a:lnTo>
                  <a:pt x="85344" y="85344"/>
                </a:lnTo>
                <a:lnTo>
                  <a:pt x="85344" y="114300"/>
                </a:lnTo>
                <a:lnTo>
                  <a:pt x="143256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30359" y="2353235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09" h="685800">
                <a:moveTo>
                  <a:pt x="143262" y="143256"/>
                </a:moveTo>
                <a:lnTo>
                  <a:pt x="71628" y="0"/>
                </a:lnTo>
                <a:lnTo>
                  <a:pt x="0" y="143256"/>
                </a:lnTo>
                <a:lnTo>
                  <a:pt x="57912" y="96433"/>
                </a:lnTo>
                <a:lnTo>
                  <a:pt x="57912" y="85344"/>
                </a:lnTo>
                <a:lnTo>
                  <a:pt x="85350" y="85344"/>
                </a:lnTo>
                <a:lnTo>
                  <a:pt x="85350" y="96437"/>
                </a:lnTo>
                <a:lnTo>
                  <a:pt x="143262" y="143256"/>
                </a:lnTo>
                <a:close/>
              </a:path>
              <a:path w="143509" h="685800">
                <a:moveTo>
                  <a:pt x="71628" y="85344"/>
                </a:moveTo>
                <a:lnTo>
                  <a:pt x="57912" y="85344"/>
                </a:lnTo>
                <a:lnTo>
                  <a:pt x="57912" y="96433"/>
                </a:lnTo>
                <a:lnTo>
                  <a:pt x="71628" y="85344"/>
                </a:lnTo>
                <a:close/>
              </a:path>
              <a:path w="143509" h="685800">
                <a:moveTo>
                  <a:pt x="85350" y="685800"/>
                </a:moveTo>
                <a:lnTo>
                  <a:pt x="85350" y="96437"/>
                </a:lnTo>
                <a:lnTo>
                  <a:pt x="71628" y="85344"/>
                </a:lnTo>
                <a:lnTo>
                  <a:pt x="57912" y="96433"/>
                </a:lnTo>
                <a:lnTo>
                  <a:pt x="57912" y="685800"/>
                </a:lnTo>
                <a:lnTo>
                  <a:pt x="85350" y="685800"/>
                </a:lnTo>
                <a:close/>
              </a:path>
              <a:path w="143509" h="685800">
                <a:moveTo>
                  <a:pt x="85350" y="96437"/>
                </a:moveTo>
                <a:lnTo>
                  <a:pt x="85350" y="85344"/>
                </a:lnTo>
                <a:lnTo>
                  <a:pt x="71628" y="85344"/>
                </a:lnTo>
                <a:lnTo>
                  <a:pt x="85350" y="96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80268" y="2353235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09" h="685800">
                <a:moveTo>
                  <a:pt x="71628" y="600456"/>
                </a:moveTo>
                <a:lnTo>
                  <a:pt x="0" y="542544"/>
                </a:lnTo>
                <a:lnTo>
                  <a:pt x="57912" y="658368"/>
                </a:lnTo>
                <a:lnTo>
                  <a:pt x="57912" y="600456"/>
                </a:lnTo>
                <a:lnTo>
                  <a:pt x="71628" y="600456"/>
                </a:lnTo>
                <a:close/>
              </a:path>
              <a:path w="143509" h="685800">
                <a:moveTo>
                  <a:pt x="85344" y="589366"/>
                </a:moveTo>
                <a:lnTo>
                  <a:pt x="85344" y="0"/>
                </a:lnTo>
                <a:lnTo>
                  <a:pt x="57912" y="0"/>
                </a:lnTo>
                <a:lnTo>
                  <a:pt x="57912" y="589366"/>
                </a:lnTo>
                <a:lnTo>
                  <a:pt x="71628" y="600456"/>
                </a:lnTo>
                <a:lnTo>
                  <a:pt x="85344" y="589366"/>
                </a:lnTo>
                <a:close/>
              </a:path>
              <a:path w="143509" h="685800">
                <a:moveTo>
                  <a:pt x="85344" y="658368"/>
                </a:moveTo>
                <a:lnTo>
                  <a:pt x="85344" y="600456"/>
                </a:lnTo>
                <a:lnTo>
                  <a:pt x="57912" y="600456"/>
                </a:lnTo>
                <a:lnTo>
                  <a:pt x="57912" y="658368"/>
                </a:lnTo>
                <a:lnTo>
                  <a:pt x="71628" y="685800"/>
                </a:lnTo>
                <a:lnTo>
                  <a:pt x="85344" y="658368"/>
                </a:lnTo>
                <a:close/>
              </a:path>
              <a:path w="143509" h="685800">
                <a:moveTo>
                  <a:pt x="143256" y="542544"/>
                </a:moveTo>
                <a:lnTo>
                  <a:pt x="71628" y="600456"/>
                </a:lnTo>
                <a:lnTo>
                  <a:pt x="85344" y="600456"/>
                </a:lnTo>
                <a:lnTo>
                  <a:pt x="85344" y="658368"/>
                </a:lnTo>
                <a:lnTo>
                  <a:pt x="143256" y="542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56412" y="2353235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10" h="685800">
                <a:moveTo>
                  <a:pt x="71628" y="600456"/>
                </a:moveTo>
                <a:lnTo>
                  <a:pt x="0" y="542544"/>
                </a:lnTo>
                <a:lnTo>
                  <a:pt x="57912" y="658368"/>
                </a:lnTo>
                <a:lnTo>
                  <a:pt x="57912" y="600456"/>
                </a:lnTo>
                <a:lnTo>
                  <a:pt x="71628" y="600456"/>
                </a:lnTo>
                <a:close/>
              </a:path>
              <a:path w="143510" h="685800">
                <a:moveTo>
                  <a:pt x="85344" y="589366"/>
                </a:moveTo>
                <a:lnTo>
                  <a:pt x="85344" y="0"/>
                </a:lnTo>
                <a:lnTo>
                  <a:pt x="57912" y="0"/>
                </a:lnTo>
                <a:lnTo>
                  <a:pt x="57912" y="589366"/>
                </a:lnTo>
                <a:lnTo>
                  <a:pt x="71628" y="600456"/>
                </a:lnTo>
                <a:lnTo>
                  <a:pt x="85344" y="589366"/>
                </a:lnTo>
                <a:close/>
              </a:path>
              <a:path w="143510" h="685800">
                <a:moveTo>
                  <a:pt x="85344" y="658368"/>
                </a:moveTo>
                <a:lnTo>
                  <a:pt x="85344" y="600456"/>
                </a:lnTo>
                <a:lnTo>
                  <a:pt x="57912" y="600456"/>
                </a:lnTo>
                <a:lnTo>
                  <a:pt x="57912" y="658368"/>
                </a:lnTo>
                <a:lnTo>
                  <a:pt x="71628" y="685800"/>
                </a:lnTo>
                <a:lnTo>
                  <a:pt x="85344" y="658368"/>
                </a:lnTo>
                <a:close/>
              </a:path>
              <a:path w="143510" h="685800">
                <a:moveTo>
                  <a:pt x="143256" y="542544"/>
                </a:moveTo>
                <a:lnTo>
                  <a:pt x="71628" y="600456"/>
                </a:lnTo>
                <a:lnTo>
                  <a:pt x="85344" y="600456"/>
                </a:lnTo>
                <a:lnTo>
                  <a:pt x="85344" y="658368"/>
                </a:lnTo>
                <a:lnTo>
                  <a:pt x="143256" y="542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23013" y="2311549"/>
            <a:ext cx="140085" cy="672353"/>
          </a:xfrm>
          <a:custGeom>
            <a:avLst/>
            <a:gdLst/>
            <a:ahLst/>
            <a:cxnLst/>
            <a:rect l="l" t="t" r="r" b="b"/>
            <a:pathLst>
              <a:path w="142239" h="762000">
                <a:moveTo>
                  <a:pt x="141732" y="141732"/>
                </a:moveTo>
                <a:lnTo>
                  <a:pt x="70104" y="0"/>
                </a:lnTo>
                <a:lnTo>
                  <a:pt x="0" y="141732"/>
                </a:lnTo>
                <a:lnTo>
                  <a:pt x="56388" y="96376"/>
                </a:lnTo>
                <a:lnTo>
                  <a:pt x="56388" y="85344"/>
                </a:lnTo>
                <a:lnTo>
                  <a:pt x="85344" y="85344"/>
                </a:lnTo>
                <a:lnTo>
                  <a:pt x="85344" y="97341"/>
                </a:lnTo>
                <a:lnTo>
                  <a:pt x="141732" y="141732"/>
                </a:lnTo>
                <a:close/>
              </a:path>
              <a:path w="142239" h="762000">
                <a:moveTo>
                  <a:pt x="70104" y="85344"/>
                </a:moveTo>
                <a:lnTo>
                  <a:pt x="56388" y="85344"/>
                </a:lnTo>
                <a:lnTo>
                  <a:pt x="56388" y="96376"/>
                </a:lnTo>
                <a:lnTo>
                  <a:pt x="70104" y="85344"/>
                </a:lnTo>
                <a:close/>
              </a:path>
              <a:path w="142239" h="762000">
                <a:moveTo>
                  <a:pt x="85344" y="762000"/>
                </a:moveTo>
                <a:lnTo>
                  <a:pt x="85344" y="97341"/>
                </a:lnTo>
                <a:lnTo>
                  <a:pt x="70104" y="85344"/>
                </a:lnTo>
                <a:lnTo>
                  <a:pt x="56388" y="96376"/>
                </a:lnTo>
                <a:lnTo>
                  <a:pt x="56388" y="762000"/>
                </a:lnTo>
                <a:lnTo>
                  <a:pt x="85344" y="762000"/>
                </a:lnTo>
                <a:close/>
              </a:path>
              <a:path w="142239" h="762000">
                <a:moveTo>
                  <a:pt x="85344" y="97341"/>
                </a:moveTo>
                <a:lnTo>
                  <a:pt x="85344" y="85344"/>
                </a:lnTo>
                <a:lnTo>
                  <a:pt x="70104" y="85344"/>
                </a:lnTo>
                <a:lnTo>
                  <a:pt x="85344" y="973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78500" y="1617681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9591" y="1617681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78500" y="2895151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79591" y="2895151"/>
            <a:ext cx="675409" cy="672353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342899" y="0"/>
                </a:moveTo>
                <a:lnTo>
                  <a:pt x="296455" y="3480"/>
                </a:lnTo>
                <a:lnTo>
                  <a:pt x="251883" y="13617"/>
                </a:lnTo>
                <a:lnTo>
                  <a:pt x="209597" y="29956"/>
                </a:lnTo>
                <a:lnTo>
                  <a:pt x="170010" y="52041"/>
                </a:lnTo>
                <a:lnTo>
                  <a:pt x="133535" y="79419"/>
                </a:lnTo>
                <a:lnTo>
                  <a:pt x="100583" y="111632"/>
                </a:lnTo>
                <a:lnTo>
                  <a:pt x="71569" y="148228"/>
                </a:lnTo>
                <a:lnTo>
                  <a:pt x="46905" y="188750"/>
                </a:lnTo>
                <a:lnTo>
                  <a:pt x="27003" y="232743"/>
                </a:lnTo>
                <a:lnTo>
                  <a:pt x="12276" y="279752"/>
                </a:lnTo>
                <a:lnTo>
                  <a:pt x="3137" y="329323"/>
                </a:lnTo>
                <a:lnTo>
                  <a:pt x="0" y="380999"/>
                </a:lnTo>
                <a:lnTo>
                  <a:pt x="3137" y="432676"/>
                </a:lnTo>
                <a:lnTo>
                  <a:pt x="12276" y="482247"/>
                </a:lnTo>
                <a:lnTo>
                  <a:pt x="27003" y="529256"/>
                </a:lnTo>
                <a:lnTo>
                  <a:pt x="46905" y="573249"/>
                </a:lnTo>
                <a:lnTo>
                  <a:pt x="71569" y="613771"/>
                </a:lnTo>
                <a:lnTo>
                  <a:pt x="100583" y="650366"/>
                </a:lnTo>
                <a:lnTo>
                  <a:pt x="133535" y="682580"/>
                </a:lnTo>
                <a:lnTo>
                  <a:pt x="170010" y="709958"/>
                </a:lnTo>
                <a:lnTo>
                  <a:pt x="209597" y="732043"/>
                </a:lnTo>
                <a:lnTo>
                  <a:pt x="251883" y="748382"/>
                </a:lnTo>
                <a:lnTo>
                  <a:pt x="296455" y="758519"/>
                </a:lnTo>
                <a:lnTo>
                  <a:pt x="342899" y="761999"/>
                </a:lnTo>
                <a:lnTo>
                  <a:pt x="389344" y="758519"/>
                </a:lnTo>
                <a:lnTo>
                  <a:pt x="433916" y="748382"/>
                </a:lnTo>
                <a:lnTo>
                  <a:pt x="476202" y="732043"/>
                </a:lnTo>
                <a:lnTo>
                  <a:pt x="515789" y="709958"/>
                </a:lnTo>
                <a:lnTo>
                  <a:pt x="552264" y="682580"/>
                </a:lnTo>
                <a:lnTo>
                  <a:pt x="585215" y="650366"/>
                </a:lnTo>
                <a:lnTo>
                  <a:pt x="614230" y="613771"/>
                </a:lnTo>
                <a:lnTo>
                  <a:pt x="638894" y="573249"/>
                </a:lnTo>
                <a:lnTo>
                  <a:pt x="658796" y="529256"/>
                </a:lnTo>
                <a:lnTo>
                  <a:pt x="673523" y="482247"/>
                </a:lnTo>
                <a:lnTo>
                  <a:pt x="682662" y="432676"/>
                </a:lnTo>
                <a:lnTo>
                  <a:pt x="685799" y="380999"/>
                </a:lnTo>
                <a:lnTo>
                  <a:pt x="682662" y="329323"/>
                </a:lnTo>
                <a:lnTo>
                  <a:pt x="673523" y="279752"/>
                </a:lnTo>
                <a:lnTo>
                  <a:pt x="658796" y="232743"/>
                </a:lnTo>
                <a:lnTo>
                  <a:pt x="638894" y="188750"/>
                </a:lnTo>
                <a:lnTo>
                  <a:pt x="614230" y="148228"/>
                </a:lnTo>
                <a:lnTo>
                  <a:pt x="585215" y="111632"/>
                </a:lnTo>
                <a:lnTo>
                  <a:pt x="552264" y="79419"/>
                </a:lnTo>
                <a:lnTo>
                  <a:pt x="515789" y="52041"/>
                </a:lnTo>
                <a:lnTo>
                  <a:pt x="476202" y="29956"/>
                </a:lnTo>
                <a:lnTo>
                  <a:pt x="433916" y="13617"/>
                </a:lnTo>
                <a:lnTo>
                  <a:pt x="389344" y="3480"/>
                </a:lnTo>
                <a:lnTo>
                  <a:pt x="342899" y="0"/>
                </a:lnTo>
                <a:close/>
              </a:path>
            </a:pathLst>
          </a:custGeom>
          <a:ln w="2857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53909" y="1890657"/>
            <a:ext cx="1125682" cy="126626"/>
          </a:xfrm>
          <a:custGeom>
            <a:avLst/>
            <a:gdLst/>
            <a:ahLst/>
            <a:cxnLst/>
            <a:rect l="l" t="t" r="r" b="b"/>
            <a:pathLst>
              <a:path w="1143000" h="143510">
                <a:moveTo>
                  <a:pt x="1057656" y="71628"/>
                </a:moveTo>
                <a:lnTo>
                  <a:pt x="1046566" y="57912"/>
                </a:lnTo>
                <a:lnTo>
                  <a:pt x="0" y="57912"/>
                </a:lnTo>
                <a:lnTo>
                  <a:pt x="0" y="85344"/>
                </a:lnTo>
                <a:lnTo>
                  <a:pt x="1046566" y="85344"/>
                </a:lnTo>
                <a:lnTo>
                  <a:pt x="1057656" y="71628"/>
                </a:lnTo>
                <a:close/>
              </a:path>
              <a:path w="1143000" h="143510">
                <a:moveTo>
                  <a:pt x="1143000" y="71628"/>
                </a:moveTo>
                <a:lnTo>
                  <a:pt x="999744" y="0"/>
                </a:lnTo>
                <a:lnTo>
                  <a:pt x="1046566" y="57912"/>
                </a:lnTo>
                <a:lnTo>
                  <a:pt x="1057656" y="57912"/>
                </a:lnTo>
                <a:lnTo>
                  <a:pt x="1057656" y="114300"/>
                </a:lnTo>
                <a:lnTo>
                  <a:pt x="1143000" y="71628"/>
                </a:lnTo>
                <a:close/>
              </a:path>
              <a:path w="1143000" h="143510">
                <a:moveTo>
                  <a:pt x="1057656" y="114300"/>
                </a:moveTo>
                <a:lnTo>
                  <a:pt x="1057656" y="85344"/>
                </a:lnTo>
                <a:lnTo>
                  <a:pt x="1046566" y="85344"/>
                </a:lnTo>
                <a:lnTo>
                  <a:pt x="999744" y="143256"/>
                </a:lnTo>
                <a:lnTo>
                  <a:pt x="1057656" y="114300"/>
                </a:lnTo>
                <a:close/>
              </a:path>
              <a:path w="1143000" h="143510">
                <a:moveTo>
                  <a:pt x="1057656" y="71628"/>
                </a:moveTo>
                <a:lnTo>
                  <a:pt x="1057656" y="57912"/>
                </a:lnTo>
                <a:lnTo>
                  <a:pt x="1046566" y="57912"/>
                </a:lnTo>
                <a:lnTo>
                  <a:pt x="1057656" y="71628"/>
                </a:lnTo>
                <a:close/>
              </a:path>
              <a:path w="1143000" h="143510">
                <a:moveTo>
                  <a:pt x="1057656" y="85344"/>
                </a:moveTo>
                <a:lnTo>
                  <a:pt x="1057656" y="71628"/>
                </a:lnTo>
                <a:lnTo>
                  <a:pt x="1046566" y="85344"/>
                </a:lnTo>
                <a:lnTo>
                  <a:pt x="1057656" y="85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38899" y="3196366"/>
            <a:ext cx="1125682" cy="126626"/>
          </a:xfrm>
          <a:custGeom>
            <a:avLst/>
            <a:gdLst/>
            <a:ahLst/>
            <a:cxnLst/>
            <a:rect l="l" t="t" r="r" b="b"/>
            <a:pathLst>
              <a:path w="1143000" h="143510">
                <a:moveTo>
                  <a:pt x="141732" y="0"/>
                </a:moveTo>
                <a:lnTo>
                  <a:pt x="0" y="71628"/>
                </a:lnTo>
                <a:lnTo>
                  <a:pt x="85344" y="114758"/>
                </a:lnTo>
                <a:lnTo>
                  <a:pt x="85344" y="57912"/>
                </a:lnTo>
                <a:lnTo>
                  <a:pt x="96141" y="57912"/>
                </a:lnTo>
                <a:lnTo>
                  <a:pt x="141732" y="0"/>
                </a:lnTo>
                <a:close/>
              </a:path>
              <a:path w="1143000" h="143510">
                <a:moveTo>
                  <a:pt x="96141" y="57912"/>
                </a:moveTo>
                <a:lnTo>
                  <a:pt x="85344" y="57912"/>
                </a:lnTo>
                <a:lnTo>
                  <a:pt x="85344" y="71628"/>
                </a:lnTo>
                <a:lnTo>
                  <a:pt x="96141" y="57912"/>
                </a:lnTo>
                <a:close/>
              </a:path>
              <a:path w="1143000" h="143510">
                <a:moveTo>
                  <a:pt x="1143000" y="85344"/>
                </a:moveTo>
                <a:lnTo>
                  <a:pt x="1143000" y="57912"/>
                </a:lnTo>
                <a:lnTo>
                  <a:pt x="96141" y="57912"/>
                </a:lnTo>
                <a:lnTo>
                  <a:pt x="85344" y="71628"/>
                </a:lnTo>
                <a:lnTo>
                  <a:pt x="96141" y="85344"/>
                </a:lnTo>
                <a:lnTo>
                  <a:pt x="1143000" y="85344"/>
                </a:lnTo>
                <a:close/>
              </a:path>
              <a:path w="1143000" h="143510">
                <a:moveTo>
                  <a:pt x="96141" y="85344"/>
                </a:moveTo>
                <a:lnTo>
                  <a:pt x="85344" y="71628"/>
                </a:lnTo>
                <a:lnTo>
                  <a:pt x="85344" y="85344"/>
                </a:lnTo>
                <a:lnTo>
                  <a:pt x="96141" y="85344"/>
                </a:lnTo>
                <a:close/>
              </a:path>
              <a:path w="1143000" h="143510">
                <a:moveTo>
                  <a:pt x="141732" y="143256"/>
                </a:moveTo>
                <a:lnTo>
                  <a:pt x="96141" y="85344"/>
                </a:lnTo>
                <a:lnTo>
                  <a:pt x="85344" y="85344"/>
                </a:lnTo>
                <a:lnTo>
                  <a:pt x="85344" y="114758"/>
                </a:lnTo>
                <a:lnTo>
                  <a:pt x="141732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83184" y="2290034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10" h="685800">
                <a:moveTo>
                  <a:pt x="143256" y="143256"/>
                </a:moveTo>
                <a:lnTo>
                  <a:pt x="71628" y="0"/>
                </a:lnTo>
                <a:lnTo>
                  <a:pt x="0" y="143256"/>
                </a:lnTo>
                <a:lnTo>
                  <a:pt x="57912" y="96433"/>
                </a:lnTo>
                <a:lnTo>
                  <a:pt x="57912" y="85344"/>
                </a:lnTo>
                <a:lnTo>
                  <a:pt x="85344" y="85344"/>
                </a:lnTo>
                <a:lnTo>
                  <a:pt x="85344" y="96433"/>
                </a:lnTo>
                <a:lnTo>
                  <a:pt x="143256" y="143256"/>
                </a:lnTo>
                <a:close/>
              </a:path>
              <a:path w="143510" h="685800">
                <a:moveTo>
                  <a:pt x="71628" y="85344"/>
                </a:moveTo>
                <a:lnTo>
                  <a:pt x="57912" y="85344"/>
                </a:lnTo>
                <a:lnTo>
                  <a:pt x="57912" y="96433"/>
                </a:lnTo>
                <a:lnTo>
                  <a:pt x="71628" y="85344"/>
                </a:lnTo>
                <a:close/>
              </a:path>
              <a:path w="143510" h="685800">
                <a:moveTo>
                  <a:pt x="85344" y="685800"/>
                </a:moveTo>
                <a:lnTo>
                  <a:pt x="85344" y="96433"/>
                </a:lnTo>
                <a:lnTo>
                  <a:pt x="71628" y="85344"/>
                </a:lnTo>
                <a:lnTo>
                  <a:pt x="57912" y="96433"/>
                </a:lnTo>
                <a:lnTo>
                  <a:pt x="57912" y="685800"/>
                </a:lnTo>
                <a:lnTo>
                  <a:pt x="85344" y="685800"/>
                </a:lnTo>
                <a:close/>
              </a:path>
              <a:path w="143510" h="685800">
                <a:moveTo>
                  <a:pt x="85344" y="96433"/>
                </a:moveTo>
                <a:lnTo>
                  <a:pt x="85344" y="85344"/>
                </a:lnTo>
                <a:lnTo>
                  <a:pt x="71628" y="85344"/>
                </a:lnTo>
                <a:lnTo>
                  <a:pt x="85344" y="96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33093" y="2290034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10" h="685800">
                <a:moveTo>
                  <a:pt x="71628" y="600456"/>
                </a:moveTo>
                <a:lnTo>
                  <a:pt x="0" y="542544"/>
                </a:lnTo>
                <a:lnTo>
                  <a:pt x="57912" y="658368"/>
                </a:lnTo>
                <a:lnTo>
                  <a:pt x="57912" y="600456"/>
                </a:lnTo>
                <a:lnTo>
                  <a:pt x="71628" y="600456"/>
                </a:lnTo>
                <a:close/>
              </a:path>
              <a:path w="143510" h="685800">
                <a:moveTo>
                  <a:pt x="85344" y="589366"/>
                </a:moveTo>
                <a:lnTo>
                  <a:pt x="85344" y="0"/>
                </a:lnTo>
                <a:lnTo>
                  <a:pt x="57912" y="0"/>
                </a:lnTo>
                <a:lnTo>
                  <a:pt x="57912" y="589366"/>
                </a:lnTo>
                <a:lnTo>
                  <a:pt x="71628" y="600456"/>
                </a:lnTo>
                <a:lnTo>
                  <a:pt x="85344" y="589366"/>
                </a:lnTo>
                <a:close/>
              </a:path>
              <a:path w="143510" h="685800">
                <a:moveTo>
                  <a:pt x="85344" y="658368"/>
                </a:moveTo>
                <a:lnTo>
                  <a:pt x="85344" y="600456"/>
                </a:lnTo>
                <a:lnTo>
                  <a:pt x="57912" y="600456"/>
                </a:lnTo>
                <a:lnTo>
                  <a:pt x="57912" y="658368"/>
                </a:lnTo>
                <a:lnTo>
                  <a:pt x="71628" y="685800"/>
                </a:lnTo>
                <a:lnTo>
                  <a:pt x="85344" y="658368"/>
                </a:lnTo>
                <a:close/>
              </a:path>
              <a:path w="143510" h="685800">
                <a:moveTo>
                  <a:pt x="143256" y="542544"/>
                </a:moveTo>
                <a:lnTo>
                  <a:pt x="71628" y="600456"/>
                </a:lnTo>
                <a:lnTo>
                  <a:pt x="85344" y="600456"/>
                </a:lnTo>
                <a:lnTo>
                  <a:pt x="85344" y="658368"/>
                </a:lnTo>
                <a:lnTo>
                  <a:pt x="143256" y="542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09230" y="2290034"/>
            <a:ext cx="141336" cy="605118"/>
          </a:xfrm>
          <a:custGeom>
            <a:avLst/>
            <a:gdLst/>
            <a:ahLst/>
            <a:cxnLst/>
            <a:rect l="l" t="t" r="r" b="b"/>
            <a:pathLst>
              <a:path w="143509" h="685800">
                <a:moveTo>
                  <a:pt x="71628" y="600456"/>
                </a:moveTo>
                <a:lnTo>
                  <a:pt x="0" y="542544"/>
                </a:lnTo>
                <a:lnTo>
                  <a:pt x="57912" y="658368"/>
                </a:lnTo>
                <a:lnTo>
                  <a:pt x="57912" y="600456"/>
                </a:lnTo>
                <a:lnTo>
                  <a:pt x="71628" y="600456"/>
                </a:lnTo>
                <a:close/>
              </a:path>
              <a:path w="143509" h="685800">
                <a:moveTo>
                  <a:pt x="85344" y="589366"/>
                </a:moveTo>
                <a:lnTo>
                  <a:pt x="85344" y="0"/>
                </a:lnTo>
                <a:lnTo>
                  <a:pt x="57912" y="0"/>
                </a:lnTo>
                <a:lnTo>
                  <a:pt x="57912" y="589366"/>
                </a:lnTo>
                <a:lnTo>
                  <a:pt x="71628" y="600456"/>
                </a:lnTo>
                <a:lnTo>
                  <a:pt x="85344" y="589366"/>
                </a:lnTo>
                <a:close/>
              </a:path>
              <a:path w="143509" h="685800">
                <a:moveTo>
                  <a:pt x="85344" y="658368"/>
                </a:moveTo>
                <a:lnTo>
                  <a:pt x="85344" y="600456"/>
                </a:lnTo>
                <a:lnTo>
                  <a:pt x="57912" y="600456"/>
                </a:lnTo>
                <a:lnTo>
                  <a:pt x="57912" y="658368"/>
                </a:lnTo>
                <a:lnTo>
                  <a:pt x="71628" y="685800"/>
                </a:lnTo>
                <a:lnTo>
                  <a:pt x="85344" y="658368"/>
                </a:lnTo>
                <a:close/>
              </a:path>
              <a:path w="143509" h="685800">
                <a:moveTo>
                  <a:pt x="143256" y="542544"/>
                </a:moveTo>
                <a:lnTo>
                  <a:pt x="71628" y="600456"/>
                </a:lnTo>
                <a:lnTo>
                  <a:pt x="85344" y="600456"/>
                </a:lnTo>
                <a:lnTo>
                  <a:pt x="85344" y="658368"/>
                </a:lnTo>
                <a:lnTo>
                  <a:pt x="143256" y="542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75830" y="2248347"/>
            <a:ext cx="140085" cy="672353"/>
          </a:xfrm>
          <a:custGeom>
            <a:avLst/>
            <a:gdLst/>
            <a:ahLst/>
            <a:cxnLst/>
            <a:rect l="l" t="t" r="r" b="b"/>
            <a:pathLst>
              <a:path w="142240" h="762000">
                <a:moveTo>
                  <a:pt x="141732" y="143256"/>
                </a:moveTo>
                <a:lnTo>
                  <a:pt x="70104" y="0"/>
                </a:lnTo>
                <a:lnTo>
                  <a:pt x="0" y="143256"/>
                </a:lnTo>
                <a:lnTo>
                  <a:pt x="56388" y="96674"/>
                </a:lnTo>
                <a:lnTo>
                  <a:pt x="56388" y="85344"/>
                </a:lnTo>
                <a:lnTo>
                  <a:pt x="85344" y="85344"/>
                </a:lnTo>
                <a:lnTo>
                  <a:pt x="85344" y="97665"/>
                </a:lnTo>
                <a:lnTo>
                  <a:pt x="141732" y="143256"/>
                </a:lnTo>
                <a:close/>
              </a:path>
              <a:path w="142240" h="762000">
                <a:moveTo>
                  <a:pt x="70104" y="85344"/>
                </a:moveTo>
                <a:lnTo>
                  <a:pt x="56388" y="85344"/>
                </a:lnTo>
                <a:lnTo>
                  <a:pt x="56388" y="96674"/>
                </a:lnTo>
                <a:lnTo>
                  <a:pt x="70104" y="85344"/>
                </a:lnTo>
                <a:close/>
              </a:path>
              <a:path w="142240" h="762000">
                <a:moveTo>
                  <a:pt x="85344" y="762000"/>
                </a:moveTo>
                <a:lnTo>
                  <a:pt x="85344" y="97665"/>
                </a:lnTo>
                <a:lnTo>
                  <a:pt x="70104" y="85344"/>
                </a:lnTo>
                <a:lnTo>
                  <a:pt x="56388" y="96674"/>
                </a:lnTo>
                <a:lnTo>
                  <a:pt x="56388" y="762000"/>
                </a:lnTo>
                <a:lnTo>
                  <a:pt x="85344" y="762000"/>
                </a:lnTo>
                <a:close/>
              </a:path>
              <a:path w="142240" h="762000">
                <a:moveTo>
                  <a:pt x="85344" y="97665"/>
                </a:moveTo>
                <a:lnTo>
                  <a:pt x="85344" y="85344"/>
                </a:lnTo>
                <a:lnTo>
                  <a:pt x="70104" y="85344"/>
                </a:lnTo>
                <a:lnTo>
                  <a:pt x="85344" y="97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32336" y="2088328"/>
            <a:ext cx="1285153" cy="885265"/>
          </a:xfrm>
          <a:custGeom>
            <a:avLst/>
            <a:gdLst/>
            <a:ahLst/>
            <a:cxnLst/>
            <a:rect l="l" t="t" r="r" b="b"/>
            <a:pathLst>
              <a:path w="1304925" h="1003300">
                <a:moveTo>
                  <a:pt x="1235964" y="51816"/>
                </a:moveTo>
                <a:lnTo>
                  <a:pt x="1219564" y="47857"/>
                </a:lnTo>
                <a:lnTo>
                  <a:pt x="0" y="979932"/>
                </a:lnTo>
                <a:lnTo>
                  <a:pt x="18288" y="1002792"/>
                </a:lnTo>
                <a:lnTo>
                  <a:pt x="1235640" y="71253"/>
                </a:lnTo>
                <a:lnTo>
                  <a:pt x="1235964" y="51816"/>
                </a:lnTo>
                <a:close/>
              </a:path>
              <a:path w="1304925" h="1003300">
                <a:moveTo>
                  <a:pt x="1304544" y="0"/>
                </a:moveTo>
                <a:lnTo>
                  <a:pt x="1147572" y="30480"/>
                </a:lnTo>
                <a:lnTo>
                  <a:pt x="1219564" y="47857"/>
                </a:lnTo>
                <a:lnTo>
                  <a:pt x="1228344" y="41148"/>
                </a:lnTo>
                <a:lnTo>
                  <a:pt x="1245108" y="64008"/>
                </a:lnTo>
                <a:lnTo>
                  <a:pt x="1245108" y="121456"/>
                </a:lnTo>
                <a:lnTo>
                  <a:pt x="1304544" y="0"/>
                </a:lnTo>
                <a:close/>
              </a:path>
              <a:path w="1304925" h="1003300">
                <a:moveTo>
                  <a:pt x="1245108" y="64008"/>
                </a:moveTo>
                <a:lnTo>
                  <a:pt x="1228344" y="41148"/>
                </a:lnTo>
                <a:lnTo>
                  <a:pt x="1219564" y="47857"/>
                </a:lnTo>
                <a:lnTo>
                  <a:pt x="1235964" y="51816"/>
                </a:lnTo>
                <a:lnTo>
                  <a:pt x="1235964" y="71005"/>
                </a:lnTo>
                <a:lnTo>
                  <a:pt x="1245108" y="64008"/>
                </a:lnTo>
                <a:close/>
              </a:path>
              <a:path w="1304925" h="1003300">
                <a:moveTo>
                  <a:pt x="1245108" y="121456"/>
                </a:moveTo>
                <a:lnTo>
                  <a:pt x="1245108" y="64008"/>
                </a:lnTo>
                <a:lnTo>
                  <a:pt x="1235640" y="71253"/>
                </a:lnTo>
                <a:lnTo>
                  <a:pt x="1234440" y="143256"/>
                </a:lnTo>
                <a:lnTo>
                  <a:pt x="1245108" y="121456"/>
                </a:lnTo>
                <a:close/>
              </a:path>
              <a:path w="1304925" h="1003300">
                <a:moveTo>
                  <a:pt x="1235964" y="71005"/>
                </a:moveTo>
                <a:lnTo>
                  <a:pt x="1235964" y="51816"/>
                </a:lnTo>
                <a:lnTo>
                  <a:pt x="1235640" y="71253"/>
                </a:lnTo>
                <a:lnTo>
                  <a:pt x="1235964" y="71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16387" y="2213386"/>
            <a:ext cx="1285153" cy="883583"/>
          </a:xfrm>
          <a:custGeom>
            <a:avLst/>
            <a:gdLst/>
            <a:ahLst/>
            <a:cxnLst/>
            <a:rect l="l" t="t" r="r" b="b"/>
            <a:pathLst>
              <a:path w="1304925" h="1001395">
                <a:moveTo>
                  <a:pt x="70104" y="858012"/>
                </a:moveTo>
                <a:lnTo>
                  <a:pt x="0" y="1001268"/>
                </a:lnTo>
                <a:lnTo>
                  <a:pt x="59436" y="989727"/>
                </a:lnTo>
                <a:lnTo>
                  <a:pt x="59436" y="937260"/>
                </a:lnTo>
                <a:lnTo>
                  <a:pt x="68903" y="930026"/>
                </a:lnTo>
                <a:lnTo>
                  <a:pt x="70104" y="858012"/>
                </a:lnTo>
                <a:close/>
              </a:path>
              <a:path w="1304925" h="1001395">
                <a:moveTo>
                  <a:pt x="68903" y="930026"/>
                </a:moveTo>
                <a:lnTo>
                  <a:pt x="59436" y="937260"/>
                </a:lnTo>
                <a:lnTo>
                  <a:pt x="68580" y="949729"/>
                </a:lnTo>
                <a:lnTo>
                  <a:pt x="68903" y="930026"/>
                </a:lnTo>
                <a:close/>
              </a:path>
              <a:path w="1304925" h="1001395">
                <a:moveTo>
                  <a:pt x="156972" y="970788"/>
                </a:moveTo>
                <a:lnTo>
                  <a:pt x="84989" y="953413"/>
                </a:lnTo>
                <a:lnTo>
                  <a:pt x="76200" y="960120"/>
                </a:lnTo>
                <a:lnTo>
                  <a:pt x="59436" y="937260"/>
                </a:lnTo>
                <a:lnTo>
                  <a:pt x="59436" y="989727"/>
                </a:lnTo>
                <a:lnTo>
                  <a:pt x="156972" y="970788"/>
                </a:lnTo>
                <a:close/>
              </a:path>
              <a:path w="1304925" h="1001395">
                <a:moveTo>
                  <a:pt x="1304544" y="22860"/>
                </a:moveTo>
                <a:lnTo>
                  <a:pt x="1286256" y="0"/>
                </a:lnTo>
                <a:lnTo>
                  <a:pt x="68903" y="930026"/>
                </a:lnTo>
                <a:lnTo>
                  <a:pt x="68580" y="949452"/>
                </a:lnTo>
                <a:lnTo>
                  <a:pt x="84989" y="953413"/>
                </a:lnTo>
                <a:lnTo>
                  <a:pt x="1304544" y="22860"/>
                </a:lnTo>
                <a:close/>
              </a:path>
              <a:path w="1304925" h="1001395">
                <a:moveTo>
                  <a:pt x="84989" y="953413"/>
                </a:moveTo>
                <a:lnTo>
                  <a:pt x="68580" y="949452"/>
                </a:lnTo>
                <a:lnTo>
                  <a:pt x="68580" y="949729"/>
                </a:lnTo>
                <a:lnTo>
                  <a:pt x="76200" y="960120"/>
                </a:lnTo>
                <a:lnTo>
                  <a:pt x="84989" y="953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16387" y="1756186"/>
            <a:ext cx="1200727" cy="126626"/>
          </a:xfrm>
          <a:custGeom>
            <a:avLst/>
            <a:gdLst/>
            <a:ahLst/>
            <a:cxnLst/>
            <a:rect l="l" t="t" r="r" b="b"/>
            <a:pathLst>
              <a:path w="1219200" h="143510">
                <a:moveTo>
                  <a:pt x="143256" y="0"/>
                </a:moveTo>
                <a:lnTo>
                  <a:pt x="0" y="71628"/>
                </a:lnTo>
                <a:lnTo>
                  <a:pt x="85344" y="114300"/>
                </a:lnTo>
                <a:lnTo>
                  <a:pt x="85344" y="57912"/>
                </a:lnTo>
                <a:lnTo>
                  <a:pt x="96433" y="57912"/>
                </a:lnTo>
                <a:lnTo>
                  <a:pt x="143256" y="0"/>
                </a:lnTo>
                <a:close/>
              </a:path>
              <a:path w="1219200" h="143510">
                <a:moveTo>
                  <a:pt x="96433" y="57912"/>
                </a:moveTo>
                <a:lnTo>
                  <a:pt x="85344" y="57912"/>
                </a:lnTo>
                <a:lnTo>
                  <a:pt x="85344" y="71628"/>
                </a:lnTo>
                <a:lnTo>
                  <a:pt x="96433" y="57912"/>
                </a:lnTo>
                <a:close/>
              </a:path>
              <a:path w="1219200" h="143510">
                <a:moveTo>
                  <a:pt x="1219200" y="85344"/>
                </a:moveTo>
                <a:lnTo>
                  <a:pt x="1219200" y="57912"/>
                </a:lnTo>
                <a:lnTo>
                  <a:pt x="96433" y="57912"/>
                </a:lnTo>
                <a:lnTo>
                  <a:pt x="85344" y="71628"/>
                </a:lnTo>
                <a:lnTo>
                  <a:pt x="96433" y="85344"/>
                </a:lnTo>
                <a:lnTo>
                  <a:pt x="1219200" y="85344"/>
                </a:lnTo>
                <a:close/>
              </a:path>
              <a:path w="1219200" h="143510">
                <a:moveTo>
                  <a:pt x="96433" y="85344"/>
                </a:moveTo>
                <a:lnTo>
                  <a:pt x="85344" y="71628"/>
                </a:lnTo>
                <a:lnTo>
                  <a:pt x="85344" y="85344"/>
                </a:lnTo>
                <a:lnTo>
                  <a:pt x="96433" y="85344"/>
                </a:lnTo>
                <a:close/>
              </a:path>
              <a:path w="1219200" h="143510">
                <a:moveTo>
                  <a:pt x="143256" y="143256"/>
                </a:moveTo>
                <a:lnTo>
                  <a:pt x="96433" y="85344"/>
                </a:lnTo>
                <a:lnTo>
                  <a:pt x="85344" y="85344"/>
                </a:lnTo>
                <a:lnTo>
                  <a:pt x="85344" y="114300"/>
                </a:lnTo>
                <a:lnTo>
                  <a:pt x="143256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12263" y="2237591"/>
            <a:ext cx="140085" cy="672353"/>
          </a:xfrm>
          <a:custGeom>
            <a:avLst/>
            <a:gdLst/>
            <a:ahLst/>
            <a:cxnLst/>
            <a:rect l="l" t="t" r="r" b="b"/>
            <a:pathLst>
              <a:path w="142239" h="762000">
                <a:moveTo>
                  <a:pt x="141732" y="141732"/>
                </a:moveTo>
                <a:lnTo>
                  <a:pt x="70104" y="0"/>
                </a:lnTo>
                <a:lnTo>
                  <a:pt x="0" y="141732"/>
                </a:lnTo>
                <a:lnTo>
                  <a:pt x="56388" y="96376"/>
                </a:lnTo>
                <a:lnTo>
                  <a:pt x="56388" y="85344"/>
                </a:lnTo>
                <a:lnTo>
                  <a:pt x="85344" y="85344"/>
                </a:lnTo>
                <a:lnTo>
                  <a:pt x="85344" y="97341"/>
                </a:lnTo>
                <a:lnTo>
                  <a:pt x="141732" y="141732"/>
                </a:lnTo>
                <a:close/>
              </a:path>
              <a:path w="142239" h="762000">
                <a:moveTo>
                  <a:pt x="70104" y="85344"/>
                </a:moveTo>
                <a:lnTo>
                  <a:pt x="56388" y="85344"/>
                </a:lnTo>
                <a:lnTo>
                  <a:pt x="56388" y="96376"/>
                </a:lnTo>
                <a:lnTo>
                  <a:pt x="70104" y="85344"/>
                </a:lnTo>
                <a:close/>
              </a:path>
              <a:path w="142239" h="762000">
                <a:moveTo>
                  <a:pt x="85344" y="762000"/>
                </a:moveTo>
                <a:lnTo>
                  <a:pt x="85344" y="97341"/>
                </a:lnTo>
                <a:lnTo>
                  <a:pt x="70104" y="85344"/>
                </a:lnTo>
                <a:lnTo>
                  <a:pt x="56388" y="96376"/>
                </a:lnTo>
                <a:lnTo>
                  <a:pt x="56388" y="762000"/>
                </a:lnTo>
                <a:lnTo>
                  <a:pt x="85344" y="762000"/>
                </a:lnTo>
                <a:close/>
              </a:path>
              <a:path w="142239" h="762000">
                <a:moveTo>
                  <a:pt x="85344" y="97341"/>
                </a:moveTo>
                <a:lnTo>
                  <a:pt x="85344" y="85344"/>
                </a:lnTo>
                <a:lnTo>
                  <a:pt x="70104" y="85344"/>
                </a:lnTo>
                <a:lnTo>
                  <a:pt x="85344" y="973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44904" y="3087445"/>
            <a:ext cx="1200727" cy="126626"/>
          </a:xfrm>
          <a:custGeom>
            <a:avLst/>
            <a:gdLst/>
            <a:ahLst/>
            <a:cxnLst/>
            <a:rect l="l" t="t" r="r" b="b"/>
            <a:pathLst>
              <a:path w="1219200" h="143510">
                <a:moveTo>
                  <a:pt x="1132332" y="71628"/>
                </a:moveTo>
                <a:lnTo>
                  <a:pt x="1120334" y="56388"/>
                </a:lnTo>
                <a:lnTo>
                  <a:pt x="0" y="56388"/>
                </a:lnTo>
                <a:lnTo>
                  <a:pt x="0" y="85344"/>
                </a:lnTo>
                <a:lnTo>
                  <a:pt x="1121534" y="85344"/>
                </a:lnTo>
                <a:lnTo>
                  <a:pt x="1132332" y="71628"/>
                </a:lnTo>
                <a:close/>
              </a:path>
              <a:path w="1219200" h="143510">
                <a:moveTo>
                  <a:pt x="1219200" y="71628"/>
                </a:moveTo>
                <a:lnTo>
                  <a:pt x="1075944" y="0"/>
                </a:lnTo>
                <a:lnTo>
                  <a:pt x="1120334" y="56388"/>
                </a:lnTo>
                <a:lnTo>
                  <a:pt x="1132332" y="56388"/>
                </a:lnTo>
                <a:lnTo>
                  <a:pt x="1132332" y="115062"/>
                </a:lnTo>
                <a:lnTo>
                  <a:pt x="1219200" y="71628"/>
                </a:lnTo>
                <a:close/>
              </a:path>
              <a:path w="1219200" h="143510">
                <a:moveTo>
                  <a:pt x="1132332" y="115062"/>
                </a:moveTo>
                <a:lnTo>
                  <a:pt x="1132332" y="85344"/>
                </a:lnTo>
                <a:lnTo>
                  <a:pt x="1121534" y="85344"/>
                </a:lnTo>
                <a:lnTo>
                  <a:pt x="1075944" y="143256"/>
                </a:lnTo>
                <a:lnTo>
                  <a:pt x="1132332" y="115062"/>
                </a:lnTo>
                <a:close/>
              </a:path>
              <a:path w="1219200" h="143510">
                <a:moveTo>
                  <a:pt x="1132332" y="71628"/>
                </a:moveTo>
                <a:lnTo>
                  <a:pt x="1132332" y="56388"/>
                </a:lnTo>
                <a:lnTo>
                  <a:pt x="1120334" y="56388"/>
                </a:lnTo>
                <a:lnTo>
                  <a:pt x="1132332" y="71628"/>
                </a:lnTo>
                <a:close/>
              </a:path>
              <a:path w="1219200" h="143510">
                <a:moveTo>
                  <a:pt x="1132332" y="85344"/>
                </a:moveTo>
                <a:lnTo>
                  <a:pt x="1132332" y="71628"/>
                </a:lnTo>
                <a:lnTo>
                  <a:pt x="1121534" y="85344"/>
                </a:lnTo>
                <a:lnTo>
                  <a:pt x="1132332" y="85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16387" y="3302598"/>
            <a:ext cx="1200727" cy="126626"/>
          </a:xfrm>
          <a:custGeom>
            <a:avLst/>
            <a:gdLst/>
            <a:ahLst/>
            <a:cxnLst/>
            <a:rect l="l" t="t" r="r" b="b"/>
            <a:pathLst>
              <a:path w="1219200" h="143510">
                <a:moveTo>
                  <a:pt x="1133856" y="71628"/>
                </a:moveTo>
                <a:lnTo>
                  <a:pt x="1122766" y="57912"/>
                </a:lnTo>
                <a:lnTo>
                  <a:pt x="0" y="57912"/>
                </a:lnTo>
                <a:lnTo>
                  <a:pt x="0" y="85344"/>
                </a:lnTo>
                <a:lnTo>
                  <a:pt x="1122766" y="85344"/>
                </a:lnTo>
                <a:lnTo>
                  <a:pt x="1133856" y="71628"/>
                </a:lnTo>
                <a:close/>
              </a:path>
              <a:path w="1219200" h="143510">
                <a:moveTo>
                  <a:pt x="1219200" y="71628"/>
                </a:moveTo>
                <a:lnTo>
                  <a:pt x="1075944" y="0"/>
                </a:lnTo>
                <a:lnTo>
                  <a:pt x="1122766" y="57912"/>
                </a:lnTo>
                <a:lnTo>
                  <a:pt x="1133856" y="57912"/>
                </a:lnTo>
                <a:lnTo>
                  <a:pt x="1133856" y="114300"/>
                </a:lnTo>
                <a:lnTo>
                  <a:pt x="1219200" y="71628"/>
                </a:lnTo>
                <a:close/>
              </a:path>
              <a:path w="1219200" h="143510">
                <a:moveTo>
                  <a:pt x="1133856" y="114300"/>
                </a:moveTo>
                <a:lnTo>
                  <a:pt x="1133856" y="85344"/>
                </a:lnTo>
                <a:lnTo>
                  <a:pt x="1122766" y="85344"/>
                </a:lnTo>
                <a:lnTo>
                  <a:pt x="1075944" y="143256"/>
                </a:lnTo>
                <a:lnTo>
                  <a:pt x="1133856" y="114300"/>
                </a:lnTo>
                <a:close/>
              </a:path>
              <a:path w="1219200" h="143510">
                <a:moveTo>
                  <a:pt x="1133856" y="71628"/>
                </a:moveTo>
                <a:lnTo>
                  <a:pt x="1133856" y="57912"/>
                </a:lnTo>
                <a:lnTo>
                  <a:pt x="1122766" y="57912"/>
                </a:lnTo>
                <a:lnTo>
                  <a:pt x="1133856" y="71628"/>
                </a:lnTo>
                <a:close/>
              </a:path>
              <a:path w="1219200" h="143510">
                <a:moveTo>
                  <a:pt x="1133856" y="85344"/>
                </a:moveTo>
                <a:lnTo>
                  <a:pt x="1133856" y="71628"/>
                </a:lnTo>
                <a:lnTo>
                  <a:pt x="1122766" y="85344"/>
                </a:lnTo>
                <a:lnTo>
                  <a:pt x="1133856" y="85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00406" y="2237591"/>
            <a:ext cx="141336" cy="739588"/>
          </a:xfrm>
          <a:custGeom>
            <a:avLst/>
            <a:gdLst/>
            <a:ahLst/>
            <a:cxnLst/>
            <a:rect l="l" t="t" r="r" b="b"/>
            <a:pathLst>
              <a:path w="143509" h="838200">
                <a:moveTo>
                  <a:pt x="71628" y="751332"/>
                </a:moveTo>
                <a:lnTo>
                  <a:pt x="0" y="694944"/>
                </a:lnTo>
                <a:lnTo>
                  <a:pt x="56388" y="807720"/>
                </a:lnTo>
                <a:lnTo>
                  <a:pt x="56388" y="751332"/>
                </a:lnTo>
                <a:lnTo>
                  <a:pt x="71628" y="751332"/>
                </a:lnTo>
                <a:close/>
              </a:path>
              <a:path w="143509" h="838200">
                <a:moveTo>
                  <a:pt x="85344" y="740534"/>
                </a:moveTo>
                <a:lnTo>
                  <a:pt x="85344" y="0"/>
                </a:lnTo>
                <a:lnTo>
                  <a:pt x="56388" y="0"/>
                </a:lnTo>
                <a:lnTo>
                  <a:pt x="56388" y="739334"/>
                </a:lnTo>
                <a:lnTo>
                  <a:pt x="71628" y="751332"/>
                </a:lnTo>
                <a:lnTo>
                  <a:pt x="85344" y="740534"/>
                </a:lnTo>
                <a:close/>
              </a:path>
              <a:path w="143509" h="838200">
                <a:moveTo>
                  <a:pt x="85344" y="810768"/>
                </a:moveTo>
                <a:lnTo>
                  <a:pt x="85344" y="751332"/>
                </a:lnTo>
                <a:lnTo>
                  <a:pt x="56388" y="751332"/>
                </a:lnTo>
                <a:lnTo>
                  <a:pt x="56388" y="807720"/>
                </a:lnTo>
                <a:lnTo>
                  <a:pt x="71628" y="838200"/>
                </a:lnTo>
                <a:lnTo>
                  <a:pt x="85344" y="810768"/>
                </a:lnTo>
                <a:close/>
              </a:path>
              <a:path w="143509" h="838200">
                <a:moveTo>
                  <a:pt x="143256" y="694944"/>
                </a:moveTo>
                <a:lnTo>
                  <a:pt x="71628" y="751332"/>
                </a:lnTo>
                <a:lnTo>
                  <a:pt x="85344" y="751332"/>
                </a:lnTo>
                <a:lnTo>
                  <a:pt x="85344" y="810768"/>
                </a:lnTo>
                <a:lnTo>
                  <a:pt x="143256" y="694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073" y="630213"/>
            <a:ext cx="3492824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7995" y="1702486"/>
            <a:ext cx="8024234" cy="4067155"/>
          </a:xfrm>
          <a:prstGeom prst="rect">
            <a:avLst/>
          </a:prstGeom>
        </p:spPr>
        <p:txBody>
          <a:bodyPr vert="horz" wrap="square" lIns="0" tIns="149241" rIns="0" bIns="0" rtlCol="0">
            <a:spAutoFit/>
          </a:bodyPr>
          <a:lstStyle/>
          <a:p>
            <a:pPr marL="11939">
              <a:spcBef>
                <a:spcPts val="1175"/>
              </a:spcBef>
            </a:pPr>
            <a:r>
              <a:rPr sz="3000" dirty="0">
                <a:solidFill>
                  <a:srgbClr val="323299"/>
                </a:solidFill>
                <a:latin typeface="Times New Roman"/>
                <a:cs typeface="Times New Roman"/>
              </a:rPr>
              <a:t>This can be achieved</a:t>
            </a:r>
            <a:r>
              <a:rPr sz="3000" spc="-33" dirty="0">
                <a:solidFill>
                  <a:srgbClr val="323299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23299"/>
                </a:solidFill>
                <a:latin typeface="Times New Roman"/>
                <a:cs typeface="Times New Roman"/>
              </a:rPr>
              <a:t>as:</a:t>
            </a:r>
            <a:endParaRPr sz="3000">
              <a:latin typeface="Times New Roman"/>
              <a:cs typeface="Times New Roman"/>
            </a:endParaRPr>
          </a:p>
          <a:p>
            <a:pPr marL="556370" marR="5970" indent="-544431">
              <a:lnSpc>
                <a:spcPct val="75000"/>
              </a:lnSpc>
              <a:spcBef>
                <a:spcPts val="1984"/>
              </a:spcBef>
              <a:buFont typeface="DejaVu Sans"/>
              <a:buChar char="❑"/>
              <a:tabLst>
                <a:tab pos="555773" algn="l"/>
                <a:tab pos="556370" algn="l"/>
              </a:tabLst>
            </a:pPr>
            <a:r>
              <a:rPr sz="3000" spc="-5" dirty="0">
                <a:solidFill>
                  <a:srgbClr val="FF0000"/>
                </a:solidFill>
                <a:latin typeface="Times New Roman"/>
                <a:cs typeface="Times New Roman"/>
              </a:rPr>
              <a:t>Controlling the number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 parameters </a:t>
            </a:r>
            <a:r>
              <a:rPr sz="3000" spc="-5" dirty="0">
                <a:solidFill>
                  <a:srgbClr val="FF0000"/>
                </a:solidFill>
                <a:latin typeface="Times New Roman"/>
                <a:cs typeface="Times New Roman"/>
              </a:rPr>
              <a:t>passed 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amongst</a:t>
            </a:r>
            <a:r>
              <a:rPr sz="3000" spc="-1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modules.</a:t>
            </a:r>
            <a:endParaRPr sz="3000">
              <a:latin typeface="Times New Roman"/>
              <a:cs typeface="Times New Roman"/>
            </a:endParaRPr>
          </a:p>
          <a:p>
            <a:pPr marL="556370" marR="4776" indent="-544431">
              <a:lnSpc>
                <a:spcPct val="74700"/>
              </a:lnSpc>
              <a:spcBef>
                <a:spcPts val="1819"/>
              </a:spcBef>
              <a:buFont typeface="DejaVu Sans"/>
              <a:buChar char="❑"/>
              <a:tabLst>
                <a:tab pos="555773" algn="l"/>
                <a:tab pos="556370" algn="l"/>
                <a:tab pos="1818351" algn="l"/>
                <a:tab pos="3272554" algn="l"/>
                <a:tab pos="5064638" algn="l"/>
                <a:tab pos="6007244" algn="l"/>
                <a:tab pos="6608982" algn="l"/>
              </a:tabLst>
            </a:pP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v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d	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p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ss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g	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u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s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r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d	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da</a:t>
            </a:r>
            <a:r>
              <a:rPr sz="3000" spc="-14" dirty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a	</a:t>
            </a:r>
            <a:r>
              <a:rPr sz="3000" spc="-14" dirty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o	</a:t>
            </a:r>
            <a:r>
              <a:rPr sz="3000" spc="-9" dirty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sz="3000" spc="5" dirty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lli</a:t>
            </a:r>
            <a:r>
              <a:rPr sz="3000" spc="-19" dirty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3000" dirty="0">
                <a:solidFill>
                  <a:srgbClr val="3232FF"/>
                </a:solidFill>
                <a:latin typeface="Times New Roman"/>
                <a:cs typeface="Times New Roman"/>
              </a:rPr>
              <a:t>g  </a:t>
            </a:r>
            <a:r>
              <a:rPr sz="3000" spc="-5" dirty="0">
                <a:solidFill>
                  <a:srgbClr val="3232FF"/>
                </a:solidFill>
                <a:latin typeface="Times New Roman"/>
                <a:cs typeface="Times New Roman"/>
              </a:rPr>
              <a:t>module.</a:t>
            </a:r>
            <a:endParaRPr sz="3000">
              <a:latin typeface="Times New Roman"/>
              <a:cs typeface="Times New Roman"/>
            </a:endParaRPr>
          </a:p>
          <a:p>
            <a:pPr marL="556370" marR="4776" indent="-544431">
              <a:lnSpc>
                <a:spcPct val="75000"/>
              </a:lnSpc>
              <a:spcBef>
                <a:spcPts val="1805"/>
              </a:spcBef>
              <a:buFont typeface="DejaVu Sans"/>
              <a:buChar char="❑"/>
              <a:tabLst>
                <a:tab pos="555773" algn="l"/>
                <a:tab pos="556370" algn="l"/>
                <a:tab pos="2098924" algn="l"/>
                <a:tab pos="3216438" algn="l"/>
                <a:tab pos="3483282" algn="l"/>
                <a:tab pos="4408575" algn="l"/>
                <a:tab pos="6374376" algn="l"/>
              </a:tabLst>
            </a:pP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M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a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i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n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t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a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i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n	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p</a:t>
            </a:r>
            <a:r>
              <a:rPr sz="3000" spc="-9" dirty="0">
                <a:solidFill>
                  <a:srgbClr val="650065"/>
                </a:solidFill>
                <a:latin typeface="Times New Roman"/>
                <a:cs typeface="Times New Roman"/>
              </a:rPr>
              <a:t>a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r</a:t>
            </a:r>
            <a:r>
              <a:rPr sz="3000" spc="-9" dirty="0">
                <a:solidFill>
                  <a:srgbClr val="650065"/>
                </a:solidFill>
                <a:latin typeface="Times New Roman"/>
                <a:cs typeface="Times New Roman"/>
              </a:rPr>
              <a:t>e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n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t	/	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ch</a:t>
            </a:r>
            <a:r>
              <a:rPr sz="3000" spc="-14" dirty="0">
                <a:solidFill>
                  <a:srgbClr val="650065"/>
                </a:solidFill>
                <a:latin typeface="Times New Roman"/>
                <a:cs typeface="Times New Roman"/>
              </a:rPr>
              <a:t>i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l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d	r</a:t>
            </a:r>
            <a:r>
              <a:rPr sz="3000" spc="-9" dirty="0">
                <a:solidFill>
                  <a:srgbClr val="650065"/>
                </a:solidFill>
                <a:latin typeface="Times New Roman"/>
                <a:cs typeface="Times New Roman"/>
              </a:rPr>
              <a:t>e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l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a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ti</a:t>
            </a:r>
            <a:r>
              <a:rPr sz="3000" spc="-9" dirty="0">
                <a:solidFill>
                  <a:srgbClr val="650065"/>
                </a:solidFill>
                <a:latin typeface="Times New Roman"/>
                <a:cs typeface="Times New Roman"/>
              </a:rPr>
              <a:t>o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n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s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h</a:t>
            </a:r>
            <a:r>
              <a:rPr sz="3000" spc="-14" dirty="0">
                <a:solidFill>
                  <a:srgbClr val="650065"/>
                </a:solidFill>
                <a:latin typeface="Times New Roman"/>
                <a:cs typeface="Times New Roman"/>
              </a:rPr>
              <a:t>i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p	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be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t</a:t>
            </a:r>
            <a:r>
              <a:rPr sz="3000" spc="-9" dirty="0">
                <a:solidFill>
                  <a:srgbClr val="650065"/>
                </a:solidFill>
                <a:latin typeface="Times New Roman"/>
                <a:cs typeface="Times New Roman"/>
              </a:rPr>
              <a:t>w</a:t>
            </a:r>
            <a:r>
              <a:rPr sz="3000" spc="5" dirty="0">
                <a:solidFill>
                  <a:srgbClr val="650065"/>
                </a:solidFill>
                <a:latin typeface="Times New Roman"/>
                <a:cs typeface="Times New Roman"/>
              </a:rPr>
              <a:t>e</a:t>
            </a:r>
            <a:r>
              <a:rPr sz="3000" spc="-19" dirty="0">
                <a:solidFill>
                  <a:srgbClr val="650065"/>
                </a:solidFill>
                <a:latin typeface="Times New Roman"/>
                <a:cs typeface="Times New Roman"/>
              </a:rPr>
              <a:t>e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n  </a:t>
            </a:r>
            <a:r>
              <a:rPr sz="3000" spc="-5" dirty="0">
                <a:solidFill>
                  <a:srgbClr val="650065"/>
                </a:solidFill>
                <a:latin typeface="Times New Roman"/>
                <a:cs typeface="Times New Roman"/>
              </a:rPr>
              <a:t>calling 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&amp; called</a:t>
            </a:r>
            <a:r>
              <a:rPr sz="3000" spc="-14" dirty="0">
                <a:solidFill>
                  <a:srgbClr val="650065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50065"/>
                </a:solidFill>
                <a:latin typeface="Times New Roman"/>
                <a:cs typeface="Times New Roman"/>
              </a:rPr>
              <a:t>modules.</a:t>
            </a:r>
            <a:endParaRPr sz="3000">
              <a:latin typeface="Times New Roman"/>
              <a:cs typeface="Times New Roman"/>
            </a:endParaRPr>
          </a:p>
          <a:p>
            <a:pPr marL="556370" indent="-544431">
              <a:spcBef>
                <a:spcPts val="902"/>
              </a:spcBef>
              <a:buFont typeface="DejaVu Sans"/>
              <a:buChar char="❑"/>
              <a:tabLst>
                <a:tab pos="555773" algn="l"/>
                <a:tab pos="556370" algn="l"/>
              </a:tabLst>
            </a:pPr>
            <a:r>
              <a:rPr sz="3000" dirty="0">
                <a:solidFill>
                  <a:srgbClr val="003200"/>
                </a:solidFill>
                <a:latin typeface="Times New Roman"/>
                <a:cs typeface="Times New Roman"/>
              </a:rPr>
              <a:t>Pass </a:t>
            </a:r>
            <a:r>
              <a:rPr sz="3000" spc="-5" dirty="0">
                <a:solidFill>
                  <a:srgbClr val="003200"/>
                </a:solidFill>
                <a:latin typeface="Times New Roman"/>
                <a:cs typeface="Times New Roman"/>
              </a:rPr>
              <a:t>data, </a:t>
            </a:r>
            <a:r>
              <a:rPr sz="3000" dirty="0">
                <a:solidFill>
                  <a:srgbClr val="003200"/>
                </a:solidFill>
                <a:latin typeface="Times New Roman"/>
                <a:cs typeface="Times New Roman"/>
              </a:rPr>
              <a:t>not </a:t>
            </a:r>
            <a:r>
              <a:rPr sz="3000" spc="-5" dirty="0">
                <a:solidFill>
                  <a:srgbClr val="003200"/>
                </a:solidFill>
                <a:latin typeface="Times New Roman"/>
                <a:cs typeface="Times New Roman"/>
              </a:rPr>
              <a:t>the control</a:t>
            </a:r>
            <a:r>
              <a:rPr sz="3000" dirty="0">
                <a:solidFill>
                  <a:srgbClr val="003200"/>
                </a:solidFill>
                <a:latin typeface="Times New Roman"/>
                <a:cs typeface="Times New Roman"/>
              </a:rPr>
              <a:t> </a:t>
            </a:r>
            <a:r>
              <a:rPr sz="3000" spc="-5" dirty="0">
                <a:solidFill>
                  <a:srgbClr val="003200"/>
                </a:solidFill>
                <a:latin typeface="Times New Roman"/>
                <a:cs typeface="Times New Roman"/>
              </a:rPr>
              <a:t>information.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448" y="1344700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33493" y="2003162"/>
            <a:ext cx="1542184" cy="411562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  <a:tabLst>
                <a:tab pos="1050059" algn="l"/>
              </a:tabLst>
            </a:pPr>
            <a:r>
              <a:rPr sz="2600" spc="-9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5" dirty="0">
                <a:latin typeface="Times New Roman"/>
                <a:cs typeface="Times New Roman"/>
              </a:rPr>
              <a:t>i</a:t>
            </a:r>
            <a:r>
              <a:rPr sz="2600" spc="-14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98956" y="630213"/>
            <a:ext cx="3648941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460" y="1360025"/>
            <a:ext cx="6455785" cy="1504619"/>
          </a:xfrm>
          <a:prstGeom prst="rect">
            <a:avLst/>
          </a:prstGeom>
        </p:spPr>
        <p:txBody>
          <a:bodyPr vert="horz" wrap="square" lIns="0" tIns="143868" rIns="0" bIns="0" rtlCol="0">
            <a:spAutoFit/>
          </a:bodyPr>
          <a:lstStyle/>
          <a:p>
            <a:pPr marL="25669">
              <a:spcBef>
                <a:spcPts val="1133"/>
              </a:spcBef>
            </a:pPr>
            <a:r>
              <a:rPr sz="2800" b="1" spc="-5" dirty="0">
                <a:solidFill>
                  <a:srgbClr val="CC3200"/>
                </a:solidFill>
                <a:latin typeface="Times New Roman"/>
                <a:cs typeface="Times New Roman"/>
              </a:rPr>
              <a:t>Module</a:t>
            </a:r>
            <a:r>
              <a:rPr sz="2800" b="1" dirty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C3200"/>
                </a:solidFill>
                <a:latin typeface="Times New Roman"/>
                <a:cs typeface="Times New Roman"/>
              </a:rPr>
              <a:t>Cohesion</a:t>
            </a:r>
            <a:endParaRPr sz="2800">
              <a:latin typeface="Times New Roman"/>
              <a:cs typeface="Times New Roman"/>
            </a:endParaRPr>
          </a:p>
          <a:p>
            <a:pPr marL="11939" marR="4776">
              <a:lnSpc>
                <a:spcPct val="100400"/>
              </a:lnSpc>
              <a:spcBef>
                <a:spcPts val="954"/>
              </a:spcBef>
              <a:tabLst>
                <a:tab pos="1495991" algn="l"/>
                <a:tab pos="1943116" algn="l"/>
                <a:tab pos="2313831" algn="l"/>
                <a:tab pos="3648044" algn="l"/>
                <a:tab pos="4149493" algn="l"/>
                <a:tab pos="4779887" algn="l"/>
                <a:tab pos="5890239" algn="l"/>
              </a:tabLst>
            </a:pPr>
            <a:r>
              <a:rPr sz="2600" spc="-9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oh</a:t>
            </a:r>
            <a:r>
              <a:rPr sz="2600" spc="-14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si</a:t>
            </a:r>
            <a:r>
              <a:rPr sz="2600" spc="-14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4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4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dirty="0">
                <a:latin typeface="Times New Roman"/>
                <a:cs typeface="Times New Roman"/>
              </a:rPr>
              <a:t>	o</a:t>
            </a:r>
            <a:r>
              <a:rPr sz="2600" spc="-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d</a:t>
            </a:r>
            <a:r>
              <a:rPr sz="2600" spc="-14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4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to  </a:t>
            </a:r>
            <a:r>
              <a:rPr sz="2600" spc="-9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a module are functionally</a:t>
            </a:r>
            <a:r>
              <a:rPr sz="2600" spc="-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related.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53909" y="3294529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44904" y="3859306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20" h="437514">
                <a:moveTo>
                  <a:pt x="477012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8"/>
                </a:lnTo>
                <a:lnTo>
                  <a:pt x="477012" y="0"/>
                </a:lnTo>
                <a:close/>
              </a:path>
              <a:path w="477520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20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20" h="437514">
                <a:moveTo>
                  <a:pt x="423672" y="141278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44904" y="3285117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20" h="437514">
                <a:moveTo>
                  <a:pt x="423672" y="422600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600"/>
                </a:lnTo>
                <a:close/>
              </a:path>
              <a:path w="477520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20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20" h="437514">
                <a:moveTo>
                  <a:pt x="477012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600"/>
                </a:lnTo>
                <a:lnTo>
                  <a:pt x="477012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94039" y="3859306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70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70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70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70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70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94039" y="3285117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20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20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20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20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27500" y="2958353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18493" y="3523130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20" h="437514">
                <a:moveTo>
                  <a:pt x="477012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8"/>
                </a:lnTo>
                <a:lnTo>
                  <a:pt x="477012" y="0"/>
                </a:lnTo>
                <a:close/>
              </a:path>
              <a:path w="477520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20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20" h="437514">
                <a:moveTo>
                  <a:pt x="423672" y="141278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18493" y="2948940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20" h="437514">
                <a:moveTo>
                  <a:pt x="423672" y="422600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600"/>
                </a:lnTo>
                <a:close/>
              </a:path>
              <a:path w="477520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20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20" h="437514">
                <a:moveTo>
                  <a:pt x="477012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600"/>
                </a:lnTo>
                <a:lnTo>
                  <a:pt x="477012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67630" y="3523130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70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70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70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70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70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67630" y="2948940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20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20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20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20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4364" y="4639235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95358" y="5204012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20" h="437514">
                <a:moveTo>
                  <a:pt x="477012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8"/>
                </a:lnTo>
                <a:lnTo>
                  <a:pt x="477012" y="0"/>
                </a:lnTo>
                <a:close/>
              </a:path>
              <a:path w="477520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20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20" h="437514">
                <a:moveTo>
                  <a:pt x="423672" y="141278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95358" y="462982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20" h="437514">
                <a:moveTo>
                  <a:pt x="423672" y="422600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600"/>
                </a:lnTo>
                <a:close/>
              </a:path>
              <a:path w="477520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20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20" h="437514">
                <a:moveTo>
                  <a:pt x="477012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600"/>
                </a:lnTo>
                <a:lnTo>
                  <a:pt x="477012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44494" y="5204012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70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70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70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70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70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44494" y="462982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20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20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20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20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01091" y="3294529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92084" y="3859306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19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19" h="437514">
                <a:moveTo>
                  <a:pt x="477012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8"/>
                </a:lnTo>
                <a:lnTo>
                  <a:pt x="477012" y="0"/>
                </a:lnTo>
                <a:close/>
              </a:path>
              <a:path w="477519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19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19" h="437514">
                <a:moveTo>
                  <a:pt x="423672" y="141278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2084" y="3285117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19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19" h="437514">
                <a:moveTo>
                  <a:pt x="423672" y="422600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600"/>
                </a:lnTo>
                <a:close/>
              </a:path>
              <a:path w="477519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19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19" h="437514">
                <a:moveTo>
                  <a:pt x="477012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600"/>
                </a:lnTo>
                <a:lnTo>
                  <a:pt x="477012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41221" y="3859306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70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70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70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70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70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41221" y="3285117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20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20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20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20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50630" y="4639235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41624" y="5204012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19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19" h="437514">
                <a:moveTo>
                  <a:pt x="477018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9"/>
                </a:lnTo>
                <a:lnTo>
                  <a:pt x="477018" y="0"/>
                </a:lnTo>
                <a:close/>
              </a:path>
              <a:path w="477519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19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19" h="437514">
                <a:moveTo>
                  <a:pt x="423672" y="141279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41624" y="462982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19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19" h="437514">
                <a:moveTo>
                  <a:pt x="423672" y="422599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599"/>
                </a:lnTo>
                <a:close/>
              </a:path>
              <a:path w="477519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19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19" h="437514">
                <a:moveTo>
                  <a:pt x="477018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599"/>
                </a:lnTo>
                <a:lnTo>
                  <a:pt x="477018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90766" y="5204012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69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69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69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69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69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90766" y="462982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19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19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19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19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19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27500" y="4773706"/>
            <a:ext cx="1500909" cy="941294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0" y="0"/>
                </a:moveTo>
                <a:lnTo>
                  <a:pt x="0" y="1066799"/>
                </a:lnTo>
                <a:lnTo>
                  <a:pt x="1523999" y="1066799"/>
                </a:lnTo>
                <a:lnTo>
                  <a:pt x="1523999" y="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18493" y="533848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75813"/>
                </a:moveTo>
                <a:lnTo>
                  <a:pt x="414586" y="58796"/>
                </a:lnTo>
                <a:lnTo>
                  <a:pt x="413626" y="57761"/>
                </a:lnTo>
                <a:lnTo>
                  <a:pt x="395627" y="54761"/>
                </a:lnTo>
                <a:lnTo>
                  <a:pt x="0" y="416052"/>
                </a:lnTo>
                <a:lnTo>
                  <a:pt x="18288" y="437388"/>
                </a:lnTo>
                <a:lnTo>
                  <a:pt x="415721" y="75813"/>
                </a:lnTo>
                <a:close/>
              </a:path>
              <a:path w="477520" h="437514">
                <a:moveTo>
                  <a:pt x="477012" y="0"/>
                </a:moveTo>
                <a:lnTo>
                  <a:pt x="323088" y="42672"/>
                </a:lnTo>
                <a:lnTo>
                  <a:pt x="395627" y="54761"/>
                </a:lnTo>
                <a:lnTo>
                  <a:pt x="403860" y="47244"/>
                </a:lnTo>
                <a:lnTo>
                  <a:pt x="413626" y="57761"/>
                </a:lnTo>
                <a:lnTo>
                  <a:pt x="414528" y="57912"/>
                </a:lnTo>
                <a:lnTo>
                  <a:pt x="414586" y="58796"/>
                </a:lnTo>
                <a:lnTo>
                  <a:pt x="423672" y="68580"/>
                </a:lnTo>
                <a:lnTo>
                  <a:pt x="423672" y="141278"/>
                </a:lnTo>
                <a:lnTo>
                  <a:pt x="477012" y="0"/>
                </a:lnTo>
                <a:close/>
              </a:path>
              <a:path w="477520" h="437514">
                <a:moveTo>
                  <a:pt x="413626" y="57761"/>
                </a:moveTo>
                <a:lnTo>
                  <a:pt x="403860" y="47244"/>
                </a:lnTo>
                <a:lnTo>
                  <a:pt x="395627" y="54761"/>
                </a:lnTo>
                <a:lnTo>
                  <a:pt x="413626" y="57761"/>
                </a:lnTo>
                <a:close/>
              </a:path>
              <a:path w="477520" h="437514">
                <a:moveTo>
                  <a:pt x="423672" y="68580"/>
                </a:moveTo>
                <a:lnTo>
                  <a:pt x="414586" y="58796"/>
                </a:lnTo>
                <a:lnTo>
                  <a:pt x="415721" y="75813"/>
                </a:lnTo>
                <a:lnTo>
                  <a:pt x="423672" y="68580"/>
                </a:lnTo>
                <a:close/>
              </a:path>
              <a:path w="477520" h="437514">
                <a:moveTo>
                  <a:pt x="423672" y="141278"/>
                </a:moveTo>
                <a:lnTo>
                  <a:pt x="423672" y="68580"/>
                </a:lnTo>
                <a:lnTo>
                  <a:pt x="415721" y="75813"/>
                </a:lnTo>
                <a:lnTo>
                  <a:pt x="420624" y="149352"/>
                </a:lnTo>
                <a:lnTo>
                  <a:pt x="423672" y="1412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18493" y="476429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415721" y="361574"/>
                </a:moveTo>
                <a:lnTo>
                  <a:pt x="18288" y="0"/>
                </a:lnTo>
                <a:lnTo>
                  <a:pt x="0" y="21336"/>
                </a:lnTo>
                <a:lnTo>
                  <a:pt x="395627" y="382626"/>
                </a:lnTo>
                <a:lnTo>
                  <a:pt x="413626" y="379626"/>
                </a:lnTo>
                <a:lnTo>
                  <a:pt x="414586" y="378591"/>
                </a:lnTo>
                <a:lnTo>
                  <a:pt x="415721" y="361574"/>
                </a:lnTo>
                <a:close/>
              </a:path>
              <a:path w="477520" h="437514">
                <a:moveTo>
                  <a:pt x="423672" y="422600"/>
                </a:moveTo>
                <a:lnTo>
                  <a:pt x="423672" y="368808"/>
                </a:lnTo>
                <a:lnTo>
                  <a:pt x="414586" y="378591"/>
                </a:lnTo>
                <a:lnTo>
                  <a:pt x="414528" y="379476"/>
                </a:lnTo>
                <a:lnTo>
                  <a:pt x="413626" y="379626"/>
                </a:lnTo>
                <a:lnTo>
                  <a:pt x="403860" y="390144"/>
                </a:lnTo>
                <a:lnTo>
                  <a:pt x="395627" y="382626"/>
                </a:lnTo>
                <a:lnTo>
                  <a:pt x="323088" y="394716"/>
                </a:lnTo>
                <a:lnTo>
                  <a:pt x="423672" y="422600"/>
                </a:lnTo>
                <a:close/>
              </a:path>
              <a:path w="477520" h="437514">
                <a:moveTo>
                  <a:pt x="413626" y="379626"/>
                </a:moveTo>
                <a:lnTo>
                  <a:pt x="395627" y="382626"/>
                </a:lnTo>
                <a:lnTo>
                  <a:pt x="403860" y="390144"/>
                </a:lnTo>
                <a:lnTo>
                  <a:pt x="413626" y="379626"/>
                </a:lnTo>
                <a:close/>
              </a:path>
              <a:path w="477520" h="437514">
                <a:moveTo>
                  <a:pt x="423672" y="368808"/>
                </a:moveTo>
                <a:lnTo>
                  <a:pt x="415721" y="361574"/>
                </a:lnTo>
                <a:lnTo>
                  <a:pt x="414586" y="378591"/>
                </a:lnTo>
                <a:lnTo>
                  <a:pt x="423672" y="368808"/>
                </a:lnTo>
                <a:close/>
              </a:path>
              <a:path w="477520" h="437514">
                <a:moveTo>
                  <a:pt x="477012" y="437388"/>
                </a:moveTo>
                <a:lnTo>
                  <a:pt x="420624" y="288036"/>
                </a:lnTo>
                <a:lnTo>
                  <a:pt x="415721" y="361574"/>
                </a:lnTo>
                <a:lnTo>
                  <a:pt x="423672" y="368808"/>
                </a:lnTo>
                <a:lnTo>
                  <a:pt x="423672" y="422600"/>
                </a:lnTo>
                <a:lnTo>
                  <a:pt x="477012" y="4373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67630" y="5338483"/>
            <a:ext cx="464031" cy="379319"/>
          </a:xfrm>
          <a:custGeom>
            <a:avLst/>
            <a:gdLst/>
            <a:ahLst/>
            <a:cxnLst/>
            <a:rect l="l" t="t" r="r" b="b"/>
            <a:pathLst>
              <a:path w="471170" h="429895">
                <a:moveTo>
                  <a:pt x="153924" y="42672"/>
                </a:moveTo>
                <a:lnTo>
                  <a:pt x="0" y="0"/>
                </a:lnTo>
                <a:lnTo>
                  <a:pt x="53340" y="136157"/>
                </a:lnTo>
                <a:lnTo>
                  <a:pt x="53340" y="67056"/>
                </a:lnTo>
                <a:lnTo>
                  <a:pt x="73152" y="47244"/>
                </a:lnTo>
                <a:lnTo>
                  <a:pt x="81423" y="54755"/>
                </a:lnTo>
                <a:lnTo>
                  <a:pt x="153924" y="42672"/>
                </a:lnTo>
                <a:close/>
              </a:path>
              <a:path w="471170" h="429895">
                <a:moveTo>
                  <a:pt x="62484" y="57912"/>
                </a:moveTo>
                <a:lnTo>
                  <a:pt x="53340" y="67056"/>
                </a:lnTo>
                <a:lnTo>
                  <a:pt x="61635" y="74591"/>
                </a:lnTo>
                <a:lnTo>
                  <a:pt x="62484" y="57912"/>
                </a:lnTo>
                <a:close/>
              </a:path>
              <a:path w="471170" h="429895">
                <a:moveTo>
                  <a:pt x="61635" y="74591"/>
                </a:moveTo>
                <a:lnTo>
                  <a:pt x="53340" y="67056"/>
                </a:lnTo>
                <a:lnTo>
                  <a:pt x="53340" y="136157"/>
                </a:lnTo>
                <a:lnTo>
                  <a:pt x="57912" y="147828"/>
                </a:lnTo>
                <a:lnTo>
                  <a:pt x="61635" y="74591"/>
                </a:lnTo>
                <a:close/>
              </a:path>
              <a:path w="471170" h="429895">
                <a:moveTo>
                  <a:pt x="470916" y="408432"/>
                </a:moveTo>
                <a:lnTo>
                  <a:pt x="81423" y="54755"/>
                </a:lnTo>
                <a:lnTo>
                  <a:pt x="62484" y="57912"/>
                </a:lnTo>
                <a:lnTo>
                  <a:pt x="61635" y="74591"/>
                </a:lnTo>
                <a:lnTo>
                  <a:pt x="452628" y="429768"/>
                </a:lnTo>
                <a:lnTo>
                  <a:pt x="470916" y="408432"/>
                </a:lnTo>
                <a:close/>
              </a:path>
              <a:path w="471170" h="429895">
                <a:moveTo>
                  <a:pt x="81423" y="54755"/>
                </a:moveTo>
                <a:lnTo>
                  <a:pt x="73152" y="47244"/>
                </a:lnTo>
                <a:lnTo>
                  <a:pt x="62484" y="57912"/>
                </a:lnTo>
                <a:lnTo>
                  <a:pt x="81423" y="547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67630" y="4764293"/>
            <a:ext cx="470285" cy="386043"/>
          </a:xfrm>
          <a:custGeom>
            <a:avLst/>
            <a:gdLst/>
            <a:ahLst/>
            <a:cxnLst/>
            <a:rect l="l" t="t" r="r" b="b"/>
            <a:pathLst>
              <a:path w="477520" h="437514">
                <a:moveTo>
                  <a:pt x="61290" y="361574"/>
                </a:moveTo>
                <a:lnTo>
                  <a:pt x="56388" y="288036"/>
                </a:lnTo>
                <a:lnTo>
                  <a:pt x="0" y="437388"/>
                </a:lnTo>
                <a:lnTo>
                  <a:pt x="53340" y="422600"/>
                </a:lnTo>
                <a:lnTo>
                  <a:pt x="53340" y="368808"/>
                </a:lnTo>
                <a:lnTo>
                  <a:pt x="61290" y="361574"/>
                </a:lnTo>
                <a:close/>
              </a:path>
              <a:path w="477520" h="437514">
                <a:moveTo>
                  <a:pt x="62425" y="378591"/>
                </a:moveTo>
                <a:lnTo>
                  <a:pt x="61290" y="361574"/>
                </a:lnTo>
                <a:lnTo>
                  <a:pt x="53340" y="368808"/>
                </a:lnTo>
                <a:lnTo>
                  <a:pt x="62425" y="378591"/>
                </a:lnTo>
                <a:close/>
              </a:path>
              <a:path w="477520" h="437514">
                <a:moveTo>
                  <a:pt x="153924" y="394716"/>
                </a:moveTo>
                <a:lnTo>
                  <a:pt x="81384" y="382626"/>
                </a:lnTo>
                <a:lnTo>
                  <a:pt x="73152" y="390144"/>
                </a:lnTo>
                <a:lnTo>
                  <a:pt x="63385" y="379626"/>
                </a:lnTo>
                <a:lnTo>
                  <a:pt x="62484" y="379476"/>
                </a:lnTo>
                <a:lnTo>
                  <a:pt x="62425" y="378591"/>
                </a:lnTo>
                <a:lnTo>
                  <a:pt x="53340" y="368808"/>
                </a:lnTo>
                <a:lnTo>
                  <a:pt x="53340" y="422600"/>
                </a:lnTo>
                <a:lnTo>
                  <a:pt x="153924" y="394716"/>
                </a:lnTo>
                <a:close/>
              </a:path>
              <a:path w="477520" h="437514">
                <a:moveTo>
                  <a:pt x="477012" y="21336"/>
                </a:moveTo>
                <a:lnTo>
                  <a:pt x="458724" y="0"/>
                </a:lnTo>
                <a:lnTo>
                  <a:pt x="61290" y="361574"/>
                </a:lnTo>
                <a:lnTo>
                  <a:pt x="62425" y="378591"/>
                </a:lnTo>
                <a:lnTo>
                  <a:pt x="63385" y="379626"/>
                </a:lnTo>
                <a:lnTo>
                  <a:pt x="81384" y="382626"/>
                </a:lnTo>
                <a:lnTo>
                  <a:pt x="477012" y="21336"/>
                </a:lnTo>
                <a:close/>
              </a:path>
              <a:path w="477520" h="437514">
                <a:moveTo>
                  <a:pt x="81384" y="382626"/>
                </a:moveTo>
                <a:lnTo>
                  <a:pt x="63385" y="379626"/>
                </a:lnTo>
                <a:lnTo>
                  <a:pt x="73152" y="390144"/>
                </a:lnTo>
                <a:lnTo>
                  <a:pt x="81384" y="3826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55942" y="5869190"/>
            <a:ext cx="6790988" cy="365999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sz="2300" spc="-5" smtClean="0">
                <a:solidFill>
                  <a:srgbClr val="323299"/>
                </a:solidFill>
                <a:latin typeface="Times New Roman"/>
                <a:cs typeface="Times New Roman"/>
              </a:rPr>
              <a:t>Cohesion=Strength </a:t>
            </a:r>
            <a:r>
              <a:rPr sz="2300" dirty="0">
                <a:solidFill>
                  <a:srgbClr val="323299"/>
                </a:solidFill>
                <a:latin typeface="Times New Roman"/>
                <a:cs typeface="Times New Roman"/>
              </a:rPr>
              <a:t>of </a:t>
            </a:r>
            <a:r>
              <a:rPr sz="2300" spc="-5" dirty="0">
                <a:solidFill>
                  <a:srgbClr val="323299"/>
                </a:solidFill>
                <a:latin typeface="Times New Roman"/>
                <a:cs typeface="Times New Roman"/>
              </a:rPr>
              <a:t>relations within</a:t>
            </a:r>
            <a:r>
              <a:rPr sz="2300" spc="-24" dirty="0">
                <a:solidFill>
                  <a:srgbClr val="323299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323299"/>
                </a:solidFill>
                <a:latin typeface="Times New Roman"/>
                <a:cs typeface="Times New Roman"/>
              </a:rPr>
              <a:t>modules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16673" y="4059217"/>
            <a:ext cx="911802" cy="604122"/>
          </a:xfrm>
          <a:prstGeom prst="rect">
            <a:avLst/>
          </a:prstGeom>
        </p:spPr>
        <p:txBody>
          <a:bodyPr vert="horz" wrap="square" lIns="0" tIns="74023" rIns="0" bIns="0" rtlCol="0">
            <a:spAutoFit/>
          </a:bodyPr>
          <a:lstStyle/>
          <a:p>
            <a:pPr marL="11939" marR="4776" indent="14327">
              <a:lnSpc>
                <a:spcPct val="80000"/>
              </a:lnSpc>
              <a:spcBef>
                <a:spcPts val="583"/>
              </a:spcBef>
            </a:pPr>
            <a:r>
              <a:rPr sz="2100" spc="-5" dirty="0">
                <a:solidFill>
                  <a:srgbClr val="3232FF"/>
                </a:solidFill>
                <a:latin typeface="Times New Roman"/>
                <a:cs typeface="Times New Roman"/>
              </a:rPr>
              <a:t>Module  </a:t>
            </a:r>
            <a:r>
              <a:rPr sz="2100" spc="-9" dirty="0">
                <a:solidFill>
                  <a:srgbClr val="3232FF"/>
                </a:solidFill>
                <a:latin typeface="Times New Roman"/>
                <a:cs typeface="Times New Roman"/>
              </a:rPr>
              <a:t>s</a:t>
            </a:r>
            <a:r>
              <a:rPr sz="2100" spc="-5" dirty="0">
                <a:solidFill>
                  <a:srgbClr val="3232FF"/>
                </a:solidFill>
                <a:latin typeface="Times New Roman"/>
                <a:cs typeface="Times New Roman"/>
              </a:rPr>
              <a:t>tr</a:t>
            </a:r>
            <a:r>
              <a:rPr sz="2100" spc="-9" dirty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2100" dirty="0">
                <a:solidFill>
                  <a:srgbClr val="3232FF"/>
                </a:solidFill>
                <a:latin typeface="Times New Roman"/>
                <a:cs typeface="Times New Roman"/>
              </a:rPr>
              <a:t>ng</a:t>
            </a:r>
            <a:r>
              <a:rPr sz="2100" spc="-5" dirty="0">
                <a:solidFill>
                  <a:srgbClr val="3232FF"/>
                </a:solidFill>
                <a:latin typeface="Times New Roman"/>
                <a:cs typeface="Times New Roman"/>
              </a:rPr>
              <a:t>th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5073" y="630213"/>
            <a:ext cx="3492824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2949" y="1820283"/>
            <a:ext cx="3754774" cy="3841309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sz="2800" b="1" dirty="0">
                <a:solidFill>
                  <a:srgbClr val="CC3200"/>
                </a:solidFill>
                <a:latin typeface="Times New Roman"/>
                <a:cs typeface="Times New Roman"/>
              </a:rPr>
              <a:t>Types of</a:t>
            </a:r>
            <a:r>
              <a:rPr sz="2800" b="1" spc="-24" dirty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C3200"/>
                </a:solidFill>
                <a:latin typeface="Times New Roman"/>
                <a:cs typeface="Times New Roman"/>
              </a:rPr>
              <a:t>cohesion</a:t>
            </a:r>
            <a:endParaRPr sz="2800">
              <a:latin typeface="Times New Roman"/>
              <a:cs typeface="Times New Roman"/>
            </a:endParaRPr>
          </a:p>
          <a:p>
            <a:pPr marL="1173630" indent="-429814">
              <a:spcBef>
                <a:spcPts val="2388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003265"/>
                </a:solidFill>
              </a:rPr>
              <a:t>Functional</a:t>
            </a:r>
            <a:r>
              <a:rPr sz="2100" spc="-14" dirty="0">
                <a:solidFill>
                  <a:srgbClr val="003265"/>
                </a:solidFill>
              </a:rPr>
              <a:t> </a:t>
            </a:r>
            <a:r>
              <a:rPr sz="2100" spc="-5" dirty="0">
                <a:solidFill>
                  <a:srgbClr val="003265"/>
                </a:solidFill>
              </a:rPr>
              <a:t>cohesion</a:t>
            </a:r>
            <a:endParaRPr sz="2100"/>
          </a:p>
          <a:p>
            <a:pPr marL="1173630" indent="-429814">
              <a:spcBef>
                <a:spcPts val="1316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329932"/>
                </a:solidFill>
              </a:rPr>
              <a:t>Sequential</a:t>
            </a:r>
            <a:r>
              <a:rPr sz="2100" spc="-33" dirty="0">
                <a:solidFill>
                  <a:srgbClr val="329932"/>
                </a:solidFill>
              </a:rPr>
              <a:t> </a:t>
            </a:r>
            <a:r>
              <a:rPr sz="2100" spc="-5" dirty="0">
                <a:solidFill>
                  <a:srgbClr val="329932"/>
                </a:solidFill>
              </a:rPr>
              <a:t>cohesion</a:t>
            </a:r>
            <a:endParaRPr sz="2100"/>
          </a:p>
          <a:p>
            <a:pPr marL="1173630" indent="-429814">
              <a:spcBef>
                <a:spcPts val="1852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003265"/>
                </a:solidFill>
              </a:rPr>
              <a:t>Procedural</a:t>
            </a:r>
            <a:r>
              <a:rPr sz="2100" spc="-19" dirty="0">
                <a:solidFill>
                  <a:srgbClr val="003265"/>
                </a:solidFill>
              </a:rPr>
              <a:t> </a:t>
            </a:r>
            <a:r>
              <a:rPr sz="2100" spc="-5" dirty="0">
                <a:solidFill>
                  <a:srgbClr val="003265"/>
                </a:solidFill>
              </a:rPr>
              <a:t>cohesion</a:t>
            </a:r>
            <a:endParaRPr sz="2100"/>
          </a:p>
          <a:p>
            <a:pPr marL="1173630" indent="-429814">
              <a:spcBef>
                <a:spcPts val="1467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0032CC"/>
                </a:solidFill>
              </a:rPr>
              <a:t>Temporal</a:t>
            </a:r>
            <a:r>
              <a:rPr sz="2100" spc="-61" dirty="0">
                <a:solidFill>
                  <a:srgbClr val="0032CC"/>
                </a:solidFill>
              </a:rPr>
              <a:t> </a:t>
            </a:r>
            <a:r>
              <a:rPr sz="2100" dirty="0">
                <a:solidFill>
                  <a:srgbClr val="0032CC"/>
                </a:solidFill>
              </a:rPr>
              <a:t>cohesion</a:t>
            </a:r>
            <a:endParaRPr sz="2100"/>
          </a:p>
          <a:p>
            <a:pPr marL="1173630" indent="-429814">
              <a:spcBef>
                <a:spcPts val="1467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003265"/>
                </a:solidFill>
              </a:rPr>
              <a:t>Logical</a:t>
            </a:r>
            <a:r>
              <a:rPr sz="2100" spc="-47" dirty="0">
                <a:solidFill>
                  <a:srgbClr val="003265"/>
                </a:solidFill>
              </a:rPr>
              <a:t> </a:t>
            </a:r>
            <a:r>
              <a:rPr sz="2100" spc="-5" dirty="0">
                <a:solidFill>
                  <a:srgbClr val="003265"/>
                </a:solidFill>
              </a:rPr>
              <a:t>cohesion</a:t>
            </a:r>
            <a:endParaRPr sz="2100"/>
          </a:p>
          <a:p>
            <a:pPr marL="1173630" indent="-429814">
              <a:spcBef>
                <a:spcPts val="1702"/>
              </a:spcBef>
              <a:buFont typeface="DejaVu Sans"/>
              <a:buChar char="➢"/>
              <a:tabLst>
                <a:tab pos="1173630" algn="l"/>
                <a:tab pos="1174227" algn="l"/>
              </a:tabLst>
            </a:pPr>
            <a:r>
              <a:rPr sz="2100" spc="-5" dirty="0">
                <a:solidFill>
                  <a:srgbClr val="329932"/>
                </a:solidFill>
              </a:rPr>
              <a:t>Coincident</a:t>
            </a:r>
            <a:r>
              <a:rPr sz="2100" spc="-33" dirty="0">
                <a:solidFill>
                  <a:srgbClr val="329932"/>
                </a:solidFill>
              </a:rPr>
              <a:t> </a:t>
            </a:r>
            <a:r>
              <a:rPr sz="2100" spc="-5" dirty="0">
                <a:solidFill>
                  <a:srgbClr val="329932"/>
                </a:solidFill>
              </a:rPr>
              <a:t>cohesion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2117" y="630218"/>
            <a:ext cx="4005780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spc="-150" dirty="0">
                <a:solidFill>
                  <a:srgbClr val="323299"/>
                </a:solidFill>
              </a:rPr>
              <a:t>Software</a:t>
            </a:r>
            <a:r>
              <a:rPr spc="-169" dirty="0">
                <a:solidFill>
                  <a:srgbClr val="323299"/>
                </a:solidFill>
              </a:rPr>
              <a:t> </a:t>
            </a:r>
            <a:r>
              <a:rPr spc="-235" dirty="0">
                <a:solidFill>
                  <a:srgbClr val="323299"/>
                </a:solidFill>
              </a:rPr>
              <a:t>Design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11974" y="1735511"/>
          <a:ext cx="6454533" cy="36699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0949"/>
                <a:gridCol w="2823584"/>
              </a:tblGrid>
              <a:tr h="508187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Functional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Best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(high)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59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Sequential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6506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Communicational 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27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Procedural</a:t>
                      </a:r>
                      <a:r>
                        <a:rPr sz="1900" spc="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59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Temporal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9478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Logical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27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Coincidental</a:t>
                      </a:r>
                      <a:r>
                        <a:rPr sz="1900" spc="-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Cohesion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Worst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(low)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617508" y="2311549"/>
            <a:ext cx="187614" cy="2552700"/>
          </a:xfrm>
          <a:custGeom>
            <a:avLst/>
            <a:gdLst/>
            <a:ahLst/>
            <a:cxnLst/>
            <a:rect l="l" t="t" r="r" b="b"/>
            <a:pathLst>
              <a:path w="190500" h="2893060">
                <a:moveTo>
                  <a:pt x="190500" y="188976"/>
                </a:moveTo>
                <a:lnTo>
                  <a:pt x="94488" y="0"/>
                </a:lnTo>
                <a:lnTo>
                  <a:pt x="0" y="190500"/>
                </a:lnTo>
                <a:lnTo>
                  <a:pt x="76200" y="129048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14401" y="129788"/>
                </a:lnTo>
                <a:lnTo>
                  <a:pt x="190500" y="188976"/>
                </a:lnTo>
                <a:close/>
              </a:path>
              <a:path w="190500" h="2893060">
                <a:moveTo>
                  <a:pt x="94488" y="114300"/>
                </a:moveTo>
                <a:lnTo>
                  <a:pt x="76200" y="114300"/>
                </a:lnTo>
                <a:lnTo>
                  <a:pt x="76296" y="128970"/>
                </a:lnTo>
                <a:lnTo>
                  <a:pt x="94488" y="114300"/>
                </a:lnTo>
                <a:close/>
              </a:path>
              <a:path w="190500" h="2893060">
                <a:moveTo>
                  <a:pt x="76296" y="128970"/>
                </a:moveTo>
                <a:lnTo>
                  <a:pt x="76200" y="114300"/>
                </a:lnTo>
                <a:lnTo>
                  <a:pt x="76200" y="129048"/>
                </a:lnTo>
                <a:close/>
              </a:path>
              <a:path w="190500" h="2893060">
                <a:moveTo>
                  <a:pt x="132588" y="2892552"/>
                </a:moveTo>
                <a:lnTo>
                  <a:pt x="114401" y="129788"/>
                </a:lnTo>
                <a:lnTo>
                  <a:pt x="94488" y="114300"/>
                </a:lnTo>
                <a:lnTo>
                  <a:pt x="76296" y="128970"/>
                </a:lnTo>
                <a:lnTo>
                  <a:pt x="94488" y="2892552"/>
                </a:lnTo>
                <a:lnTo>
                  <a:pt x="132588" y="2892552"/>
                </a:lnTo>
                <a:close/>
              </a:path>
              <a:path w="190500" h="2893060">
                <a:moveTo>
                  <a:pt x="114401" y="129788"/>
                </a:moveTo>
                <a:lnTo>
                  <a:pt x="114300" y="114300"/>
                </a:lnTo>
                <a:lnTo>
                  <a:pt x="94488" y="114300"/>
                </a:lnTo>
                <a:lnTo>
                  <a:pt x="114401" y="129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354" y="351524"/>
            <a:ext cx="5294812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Functional 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15604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0367" y="1206713"/>
            <a:ext cx="8293148" cy="966163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286542" marR="5373" indent="-274603" algn="just">
              <a:spcBef>
                <a:spcPts val="2261"/>
              </a:spcBef>
              <a:buFont typeface="DejaVu Sans"/>
              <a:buChar char="➢"/>
              <a:tabLst>
                <a:tab pos="287139" algn="l"/>
              </a:tabLst>
            </a:pPr>
            <a:r>
              <a:rPr sz="2100" spc="-5" dirty="0" smtClean="0">
                <a:solidFill>
                  <a:srgbClr val="329932"/>
                </a:solidFill>
              </a:rPr>
              <a:t>A </a:t>
            </a:r>
            <a:r>
              <a:rPr sz="2100" spc="-5" dirty="0">
                <a:solidFill>
                  <a:srgbClr val="329932"/>
                </a:solidFill>
              </a:rPr>
              <a:t>and B </a:t>
            </a:r>
            <a:r>
              <a:rPr sz="2100" dirty="0">
                <a:solidFill>
                  <a:srgbClr val="329932"/>
                </a:solidFill>
              </a:rPr>
              <a:t>are </a:t>
            </a:r>
            <a:r>
              <a:rPr sz="2100" spc="-5" dirty="0">
                <a:solidFill>
                  <a:srgbClr val="329932"/>
                </a:solidFill>
              </a:rPr>
              <a:t>part of a single functional </a:t>
            </a:r>
            <a:r>
              <a:rPr sz="2100" dirty="0">
                <a:solidFill>
                  <a:srgbClr val="329932"/>
                </a:solidFill>
              </a:rPr>
              <a:t>task. </a:t>
            </a:r>
            <a:r>
              <a:rPr sz="2100" spc="-5" dirty="0">
                <a:solidFill>
                  <a:srgbClr val="329932"/>
                </a:solidFill>
              </a:rPr>
              <a:t>This is very good  reason for </a:t>
            </a:r>
            <a:r>
              <a:rPr sz="2100" dirty="0">
                <a:solidFill>
                  <a:srgbClr val="329932"/>
                </a:solidFill>
              </a:rPr>
              <a:t>them </a:t>
            </a:r>
            <a:r>
              <a:rPr sz="2100" spc="-5" dirty="0">
                <a:solidFill>
                  <a:srgbClr val="329932"/>
                </a:solidFill>
              </a:rPr>
              <a:t>to be contained in the same</a:t>
            </a:r>
            <a:r>
              <a:rPr sz="2100" spc="42" dirty="0">
                <a:solidFill>
                  <a:srgbClr val="329932"/>
                </a:solidFill>
              </a:rPr>
              <a:t> </a:t>
            </a:r>
            <a:r>
              <a:rPr sz="2100" dirty="0">
                <a:solidFill>
                  <a:srgbClr val="329932"/>
                </a:solidFill>
              </a:rPr>
              <a:t>procedure.</a:t>
            </a:r>
            <a:endParaRPr sz="2100" dirty="0"/>
          </a:p>
          <a:p>
            <a:pPr>
              <a:spcBef>
                <a:spcPts val="38"/>
              </a:spcBef>
              <a:buClr>
                <a:srgbClr val="329932"/>
              </a:buClr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07773" y="1976847"/>
            <a:ext cx="579119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LoginSystem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bool</a:t>
            </a:r>
            <a:r>
              <a:rPr lang="en-US" dirty="0" smtClean="0"/>
              <a:t> validate(string user, string pass) {</a:t>
            </a:r>
          </a:p>
          <a:p>
            <a:r>
              <a:rPr lang="en-US" dirty="0" smtClean="0"/>
              <a:t>        return (user == "admin" &amp;&amp; pass == "1234");</a:t>
            </a:r>
          </a:p>
          <a:p>
            <a:r>
              <a:rPr lang="en-US" dirty="0" smtClean="0"/>
              <a:t>    }</a:t>
            </a:r>
          </a:p>
          <a:p>
            <a:r>
              <a:rPr lang="en-US" smtClean="0"/>
              <a:t>    </a:t>
            </a:r>
            <a:r>
              <a:rPr lang="en-US" dirty="0" smtClean="0"/>
              <a:t>void login(string user, string pass) {</a:t>
            </a:r>
          </a:p>
          <a:p>
            <a:r>
              <a:rPr lang="en-US" dirty="0" smtClean="0"/>
              <a:t>        // A: Validate</a:t>
            </a:r>
          </a:p>
          <a:p>
            <a:r>
              <a:rPr lang="en-US" dirty="0" smtClean="0"/>
              <a:t>        if (validate(user, pass)) {</a:t>
            </a:r>
          </a:p>
          <a:p>
            <a:r>
              <a:rPr lang="en-US" dirty="0" smtClean="0"/>
              <a:t>            // B: Grant access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"Login successful"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} else {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"Invalid credentials"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}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1315" y="636624"/>
            <a:ext cx="4955176" cy="688561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/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Sequential 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2950" y="1546347"/>
            <a:ext cx="8293148" cy="658386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286542" marR="4776" indent="-274603">
              <a:spcBef>
                <a:spcPts val="1274"/>
              </a:spcBef>
              <a:buFont typeface="DejaVu Sans"/>
              <a:buChar char="➢"/>
              <a:tabLst>
                <a:tab pos="287139" algn="l"/>
              </a:tabLst>
            </a:pPr>
            <a:r>
              <a:rPr sz="2100" spc="-5" dirty="0" smtClean="0">
                <a:solidFill>
                  <a:srgbClr val="329932"/>
                </a:solidFill>
              </a:rPr>
              <a:t>Module </a:t>
            </a:r>
            <a:r>
              <a:rPr sz="2100" spc="-5" dirty="0">
                <a:solidFill>
                  <a:srgbClr val="329932"/>
                </a:solidFill>
              </a:rPr>
              <a:t>A outputs some data which forms the input to B. This </a:t>
            </a:r>
            <a:r>
              <a:rPr sz="2100" spc="-9" dirty="0">
                <a:solidFill>
                  <a:srgbClr val="329932"/>
                </a:solidFill>
              </a:rPr>
              <a:t>is  </a:t>
            </a:r>
            <a:r>
              <a:rPr sz="2100" spc="-5" dirty="0">
                <a:solidFill>
                  <a:srgbClr val="329932"/>
                </a:solidFill>
              </a:rPr>
              <a:t>the reason </a:t>
            </a:r>
            <a:r>
              <a:rPr sz="2100" dirty="0">
                <a:solidFill>
                  <a:srgbClr val="329932"/>
                </a:solidFill>
              </a:rPr>
              <a:t>for them </a:t>
            </a:r>
            <a:r>
              <a:rPr sz="2100" spc="-5" dirty="0">
                <a:solidFill>
                  <a:srgbClr val="329932"/>
                </a:solidFill>
              </a:rPr>
              <a:t>to </a:t>
            </a:r>
            <a:r>
              <a:rPr sz="2100" dirty="0">
                <a:solidFill>
                  <a:srgbClr val="329932"/>
                </a:solidFill>
              </a:rPr>
              <a:t>be </a:t>
            </a:r>
            <a:r>
              <a:rPr sz="2100" spc="-5" dirty="0">
                <a:solidFill>
                  <a:srgbClr val="329932"/>
                </a:solidFill>
              </a:rPr>
              <a:t>contained in the same</a:t>
            </a:r>
            <a:r>
              <a:rPr sz="2100" spc="56" dirty="0">
                <a:solidFill>
                  <a:srgbClr val="329932"/>
                </a:solidFill>
              </a:rPr>
              <a:t> </a:t>
            </a:r>
            <a:r>
              <a:rPr sz="2100" spc="-5" dirty="0">
                <a:solidFill>
                  <a:srgbClr val="329932"/>
                </a:solidFill>
              </a:rPr>
              <a:t>procedure.</a:t>
            </a:r>
            <a:endParaRPr sz="2100" dirty="0"/>
          </a:p>
        </p:txBody>
      </p:sp>
      <p:sp>
        <p:nvSpPr>
          <p:cNvPr id="5" name="TextBox 4"/>
          <p:cNvSpPr txBox="1"/>
          <p:nvPr/>
        </p:nvSpPr>
        <p:spPr>
          <a:xfrm>
            <a:off x="2290356" y="2325180"/>
            <a:ext cx="579119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smtClean="0"/>
              <a:t>class </a:t>
            </a:r>
            <a:r>
              <a:rPr lang="en-US" dirty="0" err="1" smtClean="0"/>
              <a:t>ResultProcessing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getMarks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    return 80;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calculateTotal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marks) {</a:t>
            </a:r>
          </a:p>
          <a:p>
            <a:r>
              <a:rPr lang="en-US" dirty="0" smtClean="0"/>
              <a:t>        return marks + 20;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char </a:t>
            </a:r>
            <a:r>
              <a:rPr lang="en-US" dirty="0" err="1" smtClean="0"/>
              <a:t>calculateGrade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total) {</a:t>
            </a:r>
          </a:p>
          <a:p>
            <a:r>
              <a:rPr lang="en-US" dirty="0" smtClean="0"/>
              <a:t>        if (total &gt;= 90) return 'A';</a:t>
            </a:r>
          </a:p>
          <a:p>
            <a:r>
              <a:rPr lang="en-US" dirty="0" smtClean="0"/>
              <a:t>        else return 'B';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void display(char grade)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"Grade: " &lt;&lt; grade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91" y="638921"/>
            <a:ext cx="5557449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lang="en-US" b="1" dirty="0" smtClean="0">
                <a:solidFill>
                  <a:srgbClr val="CC3200"/>
                </a:solidFill>
                <a:latin typeface="Times New Roman"/>
                <a:cs typeface="Times New Roman"/>
              </a:rPr>
              <a:t>Procedural</a:t>
            </a:r>
            <a:r>
              <a:rPr lang="en-US" b="1" spc="-52" dirty="0" smtClean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2812" y="1607306"/>
            <a:ext cx="8630194" cy="981552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231025" marR="4776" indent="-219086" algn="just">
              <a:spcBef>
                <a:spcPts val="1274"/>
              </a:spcBef>
              <a:buFont typeface="DejaVu Sans"/>
              <a:buChar char="➢"/>
              <a:tabLst>
                <a:tab pos="231621" algn="l"/>
              </a:tabLst>
            </a:pPr>
            <a:r>
              <a:rPr lang="en-US" sz="2100" spc="-5" dirty="0" smtClean="0">
                <a:solidFill>
                  <a:srgbClr val="329932"/>
                </a:solidFill>
              </a:rPr>
              <a:t>Procedural Cohesion occurs	in modules whose instructions although accomplish different tasks yet have	been combined because  there	is a specific order in which the tasks are to be  completed.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0356" y="3039293"/>
            <a:ext cx="51119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r>
              <a:rPr lang="en-US" dirty="0" smtClean="0"/>
              <a:t>class ATM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withdraw()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"Insert Card"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"Enter PIN"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"Select Withdrawal"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"Enter Amount"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"Dispense Cash"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91" y="529916"/>
            <a:ext cx="5557449" cy="919394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1838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Temporal 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766" y="1598598"/>
            <a:ext cx="9030788" cy="658386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231025" marR="4776" indent="-219086" algn="just">
              <a:spcBef>
                <a:spcPts val="1274"/>
              </a:spcBef>
              <a:buFont typeface="DejaVu Sans"/>
              <a:buChar char="➢"/>
              <a:tabLst>
                <a:tab pos="231621" algn="l"/>
              </a:tabLst>
            </a:pPr>
            <a:r>
              <a:rPr lang="en-US" sz="2100" spc="-5" dirty="0" smtClean="0">
                <a:solidFill>
                  <a:srgbClr val="329932"/>
                </a:solidFill>
              </a:rPr>
              <a:t>Module exhibits temporal cohesion when it contains </a:t>
            </a:r>
            <a:r>
              <a:rPr lang="en-US" sz="2100" dirty="0" smtClean="0">
                <a:solidFill>
                  <a:srgbClr val="329932"/>
                </a:solidFill>
              </a:rPr>
              <a:t>tasks </a:t>
            </a:r>
            <a:r>
              <a:rPr lang="en-US" sz="2100" spc="-5" dirty="0" smtClean="0">
                <a:solidFill>
                  <a:srgbClr val="329932"/>
                </a:solidFill>
              </a:rPr>
              <a:t>that  are related by the fact that all </a:t>
            </a:r>
            <a:r>
              <a:rPr lang="en-US" sz="2100" spc="-9" dirty="0" smtClean="0">
                <a:solidFill>
                  <a:srgbClr val="329932"/>
                </a:solidFill>
              </a:rPr>
              <a:t>tasks </a:t>
            </a:r>
            <a:r>
              <a:rPr lang="en-US" sz="2100" spc="-5" dirty="0" smtClean="0">
                <a:solidFill>
                  <a:srgbClr val="329932"/>
                </a:solidFill>
              </a:rPr>
              <a:t>must be executed in the  same </a:t>
            </a:r>
            <a:r>
              <a:rPr lang="en-US" sz="2100" dirty="0" smtClean="0">
                <a:solidFill>
                  <a:srgbClr val="329932"/>
                </a:solidFill>
              </a:rPr>
              <a:t>time-span.</a:t>
            </a:r>
            <a:endParaRPr lang="en-US" sz="2100" dirty="0"/>
          </a:p>
        </p:txBody>
      </p:sp>
      <p:sp>
        <p:nvSpPr>
          <p:cNvPr id="5" name="TextBox 4"/>
          <p:cNvSpPr txBox="1"/>
          <p:nvPr/>
        </p:nvSpPr>
        <p:spPr>
          <a:xfrm>
            <a:off x="2420984" y="2394858"/>
            <a:ext cx="446749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smtClean="0"/>
              <a:t>class </a:t>
            </a:r>
            <a:r>
              <a:rPr lang="en-US" dirty="0" err="1" smtClean="0"/>
              <a:t>SystemInit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initialize()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"Loading configuration..."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"Connecting to database..."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"Starting services..."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91" y="645332"/>
            <a:ext cx="5557449" cy="688561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76104"/>
            <a:r>
              <a:rPr lang="en-US" b="1" dirty="0" smtClean="0">
                <a:solidFill>
                  <a:srgbClr val="CC3200"/>
                </a:solidFill>
                <a:latin typeface="Times New Roman"/>
                <a:cs typeface="Times New Roman"/>
              </a:rPr>
              <a:t>Logical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 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5202" y="1598598"/>
            <a:ext cx="8291897" cy="658386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450110" marR="4776" indent="-273409" algn="just">
              <a:spcBef>
                <a:spcPts val="1274"/>
              </a:spcBef>
              <a:buFont typeface="DejaVu Sans"/>
              <a:buChar char="➢"/>
              <a:tabLst>
                <a:tab pos="450707" algn="l"/>
              </a:tabLst>
            </a:pPr>
            <a:r>
              <a:rPr sz="2100" spc="-5" dirty="0" smtClean="0">
                <a:solidFill>
                  <a:srgbClr val="329932"/>
                </a:solidFill>
              </a:rPr>
              <a:t>Coincidental </a:t>
            </a:r>
            <a:r>
              <a:rPr sz="2100" spc="-5" dirty="0">
                <a:solidFill>
                  <a:srgbClr val="329932"/>
                </a:solidFill>
              </a:rPr>
              <a:t>cohesion exists in modules that </a:t>
            </a:r>
            <a:r>
              <a:rPr sz="2100" dirty="0">
                <a:solidFill>
                  <a:srgbClr val="329932"/>
                </a:solidFill>
              </a:rPr>
              <a:t>contain  </a:t>
            </a:r>
            <a:r>
              <a:rPr sz="2100" spc="-5" dirty="0">
                <a:solidFill>
                  <a:srgbClr val="329932"/>
                </a:solidFill>
              </a:rPr>
              <a:t>instructions that have </a:t>
            </a:r>
            <a:r>
              <a:rPr sz="2100" dirty="0">
                <a:solidFill>
                  <a:srgbClr val="329932"/>
                </a:solidFill>
              </a:rPr>
              <a:t>little </a:t>
            </a:r>
            <a:r>
              <a:rPr sz="2100" spc="-5" dirty="0">
                <a:solidFill>
                  <a:srgbClr val="329932"/>
                </a:solidFill>
              </a:rPr>
              <a:t>or no relationship to one</a:t>
            </a:r>
            <a:r>
              <a:rPr sz="2100" spc="56" dirty="0">
                <a:solidFill>
                  <a:srgbClr val="329932"/>
                </a:solidFill>
              </a:rPr>
              <a:t> </a:t>
            </a:r>
            <a:r>
              <a:rPr sz="2100" spc="-5" dirty="0">
                <a:solidFill>
                  <a:srgbClr val="329932"/>
                </a:solidFill>
              </a:rPr>
              <a:t>another.</a:t>
            </a:r>
            <a:endParaRPr sz="2100" dirty="0"/>
          </a:p>
        </p:txBody>
      </p:sp>
      <p:sp>
        <p:nvSpPr>
          <p:cNvPr id="5" name="TextBox 4"/>
          <p:cNvSpPr txBox="1"/>
          <p:nvPr/>
        </p:nvSpPr>
        <p:spPr>
          <a:xfrm>
            <a:off x="2420984" y="2394858"/>
            <a:ext cx="53296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smtClean="0"/>
              <a:t>class </a:t>
            </a:r>
            <a:r>
              <a:rPr lang="en-US" dirty="0" err="1" smtClean="0"/>
              <a:t>CustomerService</a:t>
            </a:r>
            <a:r>
              <a:rPr lang="en-US" dirty="0" smtClean="0"/>
              <a:t>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</a:t>
            </a:r>
            <a:r>
              <a:rPr lang="en-US" dirty="0" err="1" smtClean="0"/>
              <a:t>handleRequest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type) {</a:t>
            </a:r>
          </a:p>
          <a:p>
            <a:r>
              <a:rPr lang="en-US" dirty="0" smtClean="0"/>
              <a:t>        if (type == 1)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"Processing return"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else if (type == 2)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"Handling complaint"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else if (type == 3)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"Providing information"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91" y="645332"/>
            <a:ext cx="5557449" cy="688561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76104"/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Coincidental Cohesion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5202" y="1598598"/>
            <a:ext cx="8291897" cy="658386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450110" marR="4776" indent="-273409" algn="just">
              <a:spcBef>
                <a:spcPts val="1274"/>
              </a:spcBef>
              <a:buFont typeface="DejaVu Sans"/>
              <a:buChar char="➢"/>
              <a:tabLst>
                <a:tab pos="450707" algn="l"/>
              </a:tabLst>
            </a:pPr>
            <a:r>
              <a:rPr sz="2100" spc="-5" dirty="0" smtClean="0">
                <a:solidFill>
                  <a:srgbClr val="329932"/>
                </a:solidFill>
              </a:rPr>
              <a:t>Coincidental </a:t>
            </a:r>
            <a:r>
              <a:rPr sz="2100" spc="-5" dirty="0">
                <a:solidFill>
                  <a:srgbClr val="329932"/>
                </a:solidFill>
              </a:rPr>
              <a:t>cohesion exists in modules that </a:t>
            </a:r>
            <a:r>
              <a:rPr sz="2100" dirty="0">
                <a:solidFill>
                  <a:srgbClr val="329932"/>
                </a:solidFill>
              </a:rPr>
              <a:t>contain  </a:t>
            </a:r>
            <a:r>
              <a:rPr sz="2100" spc="-5" dirty="0">
                <a:solidFill>
                  <a:srgbClr val="329932"/>
                </a:solidFill>
              </a:rPr>
              <a:t>instructions that have </a:t>
            </a:r>
            <a:r>
              <a:rPr sz="2100" dirty="0">
                <a:solidFill>
                  <a:srgbClr val="329932"/>
                </a:solidFill>
              </a:rPr>
              <a:t>little </a:t>
            </a:r>
            <a:r>
              <a:rPr sz="2100" spc="-5" dirty="0">
                <a:solidFill>
                  <a:srgbClr val="329932"/>
                </a:solidFill>
              </a:rPr>
              <a:t>or no relationship to one</a:t>
            </a:r>
            <a:r>
              <a:rPr sz="2100" spc="56" dirty="0">
                <a:solidFill>
                  <a:srgbClr val="329932"/>
                </a:solidFill>
              </a:rPr>
              <a:t> </a:t>
            </a:r>
            <a:r>
              <a:rPr sz="2100" spc="-5" dirty="0">
                <a:solidFill>
                  <a:srgbClr val="329932"/>
                </a:solidFill>
              </a:rPr>
              <a:t>another.</a:t>
            </a:r>
            <a:endParaRPr sz="2100" dirty="0"/>
          </a:p>
        </p:txBody>
      </p:sp>
      <p:sp>
        <p:nvSpPr>
          <p:cNvPr id="5" name="TextBox 4"/>
          <p:cNvSpPr txBox="1"/>
          <p:nvPr/>
        </p:nvSpPr>
        <p:spPr>
          <a:xfrm>
            <a:off x="3143794" y="2394858"/>
            <a:ext cx="42584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smtClean="0"/>
              <a:t>class Utility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</a:t>
            </a:r>
            <a:r>
              <a:rPr lang="en-US" dirty="0" err="1" smtClean="0"/>
              <a:t>printMessage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"Hello"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add(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{</a:t>
            </a:r>
          </a:p>
          <a:p>
            <a:r>
              <a:rPr lang="en-US" dirty="0" smtClean="0"/>
              <a:t>        return a + b;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  <a:p>
            <a:r>
              <a:rPr lang="en-US" dirty="0" smtClean="0"/>
              <a:t>    void </a:t>
            </a:r>
            <a:r>
              <a:rPr lang="en-US" dirty="0" err="1" smtClean="0"/>
              <a:t>saveToFile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"Saving to file..."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37110" y="1533805"/>
          <a:ext cx="6003636" cy="3068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7136"/>
                <a:gridCol w="2476500"/>
              </a:tblGrid>
              <a:tr h="51210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5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137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5" dirty="0">
                          <a:solidFill>
                            <a:srgbClr val="650065"/>
                          </a:solidFill>
                          <a:latin typeface="Arial"/>
                          <a:cs typeface="Arial"/>
                        </a:rPr>
                        <a:t>Best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13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9307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spc="-5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Stamp </a:t>
                      </a: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22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spc="-5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210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5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External </a:t>
                      </a: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137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9307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Common 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137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2109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r>
                        <a:rPr sz="2500" spc="-15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solidFill>
                            <a:srgbClr val="3232FF"/>
                          </a:solidFill>
                          <a:latin typeface="Arial"/>
                          <a:cs typeface="Arial"/>
                        </a:rPr>
                        <a:t>coupling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dirty="0">
                          <a:solidFill>
                            <a:srgbClr val="650065"/>
                          </a:solidFill>
                          <a:latin typeface="Arial"/>
                          <a:cs typeface="Arial"/>
                        </a:rPr>
                        <a:t>Worst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30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584488" y="2084294"/>
            <a:ext cx="187614" cy="2017059"/>
          </a:xfrm>
          <a:custGeom>
            <a:avLst/>
            <a:gdLst/>
            <a:ahLst/>
            <a:cxnLst/>
            <a:rect l="l" t="t" r="r" b="b"/>
            <a:pathLst>
              <a:path w="190500" h="2286000">
                <a:moveTo>
                  <a:pt x="190500" y="190500"/>
                </a:moveTo>
                <a:lnTo>
                  <a:pt x="96012" y="0"/>
                </a:lnTo>
                <a:lnTo>
                  <a:pt x="0" y="190500"/>
                </a:lnTo>
                <a:lnTo>
                  <a:pt x="76200" y="130023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14300" y="129048"/>
                </a:lnTo>
                <a:lnTo>
                  <a:pt x="190500" y="190500"/>
                </a:lnTo>
                <a:close/>
              </a:path>
              <a:path w="190500" h="2286000">
                <a:moveTo>
                  <a:pt x="96012" y="114300"/>
                </a:moveTo>
                <a:lnTo>
                  <a:pt x="76200" y="114300"/>
                </a:lnTo>
                <a:lnTo>
                  <a:pt x="76200" y="130023"/>
                </a:lnTo>
                <a:lnTo>
                  <a:pt x="96012" y="114300"/>
                </a:lnTo>
                <a:close/>
              </a:path>
              <a:path w="190500" h="2286000">
                <a:moveTo>
                  <a:pt x="114300" y="2286000"/>
                </a:moveTo>
                <a:lnTo>
                  <a:pt x="114300" y="129048"/>
                </a:lnTo>
                <a:lnTo>
                  <a:pt x="96012" y="114300"/>
                </a:lnTo>
                <a:lnTo>
                  <a:pt x="76200" y="130023"/>
                </a:lnTo>
                <a:lnTo>
                  <a:pt x="76200" y="2286000"/>
                </a:lnTo>
                <a:lnTo>
                  <a:pt x="114300" y="2286000"/>
                </a:lnTo>
                <a:close/>
              </a:path>
              <a:path w="190500" h="2286000">
                <a:moveTo>
                  <a:pt x="114300" y="129048"/>
                </a:moveTo>
                <a:lnTo>
                  <a:pt x="114300" y="114300"/>
                </a:lnTo>
                <a:lnTo>
                  <a:pt x="96012" y="114300"/>
                </a:lnTo>
                <a:lnTo>
                  <a:pt x="114300" y="1290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7995" y="4726190"/>
            <a:ext cx="8321916" cy="1181607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1939" marR="4776"/>
            <a:r>
              <a:rPr sz="2600" spc="-5" dirty="0">
                <a:solidFill>
                  <a:srgbClr val="CC3200"/>
                </a:solidFill>
                <a:latin typeface="Times New Roman"/>
                <a:cs typeface="Times New Roman"/>
              </a:rPr>
              <a:t>Given two procedures A &amp; </a:t>
            </a:r>
            <a:r>
              <a:rPr sz="2600" dirty="0">
                <a:solidFill>
                  <a:srgbClr val="CC3200"/>
                </a:solidFill>
                <a:latin typeface="Times New Roman"/>
                <a:cs typeface="Times New Roman"/>
              </a:rPr>
              <a:t>B, </a:t>
            </a:r>
            <a:r>
              <a:rPr sz="2600" spc="-5" dirty="0">
                <a:solidFill>
                  <a:srgbClr val="CC3200"/>
                </a:solidFill>
                <a:latin typeface="Times New Roman"/>
                <a:cs typeface="Times New Roman"/>
              </a:rPr>
              <a:t>we </a:t>
            </a:r>
            <a:r>
              <a:rPr sz="2600" spc="-9" dirty="0">
                <a:solidFill>
                  <a:srgbClr val="CC3200"/>
                </a:solidFill>
                <a:latin typeface="Times New Roman"/>
                <a:cs typeface="Times New Roman"/>
              </a:rPr>
              <a:t>can </a:t>
            </a:r>
            <a:r>
              <a:rPr sz="2600" spc="-5" dirty="0">
                <a:solidFill>
                  <a:srgbClr val="CC3200"/>
                </a:solidFill>
                <a:latin typeface="Times New Roman"/>
                <a:cs typeface="Times New Roman"/>
              </a:rPr>
              <a:t>identify </a:t>
            </a:r>
            <a:r>
              <a:rPr sz="2600" spc="-9" dirty="0">
                <a:solidFill>
                  <a:srgbClr val="CC3200"/>
                </a:solidFill>
                <a:latin typeface="Times New Roman"/>
                <a:cs typeface="Times New Roman"/>
              </a:rPr>
              <a:t>number </a:t>
            </a:r>
            <a:r>
              <a:rPr sz="2600" spc="5" dirty="0">
                <a:solidFill>
                  <a:srgbClr val="CC3200"/>
                </a:solidFill>
                <a:latin typeface="Times New Roman"/>
                <a:cs typeface="Times New Roman"/>
              </a:rPr>
              <a:t>of  </a:t>
            </a:r>
            <a:r>
              <a:rPr sz="2600" spc="-5" dirty="0">
                <a:solidFill>
                  <a:srgbClr val="CC3200"/>
                </a:solidFill>
                <a:latin typeface="Times New Roman"/>
                <a:cs typeface="Times New Roman"/>
              </a:rPr>
              <a:t>ways in which </a:t>
            </a:r>
            <a:r>
              <a:rPr sz="2600" spc="-9" dirty="0">
                <a:solidFill>
                  <a:srgbClr val="CC3200"/>
                </a:solidFill>
                <a:latin typeface="Times New Roman"/>
                <a:cs typeface="Times New Roman"/>
              </a:rPr>
              <a:t>they can </a:t>
            </a:r>
            <a:r>
              <a:rPr sz="2600" dirty="0">
                <a:solidFill>
                  <a:srgbClr val="CC3200"/>
                </a:solidFill>
                <a:latin typeface="Times New Roman"/>
                <a:cs typeface="Times New Roman"/>
              </a:rPr>
              <a:t>be</a:t>
            </a:r>
            <a:r>
              <a:rPr sz="2600" spc="14" dirty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CC3200"/>
                </a:solidFill>
                <a:latin typeface="Times New Roman"/>
                <a:cs typeface="Times New Roman"/>
              </a:rPr>
              <a:t>coupled.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3561" y="619066"/>
            <a:ext cx="3860814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lang="en-US" spc="-150" dirty="0" smtClean="0">
                <a:solidFill>
                  <a:srgbClr val="323299"/>
                </a:solidFill>
              </a:rPr>
              <a:t>Coupling</a:t>
            </a:r>
            <a:endParaRPr spc="-235" dirty="0">
              <a:solidFill>
                <a:srgbClr val="3232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589" y="220910"/>
            <a:ext cx="3894268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89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Data</a:t>
            </a:r>
            <a:r>
              <a:rPr lang="en-US" b="1" dirty="0" smtClean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coupling</a:t>
            </a:r>
            <a:endParaRPr spc="-235" dirty="0">
              <a:solidFill>
                <a:srgbClr val="323299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865" y="92963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5743" y="1104726"/>
            <a:ext cx="8725308" cy="1719047"/>
          </a:xfrm>
          <a:prstGeom prst="rect">
            <a:avLst/>
          </a:prstGeom>
        </p:spPr>
        <p:txBody>
          <a:bodyPr vert="horz" wrap="square" lIns="0" tIns="239382" rIns="0" bIns="0" rtlCol="0">
            <a:spAutoFit/>
          </a:bodyPr>
          <a:lstStyle/>
          <a:p>
            <a:pPr marL="11939" algn="just">
              <a:spcBef>
                <a:spcPts val="1561"/>
              </a:spcBef>
              <a:tabLst>
                <a:tab pos="2213541" algn="l"/>
                <a:tab pos="3368664" algn="l"/>
                <a:tab pos="4419918" algn="l"/>
                <a:tab pos="4765560" algn="l"/>
                <a:tab pos="5333869" algn="l"/>
                <a:tab pos="5988738" algn="l"/>
                <a:tab pos="6608982" algn="l"/>
                <a:tab pos="6973130" algn="l"/>
                <a:tab pos="7387423" algn="l"/>
              </a:tabLst>
            </a:pP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e </a:t>
            </a:r>
            <a:r>
              <a:rPr sz="2400" spc="-291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p</a:t>
            </a:r>
            <a:r>
              <a:rPr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y	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b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et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w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ee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n	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m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u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l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e	A	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	B </a:t>
            </a:r>
            <a:r>
              <a:rPr sz="2400" spc="-287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s	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sai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	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o	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b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e	</a:t>
            </a:r>
            <a:r>
              <a:rPr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at</a:t>
            </a: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up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l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f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ei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r 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p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nd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y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i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s 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b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ase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 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n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e	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f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y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communicate by only passing of data. Other than communicating through data, the two modules are independent.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6687" y="2952206"/>
            <a:ext cx="26386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r>
              <a:rPr lang="en-US" dirty="0" smtClean="0"/>
              <a:t>class Calculator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add(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{</a:t>
            </a:r>
          </a:p>
          <a:p>
            <a:r>
              <a:rPr lang="en-US" dirty="0" smtClean="0"/>
              <a:t>        return a + b;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{</a:t>
            </a:r>
          </a:p>
          <a:p>
            <a:r>
              <a:rPr lang="en-US" dirty="0" smtClean="0"/>
              <a:t>    Calculator </a:t>
            </a:r>
            <a:r>
              <a:rPr lang="en-US" dirty="0" err="1" smtClean="0"/>
              <a:t>obj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obj.add</a:t>
            </a:r>
            <a:r>
              <a:rPr lang="en-US" dirty="0" smtClean="0"/>
              <a:t>(5, 3);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302034" y="2947837"/>
            <a:ext cx="485067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#include &lt;</a:t>
            </a:r>
            <a:r>
              <a:rPr lang="en-US" dirty="0" err="1" smtClean="0">
                <a:solidFill>
                  <a:srgbClr val="FF0000"/>
                </a:solidFill>
              </a:rPr>
              <a:t>iostream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namespace std;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Calculator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add(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a,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b)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return a + b;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User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compute()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Calculator c;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result = </a:t>
            </a:r>
            <a:r>
              <a:rPr lang="en-US" dirty="0" err="1" smtClean="0">
                <a:solidFill>
                  <a:srgbClr val="FF0000"/>
                </a:solidFill>
              </a:rPr>
              <a:t>c.add</a:t>
            </a:r>
            <a:r>
              <a:rPr lang="en-US" dirty="0" smtClean="0">
                <a:solidFill>
                  <a:srgbClr val="FF0000"/>
                </a:solidFill>
              </a:rPr>
              <a:t>(5, 3);  // only required data passed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cout</a:t>
            </a:r>
            <a:r>
              <a:rPr lang="en-US" dirty="0" smtClean="0">
                <a:solidFill>
                  <a:srgbClr val="FF0000"/>
                </a:solidFill>
              </a:rPr>
              <a:t> &lt;&lt; "Result: " &lt;&lt; result &lt;&lt; </a:t>
            </a:r>
            <a:r>
              <a:rPr lang="en-US" dirty="0" err="1" smtClean="0">
                <a:solidFill>
                  <a:srgbClr val="FF0000"/>
                </a:solidFill>
              </a:rPr>
              <a:t>endl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589" y="-47602"/>
            <a:ext cx="3894268" cy="932218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1927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Stamp</a:t>
            </a:r>
            <a:r>
              <a:rPr lang="en-US" b="1" dirty="0" smtClean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coupling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865" y="92963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5743" y="1088572"/>
            <a:ext cx="8037331" cy="980383"/>
          </a:xfrm>
          <a:prstGeom prst="rect">
            <a:avLst/>
          </a:prstGeom>
        </p:spPr>
        <p:txBody>
          <a:bodyPr vert="horz" wrap="square" lIns="0" tIns="239382" rIns="0" bIns="0" rtlCol="0">
            <a:spAutoFit/>
          </a:bodyPr>
          <a:lstStyle/>
          <a:p>
            <a:pPr marL="11939" marR="4776" algn="just">
              <a:lnSpc>
                <a:spcPct val="100400"/>
              </a:lnSpc>
              <a:spcBef>
                <a:spcPts val="1579"/>
              </a:spcBef>
              <a:tabLst>
                <a:tab pos="1017226" algn="l"/>
                <a:tab pos="2316815" algn="l"/>
                <a:tab pos="3337026" algn="l"/>
                <a:tab pos="4581695" algn="l"/>
                <a:tab pos="5722492" algn="l"/>
                <a:tab pos="6157679" algn="l"/>
                <a:tab pos="6814338" algn="l"/>
                <a:tab pos="7232213" algn="l"/>
              </a:tabLst>
            </a:pP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S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ta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m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p	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u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p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li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g	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c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u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r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s	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b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et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w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n	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m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o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d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u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l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e	A	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a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n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	B	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w</a:t>
            </a:r>
            <a:r>
              <a:rPr lang="en-US" sz="2400" spc="5" dirty="0" smtClean="0">
                <a:solidFill>
                  <a:srgbClr val="3232FF"/>
                </a:solidFill>
                <a:latin typeface="Times New Roman"/>
                <a:cs typeface="Times New Roman"/>
              </a:rPr>
              <a:t>h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e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n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complete data structure is passed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from one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module to</a:t>
            </a:r>
            <a:r>
              <a:rPr lang="en-US" sz="2400" spc="14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another.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6423" y="2185852"/>
            <a:ext cx="52338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err="1" smtClean="0"/>
              <a:t>struct</a:t>
            </a:r>
            <a:r>
              <a:rPr lang="en-US" dirty="0" smtClean="0"/>
              <a:t> Student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id;</a:t>
            </a:r>
          </a:p>
          <a:p>
            <a:r>
              <a:rPr lang="en-US" dirty="0" smtClean="0"/>
              <a:t>    string name;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age;</a:t>
            </a:r>
          </a:p>
          <a:p>
            <a:r>
              <a:rPr lang="en-US" dirty="0" smtClean="0"/>
              <a:t>    string address;</a:t>
            </a:r>
          </a:p>
          <a:p>
            <a:r>
              <a:rPr lang="en-US" dirty="0" smtClean="0"/>
              <a:t>};</a:t>
            </a:r>
          </a:p>
          <a:p>
            <a:endParaRPr lang="en-US" dirty="0" smtClean="0"/>
          </a:p>
          <a:p>
            <a:r>
              <a:rPr lang="en-US" dirty="0" smtClean="0"/>
              <a:t>class Printer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</a:t>
            </a:r>
            <a:r>
              <a:rPr lang="en-US" dirty="0" err="1" smtClean="0"/>
              <a:t>printName</a:t>
            </a:r>
            <a:r>
              <a:rPr lang="en-US" dirty="0" smtClean="0"/>
              <a:t>(Student s)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"Name: " &lt;&lt; s.name &lt;&lt; </a:t>
            </a:r>
            <a:r>
              <a:rPr lang="en-US" dirty="0" err="1" smtClean="0"/>
              <a:t>endl</a:t>
            </a:r>
            <a:r>
              <a:rPr lang="en-US" dirty="0" smtClean="0"/>
              <a:t>;  // Only name is used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60274" y="2168434"/>
            <a:ext cx="433686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#include &lt;</a:t>
            </a:r>
            <a:r>
              <a:rPr lang="en-US" dirty="0" err="1" smtClean="0">
                <a:solidFill>
                  <a:srgbClr val="FF0000"/>
                </a:solidFill>
              </a:rPr>
              <a:t>iostream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namespace std;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struct</a:t>
            </a:r>
            <a:r>
              <a:rPr lang="en-US" dirty="0" smtClean="0">
                <a:solidFill>
                  <a:srgbClr val="FF0000"/>
                </a:solidFill>
              </a:rPr>
              <a:t> Student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id;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string name;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age;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Printer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printName</a:t>
            </a:r>
            <a:r>
              <a:rPr lang="en-US" dirty="0" smtClean="0">
                <a:solidFill>
                  <a:srgbClr val="FF0000"/>
                </a:solidFill>
              </a:rPr>
              <a:t>(Student s)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cout</a:t>
            </a:r>
            <a:r>
              <a:rPr lang="en-US" dirty="0" smtClean="0">
                <a:solidFill>
                  <a:srgbClr val="FF0000"/>
                </a:solidFill>
              </a:rPr>
              <a:t> &lt;&lt; s.name &lt;&lt; </a:t>
            </a:r>
            <a:r>
              <a:rPr lang="en-US" dirty="0" err="1" smtClean="0">
                <a:solidFill>
                  <a:srgbClr val="FF0000"/>
                </a:solidFill>
              </a:rPr>
              <a:t>endl</a:t>
            </a:r>
            <a:r>
              <a:rPr lang="en-US" dirty="0" smtClean="0">
                <a:solidFill>
                  <a:srgbClr val="FF0000"/>
                </a:solidFill>
              </a:rPr>
              <a:t>;  // only name used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User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execute()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Student s = {1, "</a:t>
            </a:r>
            <a:r>
              <a:rPr lang="en-US" dirty="0" err="1" smtClean="0">
                <a:solidFill>
                  <a:srgbClr val="FF0000"/>
                </a:solidFill>
              </a:rPr>
              <a:t>Rahul</a:t>
            </a:r>
            <a:r>
              <a:rPr lang="en-US" dirty="0" smtClean="0">
                <a:solidFill>
                  <a:srgbClr val="FF0000"/>
                </a:solidFill>
              </a:rPr>
              <a:t>", 20};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Printer p;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p.printName</a:t>
            </a:r>
            <a:r>
              <a:rPr lang="en-US" dirty="0" smtClean="0">
                <a:solidFill>
                  <a:srgbClr val="FF0000"/>
                </a:solidFill>
              </a:rPr>
              <a:t>(s);  // whole object passed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589" y="86875"/>
            <a:ext cx="5423422" cy="855274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1302"/>
              </a:spcBef>
            </a:pPr>
            <a:r>
              <a:rPr lang="en-US" b="1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Control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 coupling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865" y="92963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3160" y="836024"/>
            <a:ext cx="8037331" cy="1719047"/>
          </a:xfrm>
          <a:prstGeom prst="rect">
            <a:avLst/>
          </a:prstGeom>
        </p:spPr>
        <p:txBody>
          <a:bodyPr vert="horz" wrap="square" lIns="0" tIns="239382" rIns="0" bIns="0" rtlCol="0">
            <a:spAutoFit/>
          </a:bodyPr>
          <a:lstStyle/>
          <a:p>
            <a:pPr marL="11939" marR="5970" algn="just">
              <a:spcBef>
                <a:spcPts val="1048"/>
              </a:spcBef>
            </a:pP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Module A and B 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are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said to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be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control coupled 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if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they 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communicate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by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passing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of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control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information.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This is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usually 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accomplished by means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of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flags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that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are set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by one module 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and 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reacted upon by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the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dependent</a:t>
            </a:r>
            <a:r>
              <a:rPr lang="en-US" sz="2400" spc="-28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module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9633" y="2525487"/>
            <a:ext cx="44849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r>
              <a:rPr lang="en-US" dirty="0" smtClean="0"/>
              <a:t>class Printer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print(</a:t>
            </a:r>
            <a:r>
              <a:rPr lang="en-US" dirty="0" err="1" smtClean="0"/>
              <a:t>int</a:t>
            </a:r>
            <a:r>
              <a:rPr lang="en-US" dirty="0" smtClean="0"/>
              <a:t> mode) {</a:t>
            </a:r>
          </a:p>
          <a:p>
            <a:r>
              <a:rPr lang="en-US" dirty="0" smtClean="0"/>
              <a:t>        if (mode == 1)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"Printing in BLACK &amp; WHITE"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else if (mode == 2)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cout</a:t>
            </a:r>
            <a:r>
              <a:rPr lang="en-US" dirty="0" smtClean="0"/>
              <a:t> &lt;&lt; "Printing in COLOR"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</a:p>
          <a:p>
            <a:r>
              <a:rPr lang="en-US" dirty="0" smtClean="0"/>
              <a:t>class User {</a:t>
            </a:r>
          </a:p>
          <a:p>
            <a:r>
              <a:rPr lang="en-US" dirty="0" smtClean="0"/>
              <a:t>public:</a:t>
            </a:r>
          </a:p>
          <a:p>
            <a:r>
              <a:rPr lang="en-US" dirty="0" smtClean="0"/>
              <a:t>    void </a:t>
            </a:r>
            <a:r>
              <a:rPr lang="en-US" dirty="0" err="1" smtClean="0"/>
              <a:t>requestPrint</a:t>
            </a:r>
            <a:r>
              <a:rPr lang="en-US" dirty="0" smtClean="0"/>
              <a:t>(Printer &amp;p)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int</a:t>
            </a:r>
            <a:r>
              <a:rPr lang="en-US" dirty="0" smtClean="0"/>
              <a:t> choice = 2;   // control flag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p.print</a:t>
            </a:r>
            <a:r>
              <a:rPr lang="en-US" dirty="0" smtClean="0"/>
              <a:t>(choice);  // controls Printer behavior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36523" y="2522755"/>
            <a:ext cx="4953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#include &lt;</a:t>
            </a:r>
            <a:r>
              <a:rPr lang="en-US" dirty="0" err="1" smtClean="0">
                <a:solidFill>
                  <a:srgbClr val="FF0000"/>
                </a:solidFill>
              </a:rPr>
              <a:t>iostream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namespace std;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Payment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processPayment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mode)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if (mode == 1)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    </a:t>
            </a:r>
            <a:r>
              <a:rPr lang="en-US" dirty="0" err="1" smtClean="0">
                <a:solidFill>
                  <a:srgbClr val="FF0000"/>
                </a:solidFill>
              </a:rPr>
              <a:t>cout</a:t>
            </a:r>
            <a:r>
              <a:rPr lang="en-US" dirty="0" smtClean="0">
                <a:solidFill>
                  <a:srgbClr val="FF0000"/>
                </a:solidFill>
              </a:rPr>
              <a:t> &lt;&lt; "Processing Credit Card Payment" &lt;&lt; </a:t>
            </a:r>
            <a:r>
              <a:rPr lang="en-US" dirty="0" err="1" smtClean="0">
                <a:solidFill>
                  <a:srgbClr val="FF0000"/>
                </a:solidFill>
              </a:rPr>
              <a:t>endl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else if (mode == 2)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    </a:t>
            </a:r>
            <a:r>
              <a:rPr lang="en-US" dirty="0" err="1" smtClean="0">
                <a:solidFill>
                  <a:srgbClr val="FF0000"/>
                </a:solidFill>
              </a:rPr>
              <a:t>cout</a:t>
            </a:r>
            <a:r>
              <a:rPr lang="en-US" dirty="0" smtClean="0">
                <a:solidFill>
                  <a:srgbClr val="FF0000"/>
                </a:solidFill>
              </a:rPr>
              <a:t> &lt;&lt; "Processing UPI Payment" &lt;&lt; </a:t>
            </a:r>
            <a:r>
              <a:rPr lang="en-US" dirty="0" err="1" smtClean="0">
                <a:solidFill>
                  <a:srgbClr val="FF0000"/>
                </a:solidFill>
              </a:rPr>
              <a:t>endl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User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makePayment</a:t>
            </a:r>
            <a:r>
              <a:rPr lang="en-US" dirty="0" smtClean="0">
                <a:solidFill>
                  <a:srgbClr val="FF0000"/>
                </a:solidFill>
              </a:rPr>
              <a:t>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Payment p;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choice = 2;   // control flag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p.processPayment</a:t>
            </a:r>
            <a:r>
              <a:rPr lang="en-US" dirty="0" smtClean="0">
                <a:solidFill>
                  <a:srgbClr val="FF0000"/>
                </a:solidFill>
              </a:rPr>
              <a:t>(choice);  // controls behavior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589" y="86875"/>
            <a:ext cx="5423422" cy="855274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1302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Common</a:t>
            </a:r>
            <a:r>
              <a:rPr lang="en-US" b="1" spc="-14" dirty="0" smtClean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coupling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865" y="92963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3160" y="783772"/>
            <a:ext cx="8037331" cy="2088379"/>
          </a:xfrm>
          <a:prstGeom prst="rect">
            <a:avLst/>
          </a:prstGeom>
        </p:spPr>
        <p:txBody>
          <a:bodyPr vert="horz" wrap="square" lIns="0" tIns="239382" rIns="0" bIns="0" rtlCol="0">
            <a:spAutoFit/>
          </a:bodyPr>
          <a:lstStyle/>
          <a:p>
            <a:pPr marL="11939" marR="4776" algn="just">
              <a:lnSpc>
                <a:spcPct val="100200"/>
              </a:lnSpc>
              <a:spcBef>
                <a:spcPts val="1044"/>
              </a:spcBef>
            </a:pP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With common coupling, module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A </a:t>
            </a:r>
            <a:r>
              <a:rPr lang="en-US" sz="2400" spc="-9" dirty="0" smtClean="0">
                <a:solidFill>
                  <a:srgbClr val="3232FF"/>
                </a:solidFill>
                <a:latin typeface="Times New Roman"/>
                <a:cs typeface="Times New Roman"/>
              </a:rPr>
              <a:t>and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module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B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have shared  data. Global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data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areas are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commonly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found in programming  languages. Making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a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change to the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common data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means tracing  back to all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the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modules which access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that data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to evaluate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the 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effect </a:t>
            </a:r>
            <a:r>
              <a:rPr lang="en-US"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of</a:t>
            </a:r>
            <a:r>
              <a:rPr lang="en-US" sz="2400" spc="-19" dirty="0" smtClean="0">
                <a:solidFill>
                  <a:srgbClr val="3232FF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solidFill>
                  <a:srgbClr val="3232FF"/>
                </a:solidFill>
                <a:latin typeface="Times New Roman"/>
                <a:cs typeface="Times New Roman"/>
              </a:rPr>
              <a:t>changes.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7381" y="3091542"/>
            <a:ext cx="44849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counter = 0;   // global variable</a:t>
            </a:r>
          </a:p>
          <a:p>
            <a:endParaRPr lang="en-US" dirty="0" smtClean="0"/>
          </a:p>
          <a:p>
            <a:r>
              <a:rPr lang="en-US" dirty="0" smtClean="0"/>
              <a:t>void increment() {</a:t>
            </a:r>
          </a:p>
          <a:p>
            <a:r>
              <a:rPr lang="en-US" dirty="0" smtClean="0"/>
              <a:t>    counter++;   // modifies global data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void display()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cout</a:t>
            </a:r>
            <a:r>
              <a:rPr lang="en-US" dirty="0" smtClean="0"/>
              <a:t> &lt;&lt; counter &lt;&lt; </a:t>
            </a:r>
            <a:r>
              <a:rPr lang="en-US" dirty="0" err="1" smtClean="0"/>
              <a:t>endl</a:t>
            </a:r>
            <a:r>
              <a:rPr lang="en-US" dirty="0" smtClean="0"/>
              <a:t>;   // uses same global data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11337" y="2647406"/>
            <a:ext cx="507818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#include &lt;</a:t>
            </a:r>
            <a:r>
              <a:rPr lang="en-US" dirty="0" err="1" smtClean="0">
                <a:solidFill>
                  <a:srgbClr val="FF0000"/>
                </a:solidFill>
              </a:rPr>
              <a:t>iostream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namespace std;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globalBalance</a:t>
            </a:r>
            <a:r>
              <a:rPr lang="en-US" dirty="0" smtClean="0">
                <a:solidFill>
                  <a:srgbClr val="FF0000"/>
                </a:solidFill>
              </a:rPr>
              <a:t> = 0;   // shared global variable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class Deposit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addMoney</a:t>
            </a:r>
            <a:r>
              <a:rPr lang="en-US" dirty="0" smtClean="0">
                <a:solidFill>
                  <a:srgbClr val="FF0000"/>
                </a:solidFill>
              </a:rPr>
              <a:t>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globalBalance</a:t>
            </a:r>
            <a:r>
              <a:rPr lang="en-US" dirty="0" smtClean="0">
                <a:solidFill>
                  <a:srgbClr val="FF0000"/>
                </a:solidFill>
              </a:rPr>
              <a:t> += 1000;   // modifies global data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 </a:t>
            </a:r>
            <a:r>
              <a:rPr lang="en-US" dirty="0" smtClean="0">
                <a:solidFill>
                  <a:srgbClr val="FF0000"/>
                </a:solidFill>
              </a:rPr>
              <a:t>Display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showBalance</a:t>
            </a:r>
            <a:r>
              <a:rPr lang="en-US" dirty="0" smtClean="0">
                <a:solidFill>
                  <a:srgbClr val="FF0000"/>
                </a:solidFill>
              </a:rPr>
              <a:t>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cout</a:t>
            </a:r>
            <a:r>
              <a:rPr lang="en-US" dirty="0" smtClean="0">
                <a:solidFill>
                  <a:srgbClr val="FF0000"/>
                </a:solidFill>
              </a:rPr>
              <a:t> &lt;&lt; "Balance: " &lt;&lt; </a:t>
            </a:r>
            <a:r>
              <a:rPr lang="en-US" dirty="0" err="1" smtClean="0">
                <a:solidFill>
                  <a:srgbClr val="FF0000"/>
                </a:solidFill>
              </a:rPr>
              <a:t>globalBalance</a:t>
            </a:r>
            <a:r>
              <a:rPr lang="en-US" dirty="0" smtClean="0">
                <a:solidFill>
                  <a:srgbClr val="FF0000"/>
                </a:solidFill>
              </a:rPr>
              <a:t> &lt;&lt; </a:t>
            </a:r>
            <a:r>
              <a:rPr lang="en-US" dirty="0" err="1" smtClean="0">
                <a:solidFill>
                  <a:srgbClr val="FF0000"/>
                </a:solidFill>
              </a:rPr>
              <a:t>endl</a:t>
            </a:r>
            <a:r>
              <a:rPr lang="en-US" dirty="0" smtClean="0">
                <a:solidFill>
                  <a:srgbClr val="FF0000"/>
                </a:solidFill>
              </a:rPr>
              <a:t>;  // reads same global data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4526" y="630212"/>
            <a:ext cx="4275908" cy="701385"/>
          </a:xfrm>
          <a:prstGeom prst="rect">
            <a:avLst/>
          </a:prstGeom>
        </p:spPr>
        <p:txBody>
          <a:bodyPr vert="horz" wrap="square" lIns="0" tIns="11342" rIns="0" bIns="0" rtlCol="0">
            <a:spAutoFit/>
          </a:bodyPr>
          <a:lstStyle/>
          <a:p>
            <a:pPr marL="11939">
              <a:spcBef>
                <a:spcPts val="94"/>
              </a:spcBef>
            </a:pP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Content</a:t>
            </a:r>
            <a:r>
              <a:rPr lang="en-US" b="1" spc="-14" dirty="0" smtClean="0">
                <a:solidFill>
                  <a:srgbClr val="CC3200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solidFill>
                  <a:srgbClr val="CC3200"/>
                </a:solidFill>
                <a:latin typeface="Times New Roman"/>
                <a:cs typeface="Times New Roman"/>
              </a:rPr>
              <a:t>coupling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0448" y="1417319"/>
            <a:ext cx="8480136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5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1659" y="1520221"/>
            <a:ext cx="8294399" cy="1120051"/>
          </a:xfrm>
          <a:prstGeom prst="rect">
            <a:avLst/>
          </a:prstGeom>
        </p:spPr>
        <p:txBody>
          <a:bodyPr vert="horz" wrap="square" lIns="0" tIns="11939" rIns="0" bIns="0" rtlCol="0">
            <a:spAutoFit/>
          </a:bodyPr>
          <a:lstStyle/>
          <a:p>
            <a:pPr marL="11939" marR="4776" algn="just">
              <a:lnSpc>
                <a:spcPct val="100099"/>
              </a:lnSpc>
              <a:spcBef>
                <a:spcPts val="2242"/>
              </a:spcBef>
            </a:pPr>
            <a:r>
              <a:rPr sz="2400" dirty="0" smtClean="0">
                <a:solidFill>
                  <a:srgbClr val="3232FF"/>
                </a:solidFill>
                <a:latin typeface="Times New Roman"/>
                <a:cs typeface="Times New Roman"/>
              </a:rPr>
              <a:t>Content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coupling occurs when </a:t>
            </a:r>
            <a:r>
              <a:rPr sz="2400" dirty="0">
                <a:solidFill>
                  <a:srgbClr val="3232FF"/>
                </a:solidFill>
                <a:latin typeface="Times New Roman"/>
                <a:cs typeface="Times New Roman"/>
              </a:rPr>
              <a:t>module A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changes </a:t>
            </a:r>
            <a:r>
              <a:rPr sz="2400" dirty="0">
                <a:solidFill>
                  <a:srgbClr val="3232FF"/>
                </a:solidFill>
                <a:latin typeface="Times New Roman"/>
                <a:cs typeface="Times New Roman"/>
              </a:rPr>
              <a:t>data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of  </a:t>
            </a:r>
            <a:r>
              <a:rPr sz="2400" dirty="0">
                <a:solidFill>
                  <a:srgbClr val="3232FF"/>
                </a:solidFill>
                <a:latin typeface="Times New Roman"/>
                <a:cs typeface="Times New Roman"/>
              </a:rPr>
              <a:t>module B or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when control is passed </a:t>
            </a:r>
            <a:r>
              <a:rPr sz="2400" dirty="0">
                <a:solidFill>
                  <a:srgbClr val="3232FF"/>
                </a:solidFill>
                <a:latin typeface="Times New Roman"/>
                <a:cs typeface="Times New Roman"/>
              </a:rPr>
              <a:t>from one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module to </a:t>
            </a:r>
            <a:r>
              <a:rPr sz="2400" dirty="0">
                <a:solidFill>
                  <a:srgbClr val="3232FF"/>
                </a:solidFill>
                <a:latin typeface="Times New Roman"/>
                <a:cs typeface="Times New Roman"/>
              </a:rPr>
              <a:t>the  middle of </a:t>
            </a:r>
            <a:r>
              <a:rPr sz="2400" spc="-5" dirty="0">
                <a:solidFill>
                  <a:srgbClr val="3232FF"/>
                </a:solidFill>
                <a:latin typeface="Times New Roman"/>
                <a:cs typeface="Times New Roman"/>
              </a:rPr>
              <a:t>another.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381" y="3091542"/>
            <a:ext cx="44849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using namespace std;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data = 10;</a:t>
            </a:r>
          </a:p>
          <a:p>
            <a:endParaRPr lang="en-US" dirty="0" smtClean="0"/>
          </a:p>
          <a:p>
            <a:r>
              <a:rPr lang="en-US" dirty="0" smtClean="0"/>
              <a:t>void modify() {</a:t>
            </a:r>
          </a:p>
          <a:p>
            <a:r>
              <a:rPr lang="en-US" dirty="0" smtClean="0"/>
              <a:t>    data = 50;   // directly changing internal data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void display()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cout</a:t>
            </a:r>
            <a:r>
              <a:rPr lang="en-US" dirty="0" smtClean="0"/>
              <a:t> &lt;&lt; data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45577" y="2647406"/>
            <a:ext cx="54439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#include &lt;</a:t>
            </a:r>
            <a:r>
              <a:rPr lang="en-US" dirty="0" err="1" smtClean="0">
                <a:solidFill>
                  <a:srgbClr val="FF0000"/>
                </a:solidFill>
              </a:rPr>
              <a:t>iostream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namespace std;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class Account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balance;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   Account()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balance = 1000;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class Hacker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public: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void </a:t>
            </a:r>
            <a:r>
              <a:rPr lang="en-US" dirty="0" err="1" smtClean="0">
                <a:solidFill>
                  <a:srgbClr val="FF0000"/>
                </a:solidFill>
              </a:rPr>
              <a:t>changeBalance</a:t>
            </a:r>
            <a:r>
              <a:rPr lang="en-US" dirty="0" smtClean="0">
                <a:solidFill>
                  <a:srgbClr val="FF0000"/>
                </a:solidFill>
              </a:rPr>
              <a:t>(Account &amp;acc) {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    </a:t>
            </a:r>
            <a:r>
              <a:rPr lang="en-US" dirty="0" err="1" smtClean="0">
                <a:solidFill>
                  <a:srgbClr val="FF0000"/>
                </a:solidFill>
              </a:rPr>
              <a:t>acc.balance</a:t>
            </a:r>
            <a:r>
              <a:rPr lang="en-US" dirty="0" smtClean="0">
                <a:solidFill>
                  <a:srgbClr val="FF0000"/>
                </a:solidFill>
              </a:rPr>
              <a:t> = 100000;  // directly modifying internal data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1509</Words>
  <Application>Microsoft Office PowerPoint</Application>
  <PresentationFormat>A4 Paper (210x297 mm)</PresentationFormat>
  <Paragraphs>324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Times New Roman</vt:lpstr>
      <vt:lpstr>DejaVu Sans</vt:lpstr>
      <vt:lpstr>Tahoma</vt:lpstr>
      <vt:lpstr>Office Theme</vt:lpstr>
      <vt:lpstr>Slide 1</vt:lpstr>
      <vt:lpstr>Software Design</vt:lpstr>
      <vt:lpstr>Software Design</vt:lpstr>
      <vt:lpstr>Software Design</vt:lpstr>
      <vt:lpstr>Software Design</vt:lpstr>
      <vt:lpstr>Software Design</vt:lpstr>
      <vt:lpstr>Software Design</vt:lpstr>
      <vt:lpstr>Functional Cohesion</vt:lpstr>
      <vt:lpstr>Sequential Cohesion</vt:lpstr>
      <vt:lpstr>Procedural Cohesion</vt:lpstr>
      <vt:lpstr>Temporal Cohesion</vt:lpstr>
      <vt:lpstr>Logical Cohesion</vt:lpstr>
      <vt:lpstr>Coincidental Cohesion</vt:lpstr>
      <vt:lpstr>Coupling</vt:lpstr>
      <vt:lpstr>Data coupling</vt:lpstr>
      <vt:lpstr>Stamp coupling</vt:lpstr>
      <vt:lpstr>Control coupling</vt:lpstr>
      <vt:lpstr>Common coupling</vt:lpstr>
      <vt:lpstr>Content coupling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dinesh.verma</cp:lastModifiedBy>
  <cp:revision>109</cp:revision>
  <dcterms:modified xsi:type="dcterms:W3CDTF">2026-04-27T12:22:38Z</dcterms:modified>
</cp:coreProperties>
</file>