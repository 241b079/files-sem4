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5" r:id="rId3"/>
    <p:sldId id="262" r:id="rId4"/>
    <p:sldId id="266" r:id="rId5"/>
    <p:sldId id="263" r:id="rId6"/>
    <p:sldId id="267" r:id="rId7"/>
    <p:sldId id="269" r:id="rId8"/>
  </p:sldIdLst>
  <p:sldSz cx="9906000" cy="6858000" type="A4"/>
  <p:notesSz cx="6629400" cy="97536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Tahoma" pitchFamily="3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-888" y="-84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body" idx="1"/>
          </p:nvPr>
        </p:nvSpPr>
        <p:spPr>
          <a:xfrm>
            <a:off x="800100" y="46355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847725" y="850900"/>
            <a:ext cx="4933950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800100" y="46355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03338" y="830263"/>
            <a:ext cx="3997325" cy="276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754934" y="9264953"/>
            <a:ext cx="2873028" cy="487035"/>
          </a:xfrm>
          <a:prstGeom prst="rect">
            <a:avLst/>
          </a:prstGeom>
          <a:noFill/>
        </p:spPr>
        <p:txBody>
          <a:bodyPr/>
          <a:lstStyle/>
          <a:p>
            <a:fld id="{663A7668-4697-453F-B438-AC64080724CF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754934" y="9264953"/>
            <a:ext cx="2873028" cy="487035"/>
          </a:xfrm>
          <a:prstGeom prst="rect">
            <a:avLst/>
          </a:prstGeom>
          <a:noFill/>
        </p:spPr>
        <p:txBody>
          <a:bodyPr/>
          <a:lstStyle/>
          <a:p>
            <a:fld id="{663A7668-4697-453F-B438-AC64080724CF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754934" y="9264953"/>
            <a:ext cx="2873028" cy="487035"/>
          </a:xfrm>
          <a:prstGeom prst="rect">
            <a:avLst/>
          </a:prstGeom>
          <a:noFill/>
        </p:spPr>
        <p:txBody>
          <a:bodyPr/>
          <a:lstStyle/>
          <a:p>
            <a:fld id="{663A7668-4697-453F-B438-AC64080724CF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3872972" y="273055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95300" y="1435103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3"/>
          </p:nvPr>
        </p:nvSpPr>
        <p:spPr>
          <a:xfrm>
            <a:off x="5032113" y="1535113"/>
            <a:ext cx="43785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4"/>
          </p:nvPr>
        </p:nvSpPr>
        <p:spPr>
          <a:xfrm>
            <a:off x="5032113" y="2174875"/>
            <a:ext cx="437859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782506" y="4406905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ctrTitle"/>
          </p:nvPr>
        </p:nvSpPr>
        <p:spPr>
          <a:xfrm>
            <a:off x="742950" y="2130430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95300" y="274637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  <a:defRPr sz="1200" b="0" i="0" u="none" strike="noStrike" cap="non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7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>
            <a:off x="0" y="4038600"/>
            <a:ext cx="9906000" cy="0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>
            <a:off x="725487" y="1981200"/>
            <a:ext cx="84550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Estimation-3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 txBox="1">
            <a:spLocks noChangeArrowheads="1"/>
          </p:cNvSpPr>
          <p:nvPr/>
        </p:nvSpPr>
        <p:spPr>
          <a:xfrm>
            <a:off x="547145" y="372568"/>
            <a:ext cx="841666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6800" rIns="18000" bIns="468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78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Analytical Estimation Techniques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05295" y="1445813"/>
            <a:ext cx="8915400" cy="4525962"/>
          </a:xfrm>
        </p:spPr>
        <p:txBody>
          <a:bodyPr/>
          <a:lstStyle/>
          <a:p>
            <a:pPr algn="just"/>
            <a:r>
              <a:rPr lang="en-IN" dirty="0" smtClean="0"/>
              <a:t>Derive the required results starting with certain basic assumptions.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Have certain scientific basis.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Halstead’s software science</a:t>
            </a:r>
          </a:p>
          <a:p>
            <a:pPr lvl="1" algn="just"/>
            <a:r>
              <a:rPr lang="en-IN" dirty="0" smtClean="0"/>
              <a:t>Measure size, development effort, and development cost</a:t>
            </a:r>
          </a:p>
          <a:p>
            <a:pPr lvl="1" algn="just"/>
            <a:r>
              <a:rPr lang="en-IN" dirty="0" smtClean="0"/>
              <a:t>Used few primitive program parameters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Halstead’s Software Science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549" y="1291441"/>
            <a:ext cx="8915400" cy="4978729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800" dirty="0" smtClean="0"/>
              <a:t>Size-based metric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800" dirty="0" smtClean="0"/>
              <a:t>Uses number of operators and operands in a piece of software</a:t>
            </a:r>
          </a:p>
          <a:p>
            <a:pPr lvl="1" algn="just" eaLnBrk="1" hangingPunct="1">
              <a:lnSpc>
                <a:spcPct val="80000"/>
              </a:lnSpc>
            </a:pPr>
            <a:endParaRPr lang="en-US" sz="2400" dirty="0" smtClean="0"/>
          </a:p>
          <a:p>
            <a:pPr lvl="1" algn="just" eaLnBrk="1" hangingPunct="1">
              <a:lnSpc>
                <a:spcPct val="80000"/>
              </a:lnSpc>
            </a:pPr>
            <a:r>
              <a:rPr lang="en-US" sz="2400" dirty="0" smtClean="0"/>
              <a:t>n</a:t>
            </a:r>
            <a:r>
              <a:rPr lang="en-US" sz="2400" baseline="-25000" dirty="0" smtClean="0"/>
              <a:t>1 </a:t>
            </a:r>
            <a:r>
              <a:rPr lang="en-US" sz="2400" dirty="0" smtClean="0"/>
              <a:t>is the number of unique operators</a:t>
            </a:r>
          </a:p>
          <a:p>
            <a:pPr lvl="1" algn="just" eaLnBrk="1" hangingPunct="1">
              <a:lnSpc>
                <a:spcPct val="80000"/>
              </a:lnSpc>
            </a:pPr>
            <a:endParaRPr lang="en-US" sz="2400" dirty="0" smtClean="0"/>
          </a:p>
          <a:p>
            <a:pPr lvl="1" algn="just" eaLnBrk="1" hangingPunct="1">
              <a:lnSpc>
                <a:spcPct val="80000"/>
              </a:lnSpc>
            </a:pPr>
            <a:r>
              <a:rPr lang="en-US" sz="2400" dirty="0" smtClean="0"/>
              <a:t>n</a:t>
            </a:r>
            <a:r>
              <a:rPr lang="en-US" sz="2400" baseline="-25000" dirty="0" smtClean="0"/>
              <a:t>2 </a:t>
            </a:r>
            <a:r>
              <a:rPr lang="en-US" sz="2400" dirty="0" smtClean="0"/>
              <a:t>is the number of unique operands</a:t>
            </a:r>
          </a:p>
          <a:p>
            <a:pPr lvl="1" algn="just" eaLnBrk="1" hangingPunct="1">
              <a:lnSpc>
                <a:spcPct val="80000"/>
              </a:lnSpc>
            </a:pPr>
            <a:endParaRPr lang="en-US" sz="2400" dirty="0" smtClean="0"/>
          </a:p>
          <a:p>
            <a:pPr lvl="1" algn="just" eaLnBrk="1" hangingPunct="1">
              <a:lnSpc>
                <a:spcPct val="80000"/>
              </a:lnSpc>
            </a:pPr>
            <a:r>
              <a:rPr lang="en-US" sz="2400" dirty="0" smtClean="0"/>
              <a:t>N</a:t>
            </a:r>
            <a:r>
              <a:rPr lang="en-US" sz="2400" baseline="-25000" dirty="0" smtClean="0"/>
              <a:t>1 </a:t>
            </a:r>
            <a:r>
              <a:rPr lang="en-US" sz="2400" dirty="0" smtClean="0"/>
              <a:t>is the total number of occurrences of operators</a:t>
            </a:r>
          </a:p>
          <a:p>
            <a:pPr lvl="1" algn="just" eaLnBrk="1" hangingPunct="1">
              <a:lnSpc>
                <a:spcPct val="80000"/>
              </a:lnSpc>
            </a:pPr>
            <a:endParaRPr lang="en-US" sz="2400" dirty="0" smtClean="0"/>
          </a:p>
          <a:p>
            <a:pPr lvl="1" algn="just" eaLnBrk="1" hangingPunct="1">
              <a:lnSpc>
                <a:spcPct val="80000"/>
              </a:lnSpc>
            </a:pPr>
            <a:r>
              <a:rPr lang="en-US" sz="2400" dirty="0" smtClean="0"/>
              <a:t>N</a:t>
            </a:r>
            <a:r>
              <a:rPr lang="en-US" sz="2400" baseline="-25000" dirty="0" smtClean="0"/>
              <a:t>2 </a:t>
            </a:r>
            <a:r>
              <a:rPr lang="en-US" sz="2400" dirty="0" smtClean="0"/>
              <a:t>is the total number of occurrences of operands</a:t>
            </a:r>
          </a:p>
          <a:p>
            <a:pPr lvl="1" algn="just" eaLnBrk="1" hangingPunct="1">
              <a:lnSpc>
                <a:spcPct val="80000"/>
              </a:lnSpc>
            </a:pPr>
            <a:endParaRPr lang="en-US" sz="2400" dirty="0" smtClean="0"/>
          </a:p>
          <a:p>
            <a:pPr lvl="1" algn="just" eaLnBrk="1" hangingPunct="1">
              <a:lnSpc>
                <a:spcPct val="80000"/>
              </a:lnSpc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Halstead’s Software Science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549" y="1291441"/>
            <a:ext cx="8915400" cy="497872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Halstead derives various entities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Size of Vocabulary: n = n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+n</a:t>
            </a:r>
            <a:r>
              <a:rPr lang="en-US" sz="2400" baseline="-25000" dirty="0" smtClean="0"/>
              <a:t>2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Program Length:  N = N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+N</a:t>
            </a:r>
            <a:r>
              <a:rPr lang="en-US" sz="2400" baseline="-25000" dirty="0" smtClean="0"/>
              <a:t>2</a:t>
            </a: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Program Volume: V = Nlog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n	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dirty="0" smtClean="0"/>
              <a:t>Visualized as the number of bits it would take to encode the program being measured		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Halstead’s Software Science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95300" y="1172688"/>
            <a:ext cx="9028710" cy="3613067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Potential Volume:  V* = (2+n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)log(2+n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sz="2000" dirty="0" smtClean="0"/>
              <a:t>V* is the volume for the most compact representation for the algorithm, assuming only two operators:  the name of the function and a grouping operator.  n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is minimal number of operands.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Program Level:                                       </a:t>
            </a:r>
            <a:r>
              <a:rPr lang="en-US" sz="2400" i="1" dirty="0" smtClean="0"/>
              <a:t>L</a:t>
            </a:r>
            <a:r>
              <a:rPr lang="en-US" sz="2400" dirty="0" smtClean="0"/>
              <a:t> = V*/V 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Difficulty		                          D= n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/2 * N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/n</a:t>
            </a:r>
            <a:r>
              <a:rPr lang="en-US" sz="2400" baseline="-25000" dirty="0" smtClean="0"/>
              <a:t>2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Programming Effort:                             E = V/</a:t>
            </a:r>
            <a:r>
              <a:rPr lang="en-US" sz="2400" i="1" dirty="0" smtClean="0"/>
              <a:t>L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Programming Time in Seconds:           T = E/S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  <a:buNone/>
            </a:pP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/>
            <a:endParaRPr lang="en-US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Halstead’s Software Science: Example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174667" y="1365662"/>
            <a:ext cx="4231078" cy="2683823"/>
          </a:xfrm>
        </p:spPr>
        <p:txBody>
          <a:bodyPr/>
          <a:lstStyle/>
          <a:p>
            <a:pPr eaLnBrk="1" hangingPunct="1">
              <a:buNone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main()</a:t>
            </a:r>
          </a:p>
          <a:p>
            <a:pPr eaLnBrk="1" hangingPunct="1">
              <a:buNone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>
              <a:buNone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a, b, c,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avg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eaLnBrk="1" hangingPunct="1">
              <a:buNone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(“%d %d %d”, &amp;a, &amp;b, &amp;c);</a:t>
            </a:r>
          </a:p>
          <a:p>
            <a:pPr eaLnBrk="1" hangingPunct="1">
              <a:buNone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avg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= (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a+b+c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)/3;</a:t>
            </a:r>
          </a:p>
          <a:p>
            <a:pPr eaLnBrk="1" hangingPunct="1">
              <a:buNone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(“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avg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= %d”,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avg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eaLnBrk="1" hangingPunct="1">
              <a:buNone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eaLnBrk="1" hangingPunct="1">
              <a:buNone/>
            </a:pPr>
            <a:endParaRPr lang="en-US" sz="4000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38256" y="1128248"/>
          <a:ext cx="4940136" cy="41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034"/>
                <a:gridCol w="1235034"/>
                <a:gridCol w="1235034"/>
                <a:gridCol w="1235034"/>
              </a:tblGrid>
              <a:tr h="518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Operators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Occurrence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Operands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occurrence</a:t>
                      </a:r>
                      <a:endParaRPr lang="en-US" dirty="0"/>
                    </a:p>
                  </a:txBody>
                  <a:tcPr/>
                </a:tc>
              </a:tr>
              <a:tr h="2869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main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869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869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{}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2897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err="1" smtClean="0"/>
                        <a:t>avg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2869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,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981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err="1" smtClean="0"/>
                        <a:t>scanf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“%d %d %d”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869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&amp;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“</a:t>
                      </a:r>
                      <a:r>
                        <a:rPr lang="en-IN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avg</a:t>
                      </a:r>
                      <a:r>
                        <a:rPr lang="en-IN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= %d”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2869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=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/>
                    </a:p>
                  </a:txBody>
                  <a:tcPr/>
                </a:tc>
              </a:tr>
              <a:tr h="2869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/>
                    </a:p>
                  </a:txBody>
                  <a:tcPr/>
                </a:tc>
              </a:tr>
              <a:tr h="2869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/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/>
                    </a:p>
                  </a:txBody>
                  <a:tcPr/>
                </a:tc>
              </a:tr>
              <a:tr h="288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err="1" smtClean="0"/>
                        <a:t>printf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dirty="0"/>
                    </a:p>
                  </a:txBody>
                  <a:tcPr/>
                </a:tc>
              </a:tr>
              <a:tr h="288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Total=11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dirty="0" smtClean="0"/>
                        <a:t>14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Halstead’s Software Science: Example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95300" y="1205141"/>
            <a:ext cx="8915400" cy="584860"/>
          </a:xfrm>
        </p:spPr>
        <p:txBody>
          <a:bodyPr/>
          <a:lstStyle/>
          <a:p>
            <a:pPr>
              <a:buNone/>
            </a:pPr>
            <a:r>
              <a:rPr lang="en-IN" dirty="0" smtClean="0"/>
              <a:t>n</a:t>
            </a:r>
            <a:r>
              <a:rPr lang="en-IN" baseline="-25000" dirty="0" smtClean="0"/>
              <a:t>1</a:t>
            </a:r>
            <a:r>
              <a:rPr lang="en-IN" dirty="0" smtClean="0"/>
              <a:t>= 11    n</a:t>
            </a:r>
            <a:r>
              <a:rPr lang="en-IN" baseline="-25000" dirty="0" smtClean="0"/>
              <a:t>2</a:t>
            </a:r>
            <a:r>
              <a:rPr lang="en-IN" dirty="0" smtClean="0"/>
              <a:t>= </a:t>
            </a:r>
            <a:r>
              <a:rPr lang="en-IN" dirty="0" smtClean="0"/>
              <a:t>7            </a:t>
            </a:r>
            <a:r>
              <a:rPr lang="en-IN" dirty="0" smtClean="0"/>
              <a:t>N</a:t>
            </a:r>
            <a:r>
              <a:rPr lang="en-IN" baseline="-25000" dirty="0" smtClean="0"/>
              <a:t>1</a:t>
            </a:r>
            <a:r>
              <a:rPr lang="en-IN" dirty="0" smtClean="0"/>
              <a:t>= 23           N</a:t>
            </a:r>
            <a:r>
              <a:rPr lang="en-IN" baseline="-25000" dirty="0" smtClean="0"/>
              <a:t>2</a:t>
            </a:r>
            <a:r>
              <a:rPr lang="en-IN" dirty="0" smtClean="0"/>
              <a:t>= </a:t>
            </a:r>
            <a:r>
              <a:rPr lang="en-IN" dirty="0" smtClean="0"/>
              <a:t>14</a:t>
            </a: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455323" y="1759693"/>
            <a:ext cx="8915400" cy="58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 N= N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+N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                                          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N=37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kumimoji="0" lang="en-IN" sz="3200" b="0" i="0" u="none" strike="noStrike" kern="0" cap="none" spc="0" normalizeH="0" baseline="-2500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458891" y="2243814"/>
            <a:ext cx="8915400" cy="58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vocabulary n= n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+n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                                  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n=18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kumimoji="0" lang="en-IN" sz="3200" b="0" i="0" u="none" strike="noStrike" kern="0" cap="none" spc="0" normalizeH="0" baseline="-2500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426834" y="2754047"/>
            <a:ext cx="8915400" cy="58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volume V= N*log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                       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V=154.29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kumimoji="0" lang="en-IN" sz="3200" b="0" i="0" u="none" strike="noStrike" kern="0" cap="none" spc="0" normalizeH="0" baseline="-2500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336467" y="3342654"/>
            <a:ext cx="9298379" cy="56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 volume V*= (2+</a:t>
            </a:r>
            <a:r>
              <a:rPr lang="en-IN" sz="3200" dirty="0" smtClean="0"/>
              <a:t> n</a:t>
            </a:r>
            <a:r>
              <a:rPr lang="en-IN" sz="3200" baseline="-25000" dirty="0" smtClean="0"/>
              <a:t>2 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)*log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(2+</a:t>
            </a:r>
            <a:r>
              <a:rPr lang="en-IN" sz="3200" dirty="0" smtClean="0"/>
              <a:t> n</a:t>
            </a:r>
            <a:r>
              <a:rPr lang="en-IN" sz="3200" baseline="-25000" dirty="0" smtClean="0"/>
              <a:t>2</a:t>
            </a:r>
            <a:r>
              <a:rPr lang="en-IN" sz="3200" dirty="0" smtClean="0"/>
              <a:t>)   V*= </a:t>
            </a:r>
            <a:r>
              <a:rPr lang="en-IN" sz="3200" dirty="0" smtClean="0"/>
              <a:t>28.53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kumimoji="0" lang="en-IN" sz="3200" b="0" i="0" u="none" strike="noStrike" kern="0" cap="none" spc="0" normalizeH="0" baseline="-2500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420498" y="3880582"/>
            <a:ext cx="8915400" cy="58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level </a:t>
            </a:r>
            <a:r>
              <a:rPr lang="en-IN" sz="32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V*/V                                       </a:t>
            </a:r>
            <a:r>
              <a:rPr lang="en-IN" sz="32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=0.185                      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kumimoji="0" lang="en-IN" sz="3200" b="0" i="0" u="none" strike="noStrike" kern="0" cap="none" spc="0" normalizeH="0" baseline="-2500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 Placeholder 5"/>
          <p:cNvSpPr txBox="1">
            <a:spLocks/>
          </p:cNvSpPr>
          <p:nvPr/>
        </p:nvSpPr>
        <p:spPr>
          <a:xfrm>
            <a:off x="312542" y="4995854"/>
            <a:ext cx="8915400" cy="58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effort E= V/</a:t>
            </a:r>
            <a:r>
              <a:rPr lang="en-IN" sz="32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E=834                      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kumimoji="0" lang="en-IN" sz="3200" b="0" i="0" u="none" strike="noStrike" kern="0" cap="none" spc="0" normalizeH="0" baseline="-2500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 Placeholder 5"/>
          <p:cNvSpPr txBox="1">
            <a:spLocks/>
          </p:cNvSpPr>
          <p:nvPr/>
        </p:nvSpPr>
        <p:spPr>
          <a:xfrm>
            <a:off x="354912" y="5520485"/>
            <a:ext cx="8915400" cy="58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Programmers' time T= E/S                              </a:t>
            </a: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T=46.33                      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kumimoji="0" lang="en-IN" sz="3200" b="0" i="0" u="none" strike="noStrike" kern="0" cap="none" spc="0" normalizeH="0" baseline="-2500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 Placeholder 5"/>
          <p:cNvSpPr txBox="1">
            <a:spLocks/>
          </p:cNvSpPr>
          <p:nvPr/>
        </p:nvSpPr>
        <p:spPr>
          <a:xfrm>
            <a:off x="469147" y="4467084"/>
            <a:ext cx="9298379" cy="56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3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Difficulty D                    = 1/L                             D</a:t>
            </a:r>
            <a:r>
              <a:rPr lang="en-IN" sz="3200" dirty="0" smtClean="0"/>
              <a:t>= </a:t>
            </a:r>
            <a:r>
              <a:rPr lang="en-IN" sz="3200" dirty="0" smtClean="0"/>
              <a:t>5</a:t>
            </a:r>
            <a:r>
              <a:rPr lang="en-IN" sz="3200" dirty="0" smtClean="0"/>
              <a:t>.41</a:t>
            </a:r>
            <a:r>
              <a:rPr lang="en-IN" sz="3200" baseline="-25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kumimoji="0" lang="en-IN" sz="3200" b="0" i="0" u="none" strike="noStrike" kern="0" cap="none" spc="0" normalizeH="0" baseline="-2500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tabLst/>
              <a:defRPr/>
            </a:pPr>
            <a:endParaRPr kumimoji="0" lang="en-IN" sz="3200" b="0" i="0" u="none" strike="noStrike" kern="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311</Words>
  <Application>Microsoft Office PowerPoint</Application>
  <PresentationFormat>A4 Paper (210x297 mm)</PresentationFormat>
  <Paragraphs>107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Tahoma</vt:lpstr>
      <vt:lpstr>Office Theme</vt:lpstr>
      <vt:lpstr>Slide 1</vt:lpstr>
      <vt:lpstr>Slide 2</vt:lpstr>
      <vt:lpstr>Halstead’s Software Science</vt:lpstr>
      <vt:lpstr>Halstead’s Software Science</vt:lpstr>
      <vt:lpstr>Halstead’s Software Science</vt:lpstr>
      <vt:lpstr>Halstead’s Software Science: Example</vt:lpstr>
      <vt:lpstr>Halstead’s Software Science: 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dinesh.verma</cp:lastModifiedBy>
  <cp:revision>110</cp:revision>
  <dcterms:modified xsi:type="dcterms:W3CDTF">2026-04-21T12:30:40Z</dcterms:modified>
</cp:coreProperties>
</file>