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88" r:id="rId19"/>
    <p:sldId id="273" r:id="rId20"/>
    <p:sldId id="289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B5FE4E3-76B3-4484-AE31-26A269C897A9}">
          <p14:sldIdLst>
            <p14:sldId id="256"/>
          </p14:sldIdLst>
        </p14:section>
        <p14:section name="Introduction" id="{72A7A9CD-317D-4A3C-B412-E8E7571545D8}">
          <p14:sldIdLst>
            <p14:sldId id="257"/>
            <p14:sldId id="258"/>
          </p14:sldIdLst>
        </p14:section>
        <p14:section name="BAsics of backtracking" id="{CC8D77AF-A82C-40FE-924D-0F8881B3CB97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N-Queen Problem" id="{7242D4CC-C5FE-404A-9381-CF298E850BD2}">
          <p14:sldIdLst>
            <p14:sldId id="266"/>
            <p14:sldId id="267"/>
            <p14:sldId id="268"/>
            <p14:sldId id="269"/>
          </p14:sldIdLst>
        </p14:section>
        <p14:section name="Sum of subsets problem" id="{F645008E-A076-401F-8447-2D69B664454F}">
          <p14:sldIdLst>
            <p14:sldId id="270"/>
            <p14:sldId id="271"/>
            <p14:sldId id="272"/>
            <p14:sldId id="288"/>
          </p14:sldIdLst>
        </p14:section>
        <p14:section name="Vertex colouring problem or M-Colouring" id="{E7F24A58-E0AC-4B4A-998E-DF66846D528E}">
          <p14:sldIdLst>
            <p14:sldId id="273"/>
            <p14:sldId id="289"/>
            <p14:sldId id="274"/>
            <p14:sldId id="275"/>
            <p14:sldId id="276"/>
          </p14:sldIdLst>
        </p14:section>
        <p14:section name="Hamiltonian Circuit Problem" id="{1206365E-9618-4B7D-8DA9-D1E3EFD318C2}">
          <p14:sldIdLst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Generating Permutations" id="{0D8528AF-13EA-436F-A32B-1B7E81E7AEC2}">
          <p14:sldIdLst>
            <p14:sldId id="283"/>
            <p14:sldId id="284"/>
          </p14:sldIdLst>
        </p14:section>
        <p14:section name="Graham Scan" id="{777658AC-C803-4202-B180-319718416607}">
          <p14:sldIdLst>
            <p14:sldId id="285"/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D8DEBF-0E9A-45CA-B050-298EFC43EAB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615F70-5EEF-4B71-AD5B-BDF46F18F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811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CDD45-0E24-824E-8528-54480BCF58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0000" y="1332000"/>
            <a:ext cx="9144000" cy="2160000"/>
          </a:xfrm>
        </p:spPr>
        <p:txBody>
          <a:bodyPr anchor="b"/>
          <a:lstStyle>
            <a:lvl1pPr algn="l">
              <a:defRPr sz="6500"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DB4FFB-A229-AF47-8E60-155F5A2CCF9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0000" y="3456000"/>
            <a:ext cx="9144000" cy="1260000"/>
          </a:xfrm>
        </p:spPr>
        <p:txBody>
          <a:bodyPr/>
          <a:lstStyle>
            <a:lvl1pPr marL="0" indent="0" algn="l">
              <a:buNone/>
              <a:defRPr sz="5400" b="0" i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Add Subtitle</a:t>
            </a:r>
            <a:endParaRPr lang="en-GB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D607922-B123-734A-90FA-9E19DA4F9D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000" y="5040000"/>
            <a:ext cx="2743200" cy="365125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1500">
                <a:solidFill>
                  <a:schemeClr val="bg2"/>
                </a:solidFill>
              </a:defRPr>
            </a:lvl1pPr>
          </a:lstStyle>
          <a:p>
            <a:fld id="{B8CC0E93-E18D-42B3-9366-F6C5FD3B1A62}" type="datetime1">
              <a:rPr lang="en-IN" smtClean="0"/>
              <a:t>22-04-2026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687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or Statem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CDD45-0E24-824E-8528-54480BCF58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4261727"/>
          </a:xfrm>
        </p:spPr>
        <p:txBody>
          <a:bodyPr anchor="ctr"/>
          <a:lstStyle>
            <a:lvl1pPr algn="ctr">
              <a:defRPr sz="4000" b="0" i="0">
                <a:solidFill>
                  <a:schemeClr val="accent5"/>
                </a:solidFill>
                <a:latin typeface="+mj-lt"/>
              </a:defRPr>
            </a:lvl1pPr>
          </a:lstStyle>
          <a:p>
            <a:r>
              <a:rPr lang="en-US" dirty="0"/>
              <a:t>Add Section tile, quote or statement 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487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or Statem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CDD45-0E24-824E-8528-54480BCF58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4261727"/>
          </a:xfrm>
        </p:spPr>
        <p:txBody>
          <a:bodyPr anchor="ctr"/>
          <a:lstStyle>
            <a:lvl1pPr algn="ctr">
              <a:defRPr sz="4000" b="0" i="0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n-US" dirty="0"/>
              <a:t>Add Section tile, quote or statement 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1108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CEB79FC-C7F9-7A41-9F31-DE5E9936D5B9}"/>
              </a:ext>
            </a:extLst>
          </p:cNvPr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5CDD45-0E24-824E-8528-54480BCF581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000" y="1260000"/>
            <a:ext cx="9162574" cy="720000"/>
          </a:xfrm>
        </p:spPr>
        <p:txBody>
          <a:bodyPr anchor="t" anchorCtr="0"/>
          <a:lstStyle>
            <a:lvl1pPr algn="l"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DB4FFB-A229-AF47-8E60-155F5A2CCF9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2000" y="2088000"/>
            <a:ext cx="9144000" cy="2340000"/>
          </a:xfrm>
        </p:spPr>
        <p:txBody>
          <a:bodyPr anchor="t" anchorCtr="0"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Add introduction text or statement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0FF5F-86DC-2A48-BA0E-9956D2F5E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000" y="6516000"/>
            <a:ext cx="4704000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defRPr sz="1100" b="0" i="0" cap="none" spc="0" baseline="0">
                <a:solidFill>
                  <a:schemeClr val="tx2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© Oxford University Press 2024. All rights reserved.</a:t>
            </a:r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EB2273-3E9C-714C-947C-062AFA427E83}"/>
              </a:ext>
            </a:extLst>
          </p:cNvPr>
          <p:cNvSpPr txBox="1"/>
          <p:nvPr/>
        </p:nvSpPr>
        <p:spPr>
          <a:xfrm>
            <a:off x="13462355" y="-351692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GB" sz="1200" dirty="0">
              <a:solidFill>
                <a:schemeClr val="tx2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0399DBD-03B7-8A4A-96A1-57D466B2A4DA}"/>
              </a:ext>
            </a:extLst>
          </p:cNvPr>
          <p:cNvCxnSpPr/>
          <p:nvPr/>
        </p:nvCxnSpPr>
        <p:spPr>
          <a:xfrm>
            <a:off x="0" y="6372000"/>
            <a:ext cx="12192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C7ED201-DC4D-DD43-B1BA-D1C5FD977E0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304000" y="6516000"/>
            <a:ext cx="480000" cy="180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278A2380-54B7-4379-AF39-0AFFF5DFD6F0}" type="slidenum">
              <a:rPr lang="en-IN" smtClean="0"/>
              <a:t>‹#›</a:t>
            </a:fld>
            <a:endParaRPr lang="en-IN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9417353C-D9E4-E44B-9D53-0185AA1C22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4495" y="228165"/>
            <a:ext cx="1932305" cy="447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544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AF0E0EB-99EB-934F-B161-D43EBAFC8027}"/>
              </a:ext>
            </a:extLst>
          </p:cNvPr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4CADE0F-6FDA-D54D-BFD9-ED6127769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000" y="6516000"/>
            <a:ext cx="4704000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defRPr sz="1100" b="0" i="0" cap="none" spc="0" baseline="0">
                <a:solidFill>
                  <a:schemeClr val="tx2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© Oxford University Press 2024. All rights reserved.</a:t>
            </a:r>
            <a:endParaRPr lang="en-IN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620E7FC-C51A-914A-9EF8-0BEB15E42502}"/>
              </a:ext>
            </a:extLst>
          </p:cNvPr>
          <p:cNvCxnSpPr/>
          <p:nvPr/>
        </p:nvCxnSpPr>
        <p:spPr>
          <a:xfrm>
            <a:off x="0" y="6372000"/>
            <a:ext cx="12192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F5D1C0F-74B3-8A4E-AAC6-F9A9FAAF8A5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32000" y="2088000"/>
            <a:ext cx="11329200" cy="4140000"/>
          </a:xfrm>
        </p:spPr>
        <p:txBody>
          <a:bodyPr/>
          <a:lstStyle/>
          <a:p>
            <a:pPr lvl="0"/>
            <a:r>
              <a:rPr lang="en-US" dirty="0"/>
              <a:t>Add chart/table/photo</a:t>
            </a:r>
            <a:endParaRPr lang="en-GB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C7E32C5-B4D2-3D4A-A247-46A7EA56E1C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999" y="1260000"/>
            <a:ext cx="11349183" cy="720000"/>
          </a:xfrm>
        </p:spPr>
        <p:txBody>
          <a:bodyPr anchor="t" anchorCtr="0"/>
          <a:lstStyle>
            <a:lvl1pPr algn="l"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E9B0D2C-B5D7-6C4B-9F42-6AE0EBB91E5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304000" y="6516000"/>
            <a:ext cx="480000" cy="180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278A2380-54B7-4379-AF39-0AFFF5DFD6F0}" type="slidenum">
              <a:rPr lang="en-IN" smtClean="0"/>
              <a:t>‹#›</a:t>
            </a:fld>
            <a:endParaRPr lang="en-IN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ACCBCE4-4A50-C443-90B9-B0D714D231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4495" y="228165"/>
            <a:ext cx="1932305" cy="447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585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DE92B2F-3B5D-374E-8620-EC886CDC0815}"/>
              </a:ext>
            </a:extLst>
          </p:cNvPr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4587B805-39B4-A94D-A62A-73E51D015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000" y="6516000"/>
            <a:ext cx="4704000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defRPr sz="1100" b="0" i="0" cap="none" spc="0" baseline="0">
                <a:solidFill>
                  <a:schemeClr val="tx2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© Oxford University Press 2024. All rights reserved.</a:t>
            </a:r>
            <a:endParaRPr lang="en-IN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C82DC9D-C785-B94C-B406-965D6D8822FE}"/>
              </a:ext>
            </a:extLst>
          </p:cNvPr>
          <p:cNvCxnSpPr/>
          <p:nvPr/>
        </p:nvCxnSpPr>
        <p:spPr>
          <a:xfrm>
            <a:off x="0" y="6372000"/>
            <a:ext cx="12192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A3A0A6-2360-E749-813F-4C2BB76956B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2000" y="2088000"/>
            <a:ext cx="5520000" cy="4140000"/>
          </a:xfrm>
        </p:spPr>
        <p:txBody>
          <a:bodyPr/>
          <a:lstStyle>
            <a:lvl3pPr marL="144000" indent="-144000">
              <a:defRPr/>
            </a:lvl3pPr>
            <a:lvl4pPr marL="288000" indent="-1440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8" name="Content Placeholder 11">
            <a:extLst>
              <a:ext uri="{FF2B5EF4-FFF2-40B4-BE49-F238E27FC236}">
                <a16:creationId xmlns:a16="http://schemas.microsoft.com/office/drawing/2014/main" id="{A6E03B43-8C85-3146-B22E-4FD9A082F70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91251" y="2088000"/>
            <a:ext cx="5520267" cy="4140200"/>
          </a:xfrm>
        </p:spPr>
        <p:txBody>
          <a:bodyPr/>
          <a:lstStyle/>
          <a:p>
            <a:pPr lvl="0"/>
            <a:r>
              <a:rPr lang="en-US" dirty="0"/>
              <a:t>Add chart/table/photo</a:t>
            </a:r>
            <a:endParaRPr lang="en-GB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9821578-A4C2-2446-878D-F5C9374995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999" y="1260000"/>
            <a:ext cx="11282205" cy="720000"/>
          </a:xfrm>
        </p:spPr>
        <p:txBody>
          <a:bodyPr anchor="t" anchorCtr="0"/>
          <a:lstStyle>
            <a:lvl1pPr algn="l"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4A134AF-19DB-7342-9C2D-414BDB13BA7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304000" y="6516000"/>
            <a:ext cx="480000" cy="180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278A2380-54B7-4379-AF39-0AFFF5DFD6F0}" type="slidenum">
              <a:rPr lang="en-IN" smtClean="0"/>
              <a:t>‹#›</a:t>
            </a:fld>
            <a:endParaRPr lang="en-IN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BDA0BFA6-ECB6-FF41-8B37-CAC4ED1569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4495" y="228165"/>
            <a:ext cx="1932305" cy="447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185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09">
          <p15:clr>
            <a:srgbClr val="FBAE40"/>
          </p15:clr>
        </p15:guide>
        <p15:guide id="3" pos="387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739EBC3-2E79-AF4C-A385-42015A47076C}"/>
              </a:ext>
            </a:extLst>
          </p:cNvPr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2CAE3DF5-3A96-064D-B068-053221BE1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000" y="6516000"/>
            <a:ext cx="4704000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defRPr sz="1100" b="0" i="0" cap="none" spc="0" baseline="0">
                <a:solidFill>
                  <a:schemeClr val="tx2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© Oxford University Press 2024. All rights reserved.</a:t>
            </a:r>
            <a:endParaRPr lang="en-IN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DFDDD87-ACE1-C04D-93D1-B1083ED83E11}"/>
              </a:ext>
            </a:extLst>
          </p:cNvPr>
          <p:cNvCxnSpPr/>
          <p:nvPr/>
        </p:nvCxnSpPr>
        <p:spPr>
          <a:xfrm>
            <a:off x="0" y="6372000"/>
            <a:ext cx="12192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8161200" y="2088000"/>
            <a:ext cx="3600000" cy="414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A3A0A6-2360-E749-813F-4C2BB76956B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2000" y="2088000"/>
            <a:ext cx="3600000" cy="41400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2AB1F66A-DEB0-684D-B5D3-31629EAC148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96000" y="2088000"/>
            <a:ext cx="3600000" cy="41400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074D620-F982-5441-BE6E-F7D4543A3CA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000" y="1260000"/>
            <a:ext cx="11343989" cy="720000"/>
          </a:xfrm>
        </p:spPr>
        <p:txBody>
          <a:bodyPr anchor="t" anchorCtr="0"/>
          <a:lstStyle>
            <a:lvl1pPr algn="l"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Add Title</a:t>
            </a:r>
            <a:endParaRPr lang="en-GB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BA5BE87-C937-8640-BE27-67B42DE27C7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304000" y="6516000"/>
            <a:ext cx="480000" cy="180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278A2380-54B7-4379-AF39-0AFFF5DFD6F0}" type="slidenum">
              <a:rPr lang="en-IN" smtClean="0"/>
              <a:t>‹#›</a:t>
            </a:fld>
            <a:endParaRPr lang="en-IN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993504D2-B444-4F40-A6BA-E734F5A4E9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4495" y="228165"/>
            <a:ext cx="1932305" cy="447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826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09">
          <p15:clr>
            <a:srgbClr val="FBAE40"/>
          </p15:clr>
        </p15:guide>
        <p15:guide id="3" pos="387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3A6A55-235B-4730-981B-9D1BB965CFE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Oxford University Press 2024. All rights reserved.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BA99E-25D1-42D1-A78D-F28F96A8AC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8A2380-54B7-4379-AF39-0AFFF5DFD6F0}" type="slidenum">
              <a:rPr lang="en-IN" smtClean="0"/>
              <a:t>‹#›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4726E7-46BA-4B54-A763-895CD5917CB6}"/>
              </a:ext>
            </a:extLst>
          </p:cNvPr>
          <p:cNvSpPr/>
          <p:nvPr/>
        </p:nvSpPr>
        <p:spPr>
          <a:xfrm>
            <a:off x="6260595" y="531341"/>
            <a:ext cx="5931405" cy="584295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dirty="0">
              <a:solidFill>
                <a:schemeClr val="accent2"/>
              </a:solidFill>
              <a:highlight>
                <a:srgbClr val="F2692B"/>
              </a:highligh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39E52C-08A2-4225-8B56-BAC3BACB926E}"/>
              </a:ext>
            </a:extLst>
          </p:cNvPr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7025C311-4A7F-487B-A84B-9C1948BA24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42101" y="1651597"/>
            <a:ext cx="4953089" cy="3723776"/>
          </a:xfrm>
        </p:spPr>
        <p:txBody>
          <a:bodyPr anchor="t" anchorCtr="0"/>
          <a:lstStyle>
            <a:lvl1pPr algn="l">
              <a:lnSpc>
                <a:spcPct val="120000"/>
              </a:lnSpc>
              <a:defRPr sz="3000">
                <a:solidFill>
                  <a:schemeClr val="tx2"/>
                </a:solidFill>
                <a:latin typeface="+mj-lt"/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“Quote or statement”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313CC98-D8A8-4DFA-8BB4-82E5CB8047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4495" y="228165"/>
            <a:ext cx="1932305" cy="44722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99BA821-4050-4623-94EA-BEB11F2A7968}"/>
              </a:ext>
            </a:extLst>
          </p:cNvPr>
          <p:cNvCxnSpPr/>
          <p:nvPr/>
        </p:nvCxnSpPr>
        <p:spPr>
          <a:xfrm>
            <a:off x="0" y="6372000"/>
            <a:ext cx="12192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2B34AC7-CAE1-4A11-9F35-3EF0E16FB0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4092" y="1376853"/>
            <a:ext cx="5499100" cy="458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62120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and 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C9BCFD0-067D-6545-8C5D-27D2627541BB}"/>
              </a:ext>
            </a:extLst>
          </p:cNvPr>
          <p:cNvSpPr/>
          <p:nvPr/>
        </p:nvSpPr>
        <p:spPr>
          <a:xfrm>
            <a:off x="0" y="531341"/>
            <a:ext cx="5931405" cy="584295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dirty="0">
              <a:solidFill>
                <a:schemeClr val="tx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F9EB67-9E65-204A-B7A8-73B03B26A550}"/>
              </a:ext>
            </a:extLst>
          </p:cNvPr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F1BF6B2-48A5-1B4F-B109-4AD86E66F171}"/>
              </a:ext>
            </a:extLst>
          </p:cNvPr>
          <p:cNvCxnSpPr/>
          <p:nvPr/>
        </p:nvCxnSpPr>
        <p:spPr>
          <a:xfrm>
            <a:off x="0" y="6372000"/>
            <a:ext cx="12192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A57B211-0045-2844-B5DA-1D7E13A68B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53200" y="1296000"/>
            <a:ext cx="5508000" cy="4752000"/>
          </a:xfrm>
        </p:spPr>
        <p:txBody>
          <a:bodyPr/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7B40B0-3203-CF4D-9A88-A624E8DA0C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506" y="1661024"/>
            <a:ext cx="4953089" cy="3723776"/>
          </a:xfrm>
        </p:spPr>
        <p:txBody>
          <a:bodyPr anchor="t" anchorCtr="0"/>
          <a:lstStyle>
            <a:lvl1pPr algn="l">
              <a:lnSpc>
                <a:spcPct val="120000"/>
              </a:lnSpc>
              <a:defRPr sz="3000">
                <a:solidFill>
                  <a:schemeClr val="bg1"/>
                </a:solidFill>
                <a:latin typeface="+mj-lt"/>
              </a:defRPr>
            </a:lvl1pPr>
            <a:lvl2pPr algn="ctr">
              <a:defRPr>
                <a:solidFill>
                  <a:schemeClr val="accent4"/>
                </a:solidFill>
              </a:defRPr>
            </a:lvl2pPr>
            <a:lvl3pPr algn="ctr">
              <a:defRPr>
                <a:solidFill>
                  <a:schemeClr val="accent4"/>
                </a:solidFill>
              </a:defRPr>
            </a:lvl3pPr>
            <a:lvl4pPr algn="ctr">
              <a:defRPr>
                <a:solidFill>
                  <a:schemeClr val="accent4"/>
                </a:solidFill>
              </a:defRPr>
            </a:lvl4pPr>
            <a:lvl5pPr algn="ctr"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GB" dirty="0"/>
              <a:t>“Quote or statement”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3E1636A-7E1C-4042-8E40-337CB68DC02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304000" y="6516000"/>
            <a:ext cx="480000" cy="180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278A2380-54B7-4379-AF39-0AFFF5DFD6F0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8609E81-C585-8744-AD73-8C072DF8585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4495" y="228165"/>
            <a:ext cx="1932305" cy="447229"/>
          </a:xfrm>
          <a:prstGeom prst="rect">
            <a:avLst/>
          </a:prstGeom>
        </p:spPr>
      </p:pic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6DD65B2-8958-684E-9DF1-A1F41C927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000" y="6516000"/>
            <a:ext cx="4704000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defRPr sz="1100" b="0" i="0" cap="none" spc="0" baseline="0">
                <a:solidFill>
                  <a:schemeClr val="tx2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© Oxford University Press 2024. All rights reserved.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9837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and 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C9BCFD0-067D-6545-8C5D-27D2627541BB}"/>
              </a:ext>
            </a:extLst>
          </p:cNvPr>
          <p:cNvSpPr/>
          <p:nvPr/>
        </p:nvSpPr>
        <p:spPr>
          <a:xfrm>
            <a:off x="6260595" y="531341"/>
            <a:ext cx="5931405" cy="584295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dirty="0">
              <a:solidFill>
                <a:schemeClr val="accent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F9EB67-9E65-204A-B7A8-73B03B26A550}"/>
              </a:ext>
            </a:extLst>
          </p:cNvPr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F1BF6B2-48A5-1B4F-B109-4AD86E66F171}"/>
              </a:ext>
            </a:extLst>
          </p:cNvPr>
          <p:cNvCxnSpPr/>
          <p:nvPr/>
        </p:nvCxnSpPr>
        <p:spPr>
          <a:xfrm>
            <a:off x="0" y="6372000"/>
            <a:ext cx="12192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A57B211-0045-2844-B5DA-1D7E13A68B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2000" y="1296000"/>
            <a:ext cx="5508000" cy="4752000"/>
          </a:xfrm>
        </p:spPr>
        <p:txBody>
          <a:bodyPr/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7B40B0-3203-CF4D-9A88-A624E8DA0C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42101" y="1661024"/>
            <a:ext cx="4953089" cy="3723776"/>
          </a:xfrm>
        </p:spPr>
        <p:txBody>
          <a:bodyPr anchor="t" anchorCtr="0"/>
          <a:lstStyle>
            <a:lvl1pPr algn="l">
              <a:lnSpc>
                <a:spcPct val="120000"/>
              </a:lnSpc>
              <a:defRPr sz="3000">
                <a:solidFill>
                  <a:schemeClr val="tx2"/>
                </a:solidFill>
                <a:latin typeface="+mj-lt"/>
              </a:defRPr>
            </a:lvl1pPr>
            <a:lvl2pPr algn="ctr">
              <a:defRPr>
                <a:solidFill>
                  <a:schemeClr val="tx2"/>
                </a:solidFill>
              </a:defRPr>
            </a:lvl2pPr>
            <a:lvl3pPr algn="ctr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tx2"/>
                </a:solidFill>
              </a:defRPr>
            </a:lvl4pPr>
            <a:lvl5pPr algn="ctr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“Quote or statement goes here”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43E513C-589A-FF49-BFDE-0A7D8FB554D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304000" y="6516000"/>
            <a:ext cx="480000" cy="180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278A2380-54B7-4379-AF39-0AFFF5DFD6F0}" type="slidenum">
              <a:rPr lang="en-IN" smtClean="0"/>
              <a:t>‹#›</a:t>
            </a:fld>
            <a:endParaRPr lang="en-IN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82C24E9-6FCE-4248-BF58-7BFF398BEA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4495" y="228165"/>
            <a:ext cx="1932305" cy="447229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43E13EAC-98C4-4B4E-96F3-38B24D8FE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000" y="6516000"/>
            <a:ext cx="4704000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defRPr sz="1100" b="0" i="0" cap="none" spc="0" baseline="0">
                <a:solidFill>
                  <a:schemeClr val="tx2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© Oxford University Press 2024. All rights reserved.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658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8B7077F-D91F-8948-9ECB-C2D32251CE17}"/>
              </a:ext>
            </a:extLst>
          </p:cNvPr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A9648BA-17B9-F044-A0C4-221BF80D3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000" y="6516000"/>
            <a:ext cx="4704000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defRPr sz="1100" b="0" i="0" cap="none" spc="0" baseline="0">
                <a:solidFill>
                  <a:schemeClr val="tx2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© Oxford University Press 2024. All rights reserved.</a:t>
            </a:r>
            <a:endParaRPr lang="en-IN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989E7DF-FE1D-084F-88EA-E9633041F143}"/>
              </a:ext>
            </a:extLst>
          </p:cNvPr>
          <p:cNvCxnSpPr/>
          <p:nvPr/>
        </p:nvCxnSpPr>
        <p:spPr>
          <a:xfrm>
            <a:off x="0" y="6372000"/>
            <a:ext cx="12192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EC8765E-7826-1748-8472-ADB34D09F79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2000" y="1260000"/>
            <a:ext cx="3600449" cy="4933481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0219AE79-442B-B24C-BB69-50651E6FEAA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91200" y="1260000"/>
            <a:ext cx="3600449" cy="4933482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1F34AE87-A884-3F46-BDEF-93AEDE5E01EE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161200" y="1260000"/>
            <a:ext cx="3600449" cy="49320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0506BC29-BD72-7743-A224-634C5037F0F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304000" y="6516000"/>
            <a:ext cx="480000" cy="180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278A2380-54B7-4379-AF39-0AFFF5DFD6F0}" type="slidenum">
              <a:rPr lang="en-IN" smtClean="0"/>
              <a:t>‹#›</a:t>
            </a:fld>
            <a:endParaRPr lang="en-IN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A4A47060-EA29-F348-A3B2-F42CB7DA5B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4495" y="228165"/>
            <a:ext cx="1932305" cy="447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6089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Multiple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ADA8D41-0A96-924B-A078-EB59844464EE}"/>
              </a:ext>
            </a:extLst>
          </p:cNvPr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dirty="0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E30A32ED-8133-404E-93CA-5E3A2A31A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000" y="6516000"/>
            <a:ext cx="4704000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defRPr sz="1100" b="0" i="0" cap="none" spc="0" baseline="0">
                <a:solidFill>
                  <a:schemeClr val="tx2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© Oxford University Press 2024. All rights reserved.</a:t>
            </a:r>
            <a:endParaRPr lang="en-IN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B6D721C-D7FD-584E-A033-B11008ABFC7C}"/>
              </a:ext>
            </a:extLst>
          </p:cNvPr>
          <p:cNvCxnSpPr/>
          <p:nvPr/>
        </p:nvCxnSpPr>
        <p:spPr>
          <a:xfrm>
            <a:off x="0" y="6372000"/>
            <a:ext cx="12192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4CFF857B-12AB-E04C-A1F6-FC4B79FE18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00000" y="3816000"/>
            <a:ext cx="2628000" cy="2376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4FAE989E-25E7-1149-9293-241B09C5CA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00000" y="1260000"/>
            <a:ext cx="2628000" cy="2376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60E16E0C-FDEC-6A4D-8D90-1A65F10ABDB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120336" y="3816000"/>
            <a:ext cx="2628000" cy="2376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66363F88-7A49-D942-A043-8CF8DF2E24C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20336" y="1260000"/>
            <a:ext cx="2628000" cy="2376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440009B8-931B-F54E-BA1E-D9C16B4E45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6266" y="1276711"/>
            <a:ext cx="5669734" cy="4925306"/>
          </a:xfrm>
          <a:solidFill>
            <a:schemeClr val="bg2"/>
          </a:solidFill>
        </p:spPr>
        <p:txBody>
          <a:bodyPr lIns="144000" tIns="144000" rIns="144000" bIns="144000" anchor="t" anchorCtr="0"/>
          <a:lstStyle>
            <a:lvl1pPr algn="l">
              <a:defRPr>
                <a:solidFill>
                  <a:schemeClr val="tx2"/>
                </a:solidFill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l">
              <a:defRPr>
                <a:solidFill>
                  <a:schemeClr val="tx2"/>
                </a:solidFill>
              </a:defRPr>
            </a:lvl4pPr>
            <a:lvl5pPr algn="l"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A87EFF2F-A951-9F44-A426-FD3A0BB7814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304000" y="6516000"/>
            <a:ext cx="480000" cy="180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278A2380-54B7-4379-AF39-0AFFF5DFD6F0}" type="slidenum">
              <a:rPr lang="en-IN" smtClean="0"/>
              <a:t>‹#›</a:t>
            </a:fld>
            <a:endParaRPr lang="en-IN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D838BB3D-9262-B64B-9517-6DE0A996FD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4495" y="228165"/>
            <a:ext cx="1932305" cy="447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0498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ADA8D41-0A96-924B-A078-EB59844464EE}"/>
              </a:ext>
            </a:extLst>
          </p:cNvPr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dirty="0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E30A32ED-8133-404E-93CA-5E3A2A31A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000" y="6516000"/>
            <a:ext cx="4704000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defRPr sz="1100" b="0" i="0" cap="none" spc="0" baseline="0">
                <a:solidFill>
                  <a:schemeClr val="tx2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© Oxford University Press 2024. All rights reserved.</a:t>
            </a:r>
            <a:endParaRPr lang="en-IN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D9C27669-02C0-A244-8A78-68E60250A1E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304000" y="6516000"/>
            <a:ext cx="480000" cy="180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278A2380-54B7-4379-AF39-0AFFF5DFD6F0}" type="slidenum">
              <a:rPr lang="en-IN" smtClean="0"/>
              <a:t>‹#›</a:t>
            </a:fld>
            <a:endParaRPr lang="en-IN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B6D721C-D7FD-584E-A033-B11008ABFC7C}"/>
              </a:ext>
            </a:extLst>
          </p:cNvPr>
          <p:cNvCxnSpPr/>
          <p:nvPr/>
        </p:nvCxnSpPr>
        <p:spPr>
          <a:xfrm>
            <a:off x="0" y="6372000"/>
            <a:ext cx="12192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40A40-E5B5-A844-8D30-DAF4B761227C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32000" y="1258888"/>
            <a:ext cx="2664000" cy="2386012"/>
          </a:xfrm>
          <a:solidFill>
            <a:srgbClr val="F4E4DD"/>
          </a:solidFill>
        </p:spPr>
        <p:txBody>
          <a:bodyPr lIns="72000" tIns="72000" rIns="72000" bIns="72000"/>
          <a:lstStyle>
            <a:lvl1pPr>
              <a:defRPr sz="1500"/>
            </a:lvl1pPr>
          </a:lstStyle>
          <a:p>
            <a:pPr lvl="0"/>
            <a:r>
              <a:rPr lang="en-GB" dirty="0"/>
              <a:t>Add content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2497FDA-F163-5541-BB4B-36A8695804A4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9118800" y="1258888"/>
            <a:ext cx="2664000" cy="2386012"/>
          </a:xfrm>
          <a:solidFill>
            <a:srgbClr val="E3E1E0"/>
          </a:solidFill>
        </p:spPr>
        <p:txBody>
          <a:bodyPr lIns="72000" tIns="72000" rIns="72000" bIns="72000"/>
          <a:lstStyle>
            <a:lvl1pPr>
              <a:defRPr sz="1500"/>
            </a:lvl1pPr>
          </a:lstStyle>
          <a:p>
            <a:pPr lvl="0"/>
            <a:r>
              <a:rPr lang="en-GB" dirty="0"/>
              <a:t>Add content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0753C3B-1A30-6540-BB7B-E7C488D79035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3327600" y="1258888"/>
            <a:ext cx="2664000" cy="2386012"/>
          </a:xfrm>
          <a:solidFill>
            <a:srgbClr val="E0E7D0"/>
          </a:solidFill>
        </p:spPr>
        <p:txBody>
          <a:bodyPr lIns="72000" tIns="72000" rIns="72000" bIns="72000"/>
          <a:lstStyle>
            <a:lvl1pPr>
              <a:defRPr sz="1500"/>
            </a:lvl1pPr>
          </a:lstStyle>
          <a:p>
            <a:pPr lvl="0"/>
            <a:r>
              <a:rPr lang="en-GB" dirty="0"/>
              <a:t>Add content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C2B6887E-02B4-224F-9032-803169527750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6223200" y="1258888"/>
            <a:ext cx="2664000" cy="2386012"/>
          </a:xfrm>
          <a:solidFill>
            <a:srgbClr val="F2EEDA"/>
          </a:solidFill>
        </p:spPr>
        <p:txBody>
          <a:bodyPr lIns="72000" tIns="72000" rIns="72000" bIns="72000"/>
          <a:lstStyle>
            <a:lvl1pPr>
              <a:defRPr sz="1500"/>
            </a:lvl1pPr>
          </a:lstStyle>
          <a:p>
            <a:pPr lvl="0"/>
            <a:r>
              <a:rPr lang="en-GB" dirty="0"/>
              <a:t>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A016F4-463D-1F43-990B-3AC3A7FFFAA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2000" y="3852000"/>
            <a:ext cx="5567362" cy="234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88C5B731-B650-C241-9628-1D8A5E77C5F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40016" y="3852000"/>
            <a:ext cx="5567362" cy="234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7911147A-5087-BD46-A32A-3953BD0C9E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4495" y="228165"/>
            <a:ext cx="1932305" cy="447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3849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- Light Log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081DD78-DE67-F04F-A476-A154F14C80E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4495" y="228165"/>
            <a:ext cx="1932305" cy="447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5670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- Dark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08BD56D-C3E7-2944-BB80-5620F5AF646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4495" y="228165"/>
            <a:ext cx="1932305" cy="447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662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02D65-2B3B-4C46-BD65-6D6F4125FD11}" type="datetime1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Oxford University Press 2024. All rights reserved.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2380-54B7-4379-AF39-0AFFF5DFD6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1688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15AF-E00B-41CF-A767-71198D1F454B}" type="datetime1">
              <a:rPr lang="en-IN" smtClean="0"/>
              <a:t>22-04-2026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2380-54B7-4379-AF39-0AFFF5DFD6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5294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4B4297-128C-4BD7-9A14-1B800D2BA16A}" type="datetime1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Oxford University Press 2024. All rights reserved.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2380-54B7-4379-AF39-0AFFF5DFD6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2670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3416C-712A-4F4D-A30B-0C94FA473D70}" type="datetime1">
              <a:rPr lang="en-IN" smtClean="0"/>
              <a:t>22-04-2026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Oxford University Press 2024. All rights reserved.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2380-54B7-4379-AF39-0AFFF5DFD6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44874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16969-D3F4-4869-B983-189AA0301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1EE7AB-321B-4540-842B-C6F29AF98C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52A3D7-07CF-4F94-BB90-3CBEC90AD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49249-25AE-4DFC-9EE9-6253D4D14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B3FB1-72E2-4464-B17F-52BF1E0DF015}" type="datetime1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5F6FBE-16B4-4756-AF45-DEA16EA3F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Oxford University Press 2024. All rights reserved.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3E66-AFEC-4AA2-8C17-DA5C3AC0F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A2380-54B7-4379-AF39-0AFFF5DFD6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101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78353D-46A7-2448-89A2-82D8D5FD3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232000" cy="72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85E140-9D5F-0646-BC1E-1FBC73E96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825625"/>
            <a:ext cx="11394000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8502E10-5E11-A544-894B-482862B46D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516000"/>
            <a:ext cx="4704000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defRPr sz="1100" b="0" i="0" cap="none" spc="0" baseline="0">
                <a:solidFill>
                  <a:schemeClr val="tx2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© Oxford University Press 2024. All rights reserved.</a:t>
            </a:r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E3D3D65-06BB-1F41-B8A0-F90D4CA083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4000" y="6516000"/>
            <a:ext cx="480000" cy="180000"/>
          </a:xfrm>
          <a:prstGeom prst="rect">
            <a:avLst/>
          </a:prstGeom>
        </p:spPr>
        <p:txBody>
          <a:bodyPr lIns="0" tIns="0" rIns="0" bIns="0" anchor="t" anchorCtr="0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278A2380-54B7-4379-AF39-0AFFF5DFD6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119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1260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tabLst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1260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tabLst>
          <a:tab pos="126000" algn="l"/>
        </a:tabLst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126000" indent="-126000" algn="l" defTabSz="126000" rtl="0" eaLnBrk="1" latinLnBrk="0" hangingPunct="1">
        <a:lnSpc>
          <a:spcPct val="105000"/>
        </a:lnSpc>
        <a:spcBef>
          <a:spcPts val="0"/>
        </a:spcBef>
        <a:buFont typeface="System Font Regular"/>
        <a:buChar char="–"/>
        <a:tabLst>
          <a:tab pos="126000" algn="l"/>
        </a:tabLst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288000" indent="-144000" algn="l" defTabSz="126000" rtl="0" eaLnBrk="1" latinLnBrk="0" hangingPunct="1">
        <a:lnSpc>
          <a:spcPct val="105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tabLst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0" indent="0" algn="l" defTabSz="126000" rtl="0" eaLnBrk="1" latinLnBrk="0" hangingPunct="1">
        <a:lnSpc>
          <a:spcPct val="105000"/>
        </a:lnSpc>
        <a:spcBef>
          <a:spcPts val="800"/>
        </a:spcBef>
        <a:spcAft>
          <a:spcPts val="800"/>
        </a:spcAft>
        <a:buFont typeface="Arial" panose="020B0604020202020204" pitchFamily="34" charset="0"/>
        <a:buNone/>
        <a:tabLst>
          <a:tab pos="126000" algn="l"/>
        </a:tabLst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16000" indent="-216000" algn="l" defTabSz="126000" rtl="0" eaLnBrk="1" latinLnBrk="0" hangingPunct="1">
        <a:lnSpc>
          <a:spcPct val="105000"/>
        </a:lnSpc>
        <a:spcBef>
          <a:spcPts val="0"/>
        </a:spcBef>
        <a:spcAft>
          <a:spcPts val="600"/>
        </a:spcAft>
        <a:buFont typeface="+mj-lt"/>
        <a:buAutoNum type="arabicPeriod"/>
        <a:tabLst>
          <a:tab pos="126000" algn="l"/>
        </a:tabLst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6000" indent="-216000" algn="l" defTabSz="126000" rtl="0" eaLnBrk="1" latinLnBrk="0" hangingPunct="1">
        <a:lnSpc>
          <a:spcPct val="105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•"/>
        <a:tabLst>
          <a:tab pos="126000" algn="l"/>
        </a:tabLst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0" indent="0" algn="l" defTabSz="1260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tabLst>
          <a:tab pos="126000" algn="l"/>
        </a:tabLst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0" indent="0" algn="l" defTabSz="126000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tabLst>
          <a:tab pos="126000" algn="l"/>
        </a:tabLst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A3F25-0AC9-492E-A1E2-24255B44A4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1332000"/>
            <a:ext cx="9144000" cy="2160000"/>
          </a:xfrm>
        </p:spPr>
        <p:txBody>
          <a:bodyPr anchor="b">
            <a:normAutofit/>
          </a:bodyPr>
          <a:lstStyle/>
          <a:p>
            <a:pPr algn="ctr"/>
            <a:r>
              <a:rPr lang="en-US" dirty="0"/>
              <a:t>Backtracking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3389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3C5D7-0436-4F21-BAB3-A4D13EB01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72459-2015-4F26-B848-182B68190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systematic method for searching for one or more solutions for a given problem</a:t>
            </a:r>
          </a:p>
          <a:p>
            <a:r>
              <a:rPr lang="en-US" dirty="0"/>
              <a:t>A backtracking design paradigm can solve</a:t>
            </a:r>
          </a:p>
          <a:p>
            <a:pPr lvl="1"/>
            <a:r>
              <a:rPr lang="en-US" b="1" dirty="0"/>
              <a:t>Enumeration problems </a:t>
            </a:r>
            <a:r>
              <a:rPr lang="en-US" dirty="0"/>
              <a:t>All solutions are listed for a given problem.</a:t>
            </a:r>
          </a:p>
          <a:p>
            <a:pPr lvl="1"/>
            <a:r>
              <a:rPr lang="en-US" b="1" dirty="0"/>
              <a:t>Decision problems </a:t>
            </a:r>
            <a:r>
              <a:rPr lang="en-US" dirty="0"/>
              <a:t>A solution is given in terms of yes/no.</a:t>
            </a:r>
          </a:p>
          <a:p>
            <a:pPr lvl="1"/>
            <a:r>
              <a:rPr lang="en-US" b="1" dirty="0"/>
              <a:t>Optimization problems </a:t>
            </a:r>
            <a:r>
              <a:rPr lang="en-US" dirty="0"/>
              <a:t>optimal solutions are required to maximize or minimize the given objective function as per the given problem’s constraints</a:t>
            </a:r>
          </a:p>
          <a:p>
            <a:r>
              <a:rPr lang="en-US" dirty="0"/>
              <a:t>Effectively solve multi-decision problems, where the final solution is visualized as a set of decisions.</a:t>
            </a:r>
          </a:p>
          <a:p>
            <a:r>
              <a:rPr lang="en-US" dirty="0"/>
              <a:t>Can find the first possible solution or looks for all possible solutions for the given problem. </a:t>
            </a:r>
            <a:r>
              <a:rPr lang="en-US" dirty="0" err="1"/>
              <a:t>Eg</a:t>
            </a:r>
            <a:r>
              <a:rPr lang="en-US" dirty="0"/>
              <a:t>: Torchlight search, puzzles (mazes, Sudoku)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1461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152AF-044F-4D9C-A9F3-46554E53B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Brute-force vs Backtracking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B575939-F78A-4518-B262-5B74087B77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08314"/>
            <a:ext cx="10730948" cy="3896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416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82EFA-9CCF-4240-8A38-971EDBC0E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Basics of Backtracking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2068EB-2EC2-4215-9F49-27D5469BDE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Defines desired solution. Represented as n-tuple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/>
                  <a:t> and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dirty="0"/>
                  <a:t> belongs to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:r>
                  <a:rPr lang="en-IN" dirty="0"/>
                  <a:t>Solution space: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IN" dirty="0"/>
              </a:p>
              <a:p>
                <a:r>
                  <a:rPr lang="en-US" dirty="0"/>
                  <a:t>Brute-force Challenge: Check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vectors, leading to an exponential algorithm.</a:t>
                </a:r>
              </a:p>
              <a:p>
                <a:r>
                  <a:rPr lang="en-US" dirty="0"/>
                  <a:t>Backtracking the vectors needs to maximize/minimize the criterion function </a:t>
                </a:r>
                <a:r>
                  <a:rPr lang="en-US" b="0" i="0" dirty="0">
                    <a:latin typeface="+mj-lt"/>
                  </a:rPr>
                  <a:t>p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/>
                  <a:t> </a:t>
                </a:r>
                <a:r>
                  <a:rPr lang="en-US" dirty="0"/>
                  <a:t>. </a:t>
                </a:r>
              </a:p>
              <a:p>
                <a:r>
                  <a:rPr lang="en-US" dirty="0"/>
                  <a:t>If the criteria function leads to a suboptimal or infeasible solution, the n-tuple vector is discarded completely.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2068EB-2EC2-4215-9F49-27D5469BDE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7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9144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1F675-B35E-4792-9800-875D06BB5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Basics of Backtracking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33B013-BE0A-4EEA-BDB3-BCA69FD1A7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Two types of constraints: </a:t>
                </a:r>
              </a:p>
              <a:p>
                <a:pPr lvl="2"/>
                <a:r>
                  <a:rPr lang="en-US" dirty="0"/>
                  <a:t>Explicit constraints.</a:t>
                </a:r>
              </a:p>
              <a:p>
                <a:pPr lvl="2"/>
                <a:r>
                  <a:rPr lang="en-US" dirty="0"/>
                  <a:t>Implicit constraints.</a:t>
                </a:r>
              </a:p>
              <a:p>
                <a:r>
                  <a:rPr lang="en-US" b="1" dirty="0"/>
                  <a:t>Explicit constraints</a:t>
                </a:r>
                <a:r>
                  <a:rPr lang="en-US" dirty="0"/>
                  <a:t> are rules that restrict components of the solution vector, say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from a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. For example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≥0 is an explicit constraint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forced to a value greater than zero.</a:t>
                </a:r>
              </a:p>
              <a:p>
                <a:r>
                  <a:rPr lang="en-US" b="1" dirty="0"/>
                  <a:t>Implicit constraints </a:t>
                </a:r>
                <a:r>
                  <a:rPr lang="en-US" dirty="0"/>
                  <a:t>are rules that limit n-tuple vectors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All the vectors in the solution space may not satisfy the criteria function. Internal constraints force only those n-tuple vectors that are promising.</a:t>
                </a:r>
              </a:p>
              <a:p>
                <a:r>
                  <a:rPr lang="en-US" dirty="0"/>
                  <a:t>Example: 8-Queen Problem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33B013-BE0A-4EEA-BDB3-BCA69FD1A7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17" t="-1120" r="-4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9775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B3E08-6543-43F1-8B13-DA691692B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Generations of state space trees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19D44-C9D6-4A85-8BD9-A95404706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Arranges all possible solutions in a tree-like fashion. </a:t>
            </a:r>
          </a:p>
          <a:p>
            <a:r>
              <a:rPr lang="en-US" dirty="0"/>
              <a:t>The other names for state-space tree are solution space or recursion tree. </a:t>
            </a:r>
          </a:p>
          <a:p>
            <a:r>
              <a:rPr lang="en-US" dirty="0" err="1"/>
              <a:t>Everybranch</a:t>
            </a:r>
            <a:r>
              <a:rPr lang="en-US" dirty="0"/>
              <a:t> is a variable, and every level represents a solution. Every node represents a partial solution that illustrates the choices made from the root to that node, and the edges represent the transition from states. </a:t>
            </a:r>
          </a:p>
          <a:p>
            <a:r>
              <a:rPr lang="en-US" dirty="0"/>
              <a:t>If the problem has a solution, then the solution is present in a node somewhere in the state-space tree. </a:t>
            </a:r>
          </a:p>
          <a:p>
            <a:r>
              <a:rPr lang="en-US" dirty="0"/>
              <a:t>Thus, the problem is reduced to searching for this node, the solution node, from the root of the state-space tree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196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97211-74DF-43E0-B065-1F30DCEA9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Generations of state space trees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2137722-F73A-41BA-BE43-F8492AF675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3778" y="1590262"/>
            <a:ext cx="10704443" cy="17095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9C8272-D8B3-4F57-8FFD-E580A39DC79A}"/>
              </a:ext>
            </a:extLst>
          </p:cNvPr>
          <p:cNvSpPr txBox="1"/>
          <p:nvPr/>
        </p:nvSpPr>
        <p:spPr>
          <a:xfrm>
            <a:off x="909431" y="3429000"/>
            <a:ext cx="1037313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Consider a suitcase password problem, where a three-digit password of a suitcase is forgotten. Assume </a:t>
            </a:r>
          </a:p>
          <a:p>
            <a:r>
              <a:rPr lang="en-US" dirty="0">
                <a:solidFill>
                  <a:srgbClr val="FF0000"/>
                </a:solidFill>
              </a:rPr>
              <a:t>that the digits of the password are restricted to binary numbers, and the unknown password is said to have at least two 1s. Construct a backtracking solution for this problem.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3962CE-8D8B-4AE8-BC11-E3AC7BC2513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50" t="3899" r="6400"/>
          <a:stretch/>
        </p:blipFill>
        <p:spPr>
          <a:xfrm>
            <a:off x="5771322" y="4352330"/>
            <a:ext cx="6420678" cy="2490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648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4DB4-252C-457C-9EA8-1D77C786E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Searching state-space tree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2CAC7-5E2F-4AAA-8E71-233896CA8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Step 1: </a:t>
            </a:r>
            <a:r>
              <a:rPr lang="en-US" dirty="0"/>
              <a:t>While many choices are left out, perform Step 2.</a:t>
            </a:r>
          </a:p>
          <a:p>
            <a:r>
              <a:rPr lang="en-US" b="1" dirty="0"/>
              <a:t>Step 2:</a:t>
            </a:r>
            <a:r>
              <a:rPr lang="en-US" dirty="0"/>
              <a:t> Generate a state-space tree using the DFS approach.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b="1" dirty="0"/>
              <a:t>2a:</a:t>
            </a:r>
            <a:r>
              <a:rPr lang="en-US" dirty="0"/>
              <a:t>Check the next configurations using bounding functions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/>
              <a:t>2b:</a:t>
            </a:r>
            <a:r>
              <a:rPr lang="en-US" dirty="0"/>
              <a:t> if the solution is promising, then</a:t>
            </a:r>
          </a:p>
          <a:p>
            <a:pPr marL="0" indent="0">
              <a:buNone/>
            </a:pPr>
            <a:r>
              <a:rPr lang="en-US" dirty="0"/>
              <a:t>	if the solution is obtained, then</a:t>
            </a:r>
          </a:p>
          <a:p>
            <a:pPr marL="0" indent="0">
              <a:buNone/>
            </a:pPr>
            <a:r>
              <a:rPr lang="en-US" dirty="0"/>
              <a:t>	print the solution</a:t>
            </a:r>
          </a:p>
          <a:p>
            <a:pPr marL="0" indent="0">
              <a:buNone/>
            </a:pPr>
            <a:r>
              <a:rPr lang="en-US" dirty="0"/>
              <a:t>	else</a:t>
            </a:r>
          </a:p>
          <a:p>
            <a:pPr marL="0" indent="0">
              <a:buNone/>
            </a:pPr>
            <a:r>
              <a:rPr lang="en-US" dirty="0"/>
              <a:t>	Backtrack to the parent of the node and try again</a:t>
            </a:r>
          </a:p>
          <a:p>
            <a:r>
              <a:rPr lang="en-US" b="1" dirty="0"/>
              <a:t>Step 3:</a:t>
            </a:r>
            <a:r>
              <a:rPr lang="en-US" dirty="0"/>
              <a:t> End.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9268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75DCC-921E-460C-A7F1-42FB413A2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Backtracking algorithm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47B3A30-7BA4-4903-80BB-93B87AE9C7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2511" y="1868557"/>
            <a:ext cx="9506977" cy="3630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542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03C90-FFFC-4C2B-9DCE-6B53109EC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Modified version of Backtracking Algorithm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BBE79-6714-4E27-9583-9C580E372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difference between the previous algorithm and this algorithm is that the children node would be visited only if the node is promising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E7C1FF-3A53-456A-AFB1-81BBAAA99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548" y="2755961"/>
            <a:ext cx="9658964" cy="373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997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060BC-9C78-45BF-BA47-70C27F3A0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N-Queen Problem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3D77BF-7719-4772-A4EC-F402DC7E51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Place N queens on an N × N chessboard with no two queens in attacking </a:t>
                </a:r>
              </a:p>
              <a:p>
                <a:pPr marL="0" indent="0">
                  <a:buNone/>
                </a:pPr>
                <a:r>
                  <a:rPr lang="en-US" dirty="0"/>
                  <a:t>positions.</a:t>
                </a:r>
              </a:p>
              <a:p>
                <a:r>
                  <a:rPr lang="en-US" dirty="0"/>
                  <a:t>Visualizing with a simpler 4-queen scenario due to complexity.</a:t>
                </a:r>
              </a:p>
              <a:p>
                <a:r>
                  <a:rPr lang="en-US" dirty="0"/>
                  <a:t>Initial Solution Vector: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dirty="0"/>
                  <a:t> for 4 queens.</a:t>
                </a:r>
              </a:p>
              <a:p>
                <a:r>
                  <a:rPr lang="en-US" dirty="0"/>
                  <a:t>Constraints for 4-Queen Problem:</a:t>
                </a:r>
              </a:p>
              <a:p>
                <a:r>
                  <a:rPr lang="en-US" b="1" dirty="0"/>
                  <a:t>External Constraint: </a:t>
                </a:r>
                <a:r>
                  <a:rPr lang="en-US" dirty="0"/>
                  <a:t>Four queens from set S={1,2,3,4}, representing </a:t>
                </a:r>
              </a:p>
              <a:p>
                <a:pPr marL="0" indent="0">
                  <a:buNone/>
                </a:pPr>
                <a:r>
                  <a:rPr lang="en-US" dirty="0"/>
                  <a:t>columns.</a:t>
                </a:r>
              </a:p>
              <a:p>
                <a:r>
                  <a:rPr lang="en-US" b="1" dirty="0"/>
                  <a:t>Internal Constraint: </a:t>
                </a:r>
                <a:r>
                  <a:rPr lang="en-US" dirty="0"/>
                  <a:t>No two queens in attacking positions.</a:t>
                </a:r>
              </a:p>
              <a:p>
                <a:r>
                  <a:rPr lang="en-US" dirty="0"/>
                  <a:t>Bounding Functions and Constraints:</a:t>
                </a:r>
              </a:p>
              <a:p>
                <a:r>
                  <a:rPr lang="en-US" b="1" dirty="0"/>
                  <a:t>Pattern of Solutions: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IN" b="1" dirty="0"/>
                  <a:t> </a:t>
                </a:r>
                <a:r>
                  <a:rPr lang="en-IN" dirty="0"/>
                  <a:t>where n! permutations are possible</a:t>
                </a:r>
              </a:p>
              <a:p>
                <a:r>
                  <a:rPr lang="en-US" dirty="0"/>
                  <a:t>Unique Column Positions: y should be a permutation of (1,2,...,n).</a:t>
                </a:r>
              </a:p>
              <a:p>
                <a:r>
                  <a:rPr lang="en-US" dirty="0"/>
                  <a:t>Diagonal Constraint: No two queens in the same diagonal.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3D77BF-7719-4772-A4EC-F402DC7E51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24" t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E1FCADC-3A51-4588-B62F-F207D5E9B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5305" y="1207947"/>
            <a:ext cx="2491407" cy="24047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155D76-6D3A-47D8-99E4-92921DF67F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305" y="3861224"/>
            <a:ext cx="2491407" cy="231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330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8BDC5-5156-4839-8D4C-E16B46D6C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N-Queen 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C4822-1C81-43AA-BCD4-BF0C29636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Given 1 × 1, 2 × 2, 3 × 3, and 4 × 4 boards, show the placement of queens in these boards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0BF850-AD98-4E8F-A9CC-D68341545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191" y="2624024"/>
            <a:ext cx="4353533" cy="16099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803606-CF5A-4D8A-93D6-75A2C36E4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88" y="4543388"/>
            <a:ext cx="4991797" cy="14956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ABB35D-8B5A-4BBA-A4CD-BF95FB827E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6644" y="2367719"/>
            <a:ext cx="557916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534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71008-3B0F-483D-90F8-158C88C52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N-Queen Problem Algorithm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2C32D44-2D23-4088-A87E-A908B9CCB7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6624" y="1691033"/>
            <a:ext cx="8858752" cy="3203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088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40744-7AA9-4D84-B0E4-428DAFC9D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N-Queen Problem promising Algorithm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C2216E2-B2F4-47A0-A0DD-5FD27D355C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3295" y="2107096"/>
            <a:ext cx="8825410" cy="3578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7882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6D12F-F83F-44BD-A84D-BD2020BA2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of subsets problem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04BA84-4F7A-4F9D-AABF-1B8A676D4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variant of the knapsack problem.</a:t>
                </a:r>
              </a:p>
              <a:p>
                <a:r>
                  <a:rPr lang="en-US" dirty="0"/>
                  <a:t>Given a set of n items with weights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and a positive integer M, the problem of the sum of subsets is to find a subset S of weights whose sum equals M</a:t>
                </a:r>
              </a:p>
              <a:p>
                <a:r>
                  <a:rPr lang="en-US" dirty="0"/>
                  <a:t>The weights are usually in ascending order of magnitude and unique. The solution vector for this problem is indicated by a fixed tuple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indicates the items present by 1 or absence by 0.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04BA84-4F7A-4F9D-AABF-1B8A676D4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4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7EBA649-F5C0-47D4-B7E2-E2972D0D2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2244" y="4874626"/>
            <a:ext cx="3472069" cy="198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9801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51C9D-10AB-4184-B609-4C374C107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6353"/>
          </a:xfrm>
        </p:spPr>
        <p:txBody>
          <a:bodyPr/>
          <a:lstStyle/>
          <a:p>
            <a:r>
              <a:rPr lang="en-US" dirty="0"/>
              <a:t>Sum of subsets problem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12B073-E4F6-40B5-B7BE-F573826305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85462"/>
                <a:ext cx="10515600" cy="540688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 conditions for a non-promising node is</a:t>
                </a:r>
              </a:p>
              <a:p>
                <a:pPr marL="0" indent="0">
                  <a:buNone/>
                </a:pPr>
                <a:r>
                  <a:rPr lang="en-US" dirty="0"/>
                  <a:t>1. The non-promising condition is weight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&gt; M. This simply implies that adding an item at level </a:t>
                </a:r>
                <a:r>
                  <a:rPr lang="en-US" dirty="0" err="1"/>
                  <a:t>i</a:t>
                </a:r>
                <a:r>
                  <a:rPr lang="en-US" dirty="0"/>
                  <a:t> + 1 adds to the weight, which crosses W.</a:t>
                </a:r>
              </a:p>
              <a:p>
                <a:pPr marL="0" indent="0">
                  <a:buNone/>
                </a:pPr>
                <a:r>
                  <a:rPr lang="en-US" dirty="0"/>
                  <a:t>2. Similarly, the node is non-promising if weight + total &lt; M. Here, M the total is the sum of all remaining weights.</a:t>
                </a:r>
              </a:p>
              <a:p>
                <a:pPr marL="0" indent="0">
                  <a:buNone/>
                </a:pPr>
                <a:r>
                  <a:rPr lang="en-US" b="1" dirty="0"/>
                  <a:t>Step 1:</a:t>
                </a:r>
                <a:r>
                  <a:rPr lang="en-US" dirty="0"/>
                  <a:t> Given n items with weights and an integer M.</a:t>
                </a:r>
              </a:p>
              <a:p>
                <a:pPr marL="0" indent="0">
                  <a:buNone/>
                </a:pPr>
                <a:r>
                  <a:rPr lang="en-US" b="1" dirty="0"/>
                  <a:t>Step 2:</a:t>
                </a:r>
                <a:r>
                  <a:rPr lang="en-US" dirty="0"/>
                  <a:t> Start with the empty set.</a:t>
                </a:r>
              </a:p>
              <a:p>
                <a:pPr marL="0" indent="0">
                  <a:buNone/>
                </a:pPr>
                <a:r>
                  <a:rPr lang="en-US" b="1" dirty="0"/>
                  <a:t>Step 3: </a:t>
                </a:r>
                <a:r>
                  <a:rPr lang="en-US" dirty="0"/>
                  <a:t>Add the next item.</a:t>
                </a:r>
              </a:p>
              <a:p>
                <a:pPr marL="0" indent="0">
                  <a:buNone/>
                </a:pPr>
                <a:r>
                  <a:rPr lang="en-US" b="1" dirty="0"/>
                  <a:t>Step 4:</a:t>
                </a:r>
                <a:r>
                  <a:rPr lang="en-US" dirty="0"/>
                  <a:t> Exit if the weight so far gained equals M.</a:t>
                </a:r>
              </a:p>
              <a:p>
                <a:pPr marL="0" indent="0">
                  <a:buNone/>
                </a:pPr>
                <a:r>
                  <a:rPr lang="en-US" b="1" dirty="0"/>
                  <a:t>Step 5:</a:t>
                </a:r>
                <a:r>
                  <a:rPr lang="en-US" dirty="0"/>
                  <a:t> Otherwise, check the promising node. If so, go to step 3. If not, backtrack and try some other items.</a:t>
                </a:r>
              </a:p>
              <a:p>
                <a:pPr marL="0" indent="0">
                  <a:buNone/>
                </a:pPr>
                <a:r>
                  <a:rPr lang="en-US" b="1" dirty="0"/>
                  <a:t>Step 6:</a:t>
                </a:r>
                <a:r>
                  <a:rPr lang="en-US" dirty="0"/>
                  <a:t> Repeat steps 3–5 till all weights are processed (termination condition), and there is no possibility of a solution. (print no solution and exit).</a:t>
                </a:r>
              </a:p>
              <a:p>
                <a:pPr marL="0" indent="0">
                  <a:buNone/>
                </a:pPr>
                <a:r>
                  <a:rPr lang="en-US" b="1" dirty="0"/>
                  <a:t>Step 7: </a:t>
                </a:r>
                <a:r>
                  <a:rPr lang="en-US" dirty="0"/>
                  <a:t>End.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12B073-E4F6-40B5-B7BE-F573826305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85462"/>
                <a:ext cx="10515600" cy="5406886"/>
              </a:xfrm>
              <a:blipFill>
                <a:blip r:embed="rId2"/>
                <a:stretch>
                  <a:fillRect l="-1217" t="-1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13791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36FD3-8215-42B7-A166-2771CDF26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of subsets problem algorithm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4F537E5-62A8-4542-94C2-378F638094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4974" y="1372637"/>
            <a:ext cx="8940541" cy="35306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0DEC2B-6151-4E25-9F40-9AC55ADEC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973" y="4903305"/>
            <a:ext cx="8940541" cy="1895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057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6682C-6A82-4A3A-9233-B51D91F23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6835"/>
            <a:ext cx="10515600" cy="566012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Let us assume that W = [5, 10, 15] and M = 20. What are the different combinations possible? Use the backtracking approach.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8A3DD1-92EC-4D2E-A0B6-A5AEE706F3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484"/>
          <a:stretch/>
        </p:blipFill>
        <p:spPr>
          <a:xfrm>
            <a:off x="1651967" y="1603512"/>
            <a:ext cx="8888065" cy="421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0624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07130-48EF-4BFA-A623-E3F838427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Vertex </a:t>
            </a:r>
            <a:r>
              <a:rPr lang="en-US" dirty="0" err="1"/>
              <a:t>colouring</a:t>
            </a:r>
            <a:r>
              <a:rPr lang="en-US" dirty="0"/>
              <a:t> problem or M-</a:t>
            </a:r>
            <a:r>
              <a:rPr lang="en-US" dirty="0" err="1"/>
              <a:t>Colouring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FC5DB-E2E2-46C6-A557-763DBF82F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Step 1: </a:t>
            </a:r>
            <a:r>
              <a:rPr lang="en-US" dirty="0"/>
              <a:t>While there are untried configurations of assigning </a:t>
            </a:r>
            <a:r>
              <a:rPr lang="en-US" dirty="0" err="1"/>
              <a:t>colours</a:t>
            </a:r>
            <a:r>
              <a:rPr lang="en-US" dirty="0"/>
              <a:t> to vertices, perform Step 2.</a:t>
            </a:r>
          </a:p>
          <a:p>
            <a:r>
              <a:rPr lang="en-US" b="1" dirty="0"/>
              <a:t>Step 2: </a:t>
            </a:r>
            <a:r>
              <a:rPr lang="en-US" dirty="0"/>
              <a:t>Generate the next configuration by assigning arbitrary </a:t>
            </a:r>
            <a:r>
              <a:rPr lang="en-US" dirty="0" err="1"/>
              <a:t>colours</a:t>
            </a:r>
            <a:r>
              <a:rPr lang="en-US" dirty="0"/>
              <a:t> to the vertices, limited to integers M.</a:t>
            </a:r>
          </a:p>
          <a:p>
            <a:pPr marL="0" indent="0">
              <a:buNone/>
            </a:pPr>
            <a:r>
              <a:rPr lang="en-US" dirty="0"/>
              <a:t>	2a: Test the assignment of </a:t>
            </a:r>
            <a:r>
              <a:rPr lang="en-US" dirty="0" err="1"/>
              <a:t>colours</a:t>
            </a:r>
            <a:r>
              <a:rPr lang="en-US" dirty="0"/>
              <a:t> to vertices, so that the constraint is not violated. The constraint is that no two adjacent vertices can share the same </a:t>
            </a:r>
            <a:r>
              <a:rPr lang="en-US" dirty="0" err="1"/>
              <a:t>colour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	2b: If the assignment is promising, report success and break.</a:t>
            </a:r>
          </a:p>
          <a:p>
            <a:pPr marL="0" indent="0">
              <a:buNone/>
            </a:pPr>
            <a:r>
              <a:rPr lang="en-US" dirty="0"/>
              <a:t>	2c: Otherwise, backtrack; go to Step 1. </a:t>
            </a:r>
          </a:p>
          <a:p>
            <a:r>
              <a:rPr lang="en-US" b="1" dirty="0"/>
              <a:t>Step 3:</a:t>
            </a:r>
            <a:r>
              <a:rPr lang="en-US" dirty="0"/>
              <a:t> End.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40252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227FE-1B4D-4B60-90AD-EF8EA61ED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Vertex </a:t>
            </a:r>
            <a:r>
              <a:rPr lang="en-US" dirty="0" err="1"/>
              <a:t>colouring</a:t>
            </a:r>
            <a:r>
              <a:rPr lang="en-US" dirty="0"/>
              <a:t> problem or M-</a:t>
            </a:r>
            <a:r>
              <a:rPr lang="en-US" dirty="0" err="1"/>
              <a:t>Colouring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BFF46-6EE8-4228-8D74-A9C431011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Given a graph shown in Fig. 14.12, what is the minimum number of colors required to color the graph?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FE1C93-BDAE-4FAE-BDDF-92209E259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77806"/>
            <a:ext cx="3848637" cy="27721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E3D6BF-D488-4875-8E17-E70D9CE12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406" y="2969709"/>
            <a:ext cx="3781953" cy="221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1230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A672A-405B-459C-9404-4D107F6BF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Vertex </a:t>
            </a:r>
            <a:r>
              <a:rPr lang="en-US" dirty="0" err="1"/>
              <a:t>colouring</a:t>
            </a:r>
            <a:r>
              <a:rPr lang="en-US" dirty="0"/>
              <a:t> problem or M-</a:t>
            </a:r>
            <a:r>
              <a:rPr lang="en-US" dirty="0" err="1"/>
              <a:t>Colouring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6E745F3-91E5-4B54-95EE-5C2B88E705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6174" y="1740384"/>
            <a:ext cx="7459601" cy="33583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C54DCB-D664-4E82-AA65-A5DD59BA0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004" y="2362199"/>
            <a:ext cx="3777178" cy="213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9636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514FD-AE0C-403C-BE1C-FF35FD90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Vertex </a:t>
            </a:r>
            <a:r>
              <a:rPr lang="en-US" dirty="0" err="1"/>
              <a:t>colouring</a:t>
            </a:r>
            <a:r>
              <a:rPr lang="en-US" dirty="0"/>
              <a:t> problem Algorithm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DFB1C14-C88D-4446-AF81-7E9CB5B43F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09185"/>
            <a:ext cx="10515600" cy="15694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D231A6-0E68-4026-8721-841E41698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09" y="3297122"/>
            <a:ext cx="10412896" cy="299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0527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43ECA-D7C9-4062-8BB2-3EA011F75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Vertex </a:t>
            </a:r>
            <a:r>
              <a:rPr lang="en-US" dirty="0" err="1"/>
              <a:t>colouring</a:t>
            </a:r>
            <a:r>
              <a:rPr lang="en-US" dirty="0"/>
              <a:t> problem promising Algorithm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6E0AB9A-FAC5-472B-A326-EEE51D48A5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63897"/>
            <a:ext cx="10515600" cy="314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3971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A1BC6-C736-4B60-A3B5-2E48A60CD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Hamiltonian Circuit Problem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A53C96-5E78-478B-827C-598655E7A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Hamiltonian problem involves checking if a Hamiltonian cycle is present in a given graph G or not. </a:t>
            </a:r>
          </a:p>
          <a:p>
            <a:r>
              <a:rPr lang="en-US" dirty="0"/>
              <a:t>The graph in Fig. 14.14 illustrates the presence of a Hamiltonian graph in G. It can be verified that a Hamiltonian cycle 4-3-1-2-4 exists as shown in Fig. 14.14.</a:t>
            </a:r>
            <a:endParaRPr lang="en-IN" dirty="0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FA00E5F1-5A09-4C1A-A5CE-D3E8F16FA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681" y="3747749"/>
            <a:ext cx="3524742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1515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89A8D-E911-4A05-A749-483E093DE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081675"/>
          </a:xfrm>
        </p:spPr>
        <p:txBody>
          <a:bodyPr/>
          <a:lstStyle/>
          <a:p>
            <a:r>
              <a:rPr lang="en-US" dirty="0"/>
              <a:t>Hamiltonian Circuit Problem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7C98176-A356-4291-8EAB-39D9AD2DB7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967408"/>
                <a:ext cx="10515600" cy="5890591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Constraints:</a:t>
                </a:r>
              </a:p>
              <a:p>
                <a:pPr marL="0" indent="0">
                  <a:buNone/>
                </a:pPr>
                <a:r>
                  <a:rPr lang="en-IN" dirty="0"/>
                  <a:t>1. The vertex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dirty="0"/>
                  <a:t> in the Hamiltonian cycle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…→</m:t>
                    </m:r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/>
                  <a:t> must be an adjacent node to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IN" dirty="0"/>
                  <a:t> </a:t>
                </a:r>
                <a:r>
                  <a:rPr lang="en-IN" dirty="0" err="1"/>
                  <a:t>th</a:t>
                </a:r>
                <a:r>
                  <a:rPr lang="en-IN" dirty="0"/>
                  <a:t> vertex in any path. Without an edge, there cannot be any connectivity, so the Hamiltonian cycle is not feasible.</a:t>
                </a:r>
              </a:p>
              <a:p>
                <a:pPr marL="0" indent="0">
                  <a:buNone/>
                </a:pPr>
                <a:r>
                  <a:rPr lang="en-IN" dirty="0"/>
                  <a:t>2. The starting vertex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dirty="0"/>
                  <a:t> and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IN" dirty="0"/>
                  <a:t> vertex should be adjacent vertices. Otherwise, the Hamiltonian cycle is not feasible.</a:t>
                </a:r>
              </a:p>
              <a:p>
                <a:pPr marL="0" indent="0">
                  <a:buNone/>
                </a:pPr>
                <a:r>
                  <a:rPr lang="en-IN" dirty="0"/>
                  <a:t>3. The vertex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dirty="0"/>
                  <a:t>should not have been encountered in the first (i-1) vertices. This condition is due to the constraint that nodes except the starting vertex should not be visited twice.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r>
                  <a:rPr lang="en-US" b="1" dirty="0"/>
                  <a:t>Step 1:</a:t>
                </a:r>
                <a:r>
                  <a:rPr lang="en-US" dirty="0"/>
                  <a:t> While there are untried configurations of travelling of vertices, perform Step 2.</a:t>
                </a:r>
              </a:p>
              <a:p>
                <a:r>
                  <a:rPr lang="en-US" b="1" dirty="0"/>
                  <a:t>Step 2:</a:t>
                </a:r>
                <a:r>
                  <a:rPr lang="en-US" dirty="0"/>
                  <a:t>Generate the next configuration by visiting the next adjacent node.</a:t>
                </a:r>
              </a:p>
              <a:p>
                <a:pPr marL="0" indent="0">
                  <a:buNone/>
                </a:pPr>
                <a:r>
                  <a:rPr lang="en-US" b="1" dirty="0"/>
                  <a:t>	2a: </a:t>
                </a:r>
                <a:r>
                  <a:rPr lang="en-US" dirty="0"/>
                  <a:t>Test the visited path.</a:t>
                </a:r>
              </a:p>
              <a:p>
                <a:pPr marL="0" indent="0">
                  <a:buNone/>
                </a:pPr>
                <a:r>
                  <a:rPr lang="en-US" b="1" dirty="0"/>
                  <a:t>	2b:</a:t>
                </a:r>
                <a:r>
                  <a:rPr lang="en-US" dirty="0"/>
                  <a:t> if the travelled path is promising, report success and break.</a:t>
                </a:r>
              </a:p>
              <a:p>
                <a:pPr marL="0" indent="0">
                  <a:buNone/>
                </a:pPr>
                <a:r>
                  <a:rPr lang="en-US" b="1" dirty="0"/>
                  <a:t>	2c:</a:t>
                </a:r>
                <a:r>
                  <a:rPr lang="en-US" dirty="0"/>
                  <a:t> Go to Step 1.</a:t>
                </a:r>
              </a:p>
              <a:p>
                <a:r>
                  <a:rPr lang="en-US" b="1" dirty="0"/>
                  <a:t>Step 3: </a:t>
                </a:r>
                <a:r>
                  <a:rPr lang="en-US" dirty="0"/>
                  <a:t>End.</a:t>
                </a:r>
                <a:endParaRPr lang="en-IN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7C98176-A356-4291-8EAB-39D9AD2DB7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67408"/>
                <a:ext cx="10515600" cy="5890591"/>
              </a:xfrm>
              <a:blipFill>
                <a:blip r:embed="rId2"/>
                <a:stretch>
                  <a:fillRect l="-1217" t="-1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52232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F74F2-48E1-41C5-85E8-1C271073E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Hamiltonian Circuit Problem </a:t>
            </a:r>
            <a:r>
              <a:rPr lang="en-US" dirty="0" err="1"/>
              <a:t>Agorithm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2586E78-04E7-4509-88A4-5BAC9981A1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59536"/>
            <a:ext cx="10515600" cy="12789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2DF97B-7D9D-4C80-BCEC-CD97E1962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530" y="2838459"/>
            <a:ext cx="10593278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8784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E1F0F-4C16-4F85-A928-4E803A51B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Hamiltonian Circuit Problem </a:t>
            </a:r>
            <a:r>
              <a:rPr lang="en-US" dirty="0" err="1"/>
              <a:t>Agorithm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C7D4E64-E977-4C33-A8C2-3DFEBD9F4E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5382" y="1825625"/>
            <a:ext cx="910632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7189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590F6-6330-42E1-8C8B-133A76347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Hamiltonian Circuit 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3E096-3815-4DC5-879E-551E10DC7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Consider the graph in Fig. 14.16 and show a Hamiltonian cycle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E87766-F992-4CE8-97BB-C14A3E5D6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834" y="2958161"/>
            <a:ext cx="2743583" cy="20862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21C831-AA59-4954-99A8-9A960E269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417" y="2496679"/>
            <a:ext cx="8477583" cy="39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2470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B335B-24EB-475E-9411-557892006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Hamiltonian Circuit Problem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F2047CF-3424-40D9-BB81-46B223B438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60013"/>
            <a:ext cx="6853904" cy="34199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521C00-4516-436B-9941-7BF4D0A6C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2104" y="1960013"/>
            <a:ext cx="4407131" cy="374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3750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22752-B3C6-461C-BCF2-18F91A5B2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488" y="0"/>
            <a:ext cx="3932237" cy="1600200"/>
          </a:xfrm>
        </p:spPr>
        <p:txBody>
          <a:bodyPr/>
          <a:lstStyle/>
          <a:p>
            <a:r>
              <a:rPr lang="en-US" dirty="0"/>
              <a:t>Generating Permutations</a:t>
            </a:r>
            <a:endParaRPr lang="en-IN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488CB13-D324-46FB-9318-AAD96C8B48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969000" y="987425"/>
            <a:ext cx="6083300" cy="48736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C8270-6F10-4689-8BCF-3C843E88F4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0700" y="1600200"/>
            <a:ext cx="5575300" cy="4533900"/>
          </a:xfrm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 permutation is a method of obtaining all possible arrangements of N items. For N elements, N! permutations are possible. One  can recollect that permutations should be distinct.</a:t>
            </a:r>
          </a:p>
          <a:p>
            <a:r>
              <a:rPr lang="en-US" sz="2000" b="1" dirty="0"/>
              <a:t>Step 1: </a:t>
            </a:r>
            <a:r>
              <a:rPr lang="en-US" sz="2000" dirty="0"/>
              <a:t>While there are untried configurations of permutations, perform Step 2.</a:t>
            </a:r>
          </a:p>
          <a:p>
            <a:r>
              <a:rPr lang="en-US" sz="2000" b="1" dirty="0"/>
              <a:t>Step 2: </a:t>
            </a:r>
            <a:r>
              <a:rPr lang="en-US" sz="2000" dirty="0"/>
              <a:t>Generate the next permutation by adding  an element.</a:t>
            </a:r>
          </a:p>
          <a:p>
            <a:pPr marL="0" indent="0">
              <a:buNone/>
            </a:pPr>
            <a:r>
              <a:rPr lang="en-US" sz="2000" b="1" dirty="0"/>
              <a:t>	2a: </a:t>
            </a:r>
            <a:r>
              <a:rPr lang="en-US" sz="2000" dirty="0"/>
              <a:t>Test the generated permutation.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b="1" dirty="0"/>
              <a:t>2b:</a:t>
            </a:r>
            <a:r>
              <a:rPr lang="en-US" sz="2000" dirty="0"/>
              <a:t> Report success and break if the generated permutation is correct.</a:t>
            </a:r>
          </a:p>
          <a:p>
            <a:pPr marL="0" indent="0">
              <a:buNone/>
            </a:pPr>
            <a:r>
              <a:rPr lang="en-US" sz="2000" dirty="0"/>
              <a:t>	 </a:t>
            </a:r>
            <a:r>
              <a:rPr lang="en-US" sz="2000" b="1" dirty="0"/>
              <a:t>2c:</a:t>
            </a:r>
            <a:r>
              <a:rPr lang="en-US" sz="2000" dirty="0"/>
              <a:t> Otherwise, backtrack and go to Step 1.</a:t>
            </a:r>
          </a:p>
          <a:p>
            <a:r>
              <a:rPr lang="en-US" sz="2000" b="1" dirty="0"/>
              <a:t>Step 3:</a:t>
            </a:r>
            <a:r>
              <a:rPr lang="en-US" sz="2000" dirty="0"/>
              <a:t> End.</a:t>
            </a:r>
            <a:endParaRPr lang="en-IN" sz="2000" dirty="0"/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A4148BD7-849C-41EC-968D-D58BAC7D2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185" y="863601"/>
            <a:ext cx="4563328" cy="4747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7518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DA3BA-B94B-4F29-A592-92673E1FE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Permutations Algorithm</a:t>
            </a:r>
            <a:endParaRPr lang="en-IN" dirty="0"/>
          </a:p>
        </p:txBody>
      </p:sp>
      <p:pic>
        <p:nvPicPr>
          <p:cNvPr id="10" name="Content Placeholder 3">
            <a:extLst>
              <a:ext uri="{FF2B5EF4-FFF2-40B4-BE49-F238E27FC236}">
                <a16:creationId xmlns:a16="http://schemas.microsoft.com/office/drawing/2014/main" id="{C7488050-7800-47D0-8CD6-D2DD43F2EE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097" y="1939019"/>
            <a:ext cx="10059804" cy="16099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2DE01E-3C94-414B-B058-58AE0F868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28" y="3429000"/>
            <a:ext cx="9964541" cy="168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6344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51585-BCF4-4E9D-BA3E-7C6DC2DD5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Graham Scan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2E2BBED-0EE7-4E50-A635-30607E9521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02790"/>
            <a:ext cx="8572500" cy="20449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3C939E-EAC3-472D-9528-D58EE9BE8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0636" y="1262995"/>
            <a:ext cx="3000794" cy="27245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7F2191-18FB-4F98-A219-E83055AB17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47935"/>
            <a:ext cx="8572500" cy="18335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9C2BAB-46F5-4F20-BCC0-94862501B1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990805"/>
            <a:ext cx="3143508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6432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1D9D9-48F1-45D2-B2AB-0E4DA1646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Graham Scan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6500EA-7894-4E47-B534-4A3D337201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78375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b="1" dirty="0"/>
                  <a:t>Step 1:</a:t>
                </a:r>
                <a:r>
                  <a:rPr lang="en-US" dirty="0"/>
                  <a:t> Select the anchor point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the point from the given n points. The anchor point has the minimum y-coordinate among all n points.</a:t>
                </a:r>
              </a:p>
              <a:p>
                <a:r>
                  <a:rPr lang="en-US" b="1" dirty="0"/>
                  <a:t>Step 2:</a:t>
                </a:r>
                <a:r>
                  <a:rPr lang="en-US" dirty="0"/>
                  <a:t> Sort the remaining points lexicographically using a polar angle, the angle they make with the anchor point. This angle calculation may use the atan2 function. Let the other points on set A be [1, 2, …, m], where m=n-1.</a:t>
                </a:r>
              </a:p>
              <a:p>
                <a:r>
                  <a:rPr lang="en-US" b="1" dirty="0"/>
                  <a:t>Step 3:</a:t>
                </a:r>
                <a:r>
                  <a:rPr lang="en-US" dirty="0"/>
                  <a:t> Traverse the sorted points in an anticlockwise manner:</a:t>
                </a:r>
              </a:p>
              <a:p>
                <a:r>
                  <a:rPr lang="en-US" b="1" dirty="0"/>
                  <a:t>Step 4:</a:t>
                </a:r>
                <a:r>
                  <a:rPr lang="en-US" dirty="0"/>
                  <a:t> If the current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is making a left or right turn compared to the two visited points.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b="1" dirty="0"/>
                  <a:t>4a: </a:t>
                </a:r>
                <a:r>
                  <a:rPr lang="en-US" dirty="0"/>
                  <a:t>If the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forms a left turn with the last two points of the stack, then push the point onto the stack.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en-US" b="1" dirty="0"/>
                  <a:t>4b: </a:t>
                </a:r>
                <a:r>
                  <a:rPr lang="en-US" dirty="0"/>
                  <a:t>Otherwise, pop the last visited point off the stack</a:t>
                </a:r>
              </a:p>
              <a:p>
                <a:pPr marL="0" indent="0">
                  <a:buNone/>
                </a:pPr>
                <a:r>
                  <a:rPr lang="en-US" dirty="0"/>
                  <a:t>	Repeat this step until a left turn is encountered.</a:t>
                </a:r>
              </a:p>
              <a:p>
                <a:r>
                  <a:rPr lang="en-US" b="1" dirty="0"/>
                  <a:t>Step 5:</a:t>
                </a:r>
                <a:r>
                  <a:rPr lang="en-US" dirty="0"/>
                  <a:t> If the anchor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is encountered and all the points have been traversed, stop the process, as the stack has all the vertices of the convex hull.</a:t>
                </a:r>
              </a:p>
              <a:p>
                <a:r>
                  <a:rPr lang="en-US" b="1" dirty="0"/>
                  <a:t>Step 6:</a:t>
                </a:r>
                <a:r>
                  <a:rPr lang="en-US" dirty="0"/>
                  <a:t> End.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6500EA-7894-4E47-B534-4A3D337201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78375"/>
              </a:xfrm>
              <a:blipFill>
                <a:blip r:embed="rId2"/>
                <a:stretch>
                  <a:fillRect l="-1043" t="-14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87785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9F7F0-9338-4438-B91E-5AFDB3500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Graham Scan algorithm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916AEE5-4902-4F99-AA7C-92CC7135B1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5150" y="1433234"/>
            <a:ext cx="10021699" cy="32276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EDE847-B502-4DD7-B52B-BCA89BA63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254" y="4660900"/>
            <a:ext cx="10002646" cy="20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455977"/>
      </p:ext>
    </p:extLst>
  </p:cSld>
  <p:clrMapOvr>
    <a:masterClrMapping/>
  </p:clrMapOvr>
</p:sld>
</file>

<file path=ppt/theme/theme1.xml><?xml version="1.0" encoding="utf-8"?>
<a:theme xmlns:a="http://schemas.openxmlformats.org/drawingml/2006/main" name="OUP Theme">
  <a:themeElements>
    <a:clrScheme name="Oxford uni press">
      <a:dk1>
        <a:srgbClr val="000000"/>
      </a:dk1>
      <a:lt1>
        <a:srgbClr val="FFFFFF"/>
      </a:lt1>
      <a:dk2>
        <a:srgbClr val="011E41"/>
      </a:dk2>
      <a:lt2>
        <a:srgbClr val="CAD7D8"/>
      </a:lt2>
      <a:accent1>
        <a:srgbClr val="0043E0"/>
      </a:accent1>
      <a:accent2>
        <a:srgbClr val="FD5820"/>
      </a:accent2>
      <a:accent3>
        <a:srgbClr val="C8DC00"/>
      </a:accent3>
      <a:accent4>
        <a:srgbClr val="FFE12C"/>
      </a:accent4>
      <a:accent5>
        <a:srgbClr val="F3A7B8"/>
      </a:accent5>
      <a:accent6>
        <a:srgbClr val="9B1827"/>
      </a:accent6>
      <a:hlink>
        <a:srgbClr val="000000"/>
      </a:hlink>
      <a:folHlink>
        <a:srgbClr val="000000"/>
      </a:folHlink>
    </a:clrScheme>
    <a:fontScheme name="Oxford Uni Press">
      <a:majorFont>
        <a:latin typeface="DM Serif Display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 algn="l">
          <a:defRPr sz="1200" dirty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hapter 1 - Introduction to Aglorithms" id="{37E86CF8-EEBD-42EB-8900-5384A116C268}" vid="{B927B7F4-6075-442D-95BC-A32AB05F58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Chapter 1 - Introduction to Aglorithms</Template>
  <TotalTime>97</TotalTime>
  <Words>1752</Words>
  <Application>Microsoft Office PowerPoint</Application>
  <PresentationFormat>Widescreen</PresentationFormat>
  <Paragraphs>132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Arial</vt:lpstr>
      <vt:lpstr>Calibri</vt:lpstr>
      <vt:lpstr>Cambria Math</vt:lpstr>
      <vt:lpstr>DM Serif Display</vt:lpstr>
      <vt:lpstr>Open Sans</vt:lpstr>
      <vt:lpstr>Open Sans Light</vt:lpstr>
      <vt:lpstr>System Font Regular</vt:lpstr>
      <vt:lpstr>OUP Theme</vt:lpstr>
      <vt:lpstr>Backtracking</vt:lpstr>
      <vt:lpstr>Introduction</vt:lpstr>
      <vt:lpstr>Brute-force vs Backtracking</vt:lpstr>
      <vt:lpstr>Basics of Backtracking</vt:lpstr>
      <vt:lpstr>Basics of Backtracking</vt:lpstr>
      <vt:lpstr>Generations of state space trees</vt:lpstr>
      <vt:lpstr>Generations of state space trees</vt:lpstr>
      <vt:lpstr>Searching state-space tree</vt:lpstr>
      <vt:lpstr>Backtracking algorithm</vt:lpstr>
      <vt:lpstr>Modified version of Backtracking Algorithm</vt:lpstr>
      <vt:lpstr>N-Queen Problem</vt:lpstr>
      <vt:lpstr>N-Queen Problem</vt:lpstr>
      <vt:lpstr>N-Queen Problem Algorithm</vt:lpstr>
      <vt:lpstr>N-Queen Problem promising Algorithm</vt:lpstr>
      <vt:lpstr>Sum of subsets problem</vt:lpstr>
      <vt:lpstr>Sum of subsets problem</vt:lpstr>
      <vt:lpstr>Sum of subsets problem algorithm</vt:lpstr>
      <vt:lpstr>PowerPoint Presentation</vt:lpstr>
      <vt:lpstr>Vertex colouring problem or M-Colouring</vt:lpstr>
      <vt:lpstr>Vertex colouring problem or M-Colouring</vt:lpstr>
      <vt:lpstr>Vertex colouring problem or M-Colouring</vt:lpstr>
      <vt:lpstr>Vertex colouring problem Algorithm</vt:lpstr>
      <vt:lpstr>Vertex colouring problem promising Algorithm</vt:lpstr>
      <vt:lpstr>Hamiltonian Circuit Problem</vt:lpstr>
      <vt:lpstr>Hamiltonian Circuit Problem</vt:lpstr>
      <vt:lpstr>Hamiltonian Circuit Problem Agorithm</vt:lpstr>
      <vt:lpstr>Hamiltonian Circuit Problem Agorithm</vt:lpstr>
      <vt:lpstr>Hamiltonian Circuit Problem</vt:lpstr>
      <vt:lpstr>Hamiltonian Circuit Problem</vt:lpstr>
      <vt:lpstr>Generating Permutations</vt:lpstr>
      <vt:lpstr>Generating Permutations Algorithm</vt:lpstr>
      <vt:lpstr>Graham Scan</vt:lpstr>
      <vt:lpstr>Graham Scan</vt:lpstr>
      <vt:lpstr>Graham Scan algorithm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14. Backtracking</dc:title>
  <dc:creator>rathna rajendar</dc:creator>
  <cp:lastModifiedBy>Ajay Kumar</cp:lastModifiedBy>
  <cp:revision>20</cp:revision>
  <dcterms:created xsi:type="dcterms:W3CDTF">2023-11-28T08:30:08Z</dcterms:created>
  <dcterms:modified xsi:type="dcterms:W3CDTF">2026-04-21T20:33:20Z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e5cb09a-2992-49d6-8ac9-5f63e7b1ad2f_Enabled">
    <vt:lpwstr>true</vt:lpwstr>
  </property>
  <property fmtid="{D5CDD505-2E9C-101B-9397-08002B2CF9AE}" pid="3" name="MSIP_Label_be5cb09a-2992-49d6-8ac9-5f63e7b1ad2f_SetDate">
    <vt:lpwstr>2023-12-14T08:55:44Z</vt:lpwstr>
  </property>
  <property fmtid="{D5CDD505-2E9C-101B-9397-08002B2CF9AE}" pid="4" name="MSIP_Label_be5cb09a-2992-49d6-8ac9-5f63e7b1ad2f_Method">
    <vt:lpwstr>Standard</vt:lpwstr>
  </property>
  <property fmtid="{D5CDD505-2E9C-101B-9397-08002B2CF9AE}" pid="5" name="MSIP_Label_be5cb09a-2992-49d6-8ac9-5f63e7b1ad2f_Name">
    <vt:lpwstr>Controlled</vt:lpwstr>
  </property>
  <property fmtid="{D5CDD505-2E9C-101B-9397-08002B2CF9AE}" pid="6" name="MSIP_Label_be5cb09a-2992-49d6-8ac9-5f63e7b1ad2f_SiteId">
    <vt:lpwstr>91761b62-4c45-43f5-9f0e-be8ad9b551ff</vt:lpwstr>
  </property>
  <property fmtid="{D5CDD505-2E9C-101B-9397-08002B2CF9AE}" pid="7" name="MSIP_Label_be5cb09a-2992-49d6-8ac9-5f63e7b1ad2f_ActionId">
    <vt:lpwstr>c8289be7-77ce-4759-bea6-b552cb6890af</vt:lpwstr>
  </property>
  <property fmtid="{D5CDD505-2E9C-101B-9397-08002B2CF9AE}" pid="8" name="MSIP_Label_be5cb09a-2992-49d6-8ac9-5f63e7b1ad2f_ContentBits">
    <vt:lpwstr>0</vt:lpwstr>
  </property>
</Properties>
</file>