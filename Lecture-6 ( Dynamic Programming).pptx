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310" r:id="rId24"/>
    <p:sldId id="309" r:id="rId25"/>
    <p:sldId id="278" r:id="rId26"/>
    <p:sldId id="279" r:id="rId27"/>
    <p:sldId id="280" r:id="rId28"/>
    <p:sldId id="281" r:id="rId29"/>
    <p:sldId id="311" r:id="rId30"/>
    <p:sldId id="282" r:id="rId31"/>
    <p:sldId id="283" r:id="rId32"/>
    <p:sldId id="284" r:id="rId33"/>
    <p:sldId id="285" r:id="rId34"/>
    <p:sldId id="286" r:id="rId35"/>
    <p:sldId id="287" r:id="rId36"/>
    <p:sldId id="288" r:id="rId37"/>
    <p:sldId id="289" r:id="rId38"/>
    <p:sldId id="312" r:id="rId39"/>
    <p:sldId id="313" r:id="rId40"/>
    <p:sldId id="290" r:id="rId41"/>
    <p:sldId id="291" r:id="rId42"/>
    <p:sldId id="292" r:id="rId43"/>
    <p:sldId id="293" r:id="rId44"/>
    <p:sldId id="314" r:id="rId45"/>
    <p:sldId id="315" r:id="rId46"/>
    <p:sldId id="294" r:id="rId47"/>
    <p:sldId id="308" r:id="rId48"/>
    <p:sldId id="316" r:id="rId49"/>
    <p:sldId id="295" r:id="rId50"/>
    <p:sldId id="296" r:id="rId51"/>
    <p:sldId id="297" r:id="rId52"/>
    <p:sldId id="307" r:id="rId53"/>
    <p:sldId id="317" r:id="rId54"/>
    <p:sldId id="318" r:id="rId55"/>
    <p:sldId id="298" r:id="rId56"/>
    <p:sldId id="299" r:id="rId57"/>
    <p:sldId id="306" r:id="rId58"/>
    <p:sldId id="319" r:id="rId59"/>
    <p:sldId id="300" r:id="rId60"/>
    <p:sldId id="301" r:id="rId61"/>
    <p:sldId id="302" r:id="rId62"/>
    <p:sldId id="303" r:id="rId63"/>
    <p:sldId id="321" r:id="rId64"/>
    <p:sldId id="322" r:id="rId65"/>
    <p:sldId id="323" r:id="rId66"/>
    <p:sldId id="324" r:id="rId67"/>
    <p:sldId id="304" r:id="rId68"/>
    <p:sldId id="305" r:id="rId69"/>
    <p:sldId id="320" r:id="rId70"/>
    <p:sldId id="32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E88FF708-F188-40D3-B3DD-9566472E1BE6}">
          <p14:sldIdLst>
            <p14:sldId id="326"/>
            <p14:sldId id="256"/>
          </p14:sldIdLst>
        </p14:section>
        <p14:section name="BASICS OF DYNAMIC PROGRAMMING" id="{A49A12C3-19D3-4487-BCF9-BF9D9F916450}">
          <p14:sldIdLst>
            <p14:sldId id="257"/>
            <p14:sldId id="258"/>
            <p14:sldId id="259"/>
            <p14:sldId id="260"/>
            <p14:sldId id="261"/>
            <p14:sldId id="262"/>
            <p14:sldId id="263"/>
          </p14:sldIdLst>
        </p14:section>
        <p14:section name="Characteristics of Dynamic Programming" id="{23242409-E230-4961-B5DF-8308A49EC281}">
          <p14:sldIdLst>
            <p14:sldId id="264"/>
            <p14:sldId id="265"/>
            <p14:sldId id="266"/>
            <p14:sldId id="267"/>
            <p14:sldId id="268"/>
            <p14:sldId id="269"/>
          </p14:sldIdLst>
        </p14:section>
        <p14:section name="FIBONACCI PROBLEM" id="{05479E86-FD7B-49A0-BE62-5CE663EFB8A5}">
          <p14:sldIdLst>
            <p14:sldId id="270"/>
            <p14:sldId id="271"/>
            <p14:sldId id="272"/>
            <p14:sldId id="273"/>
            <p14:sldId id="274"/>
          </p14:sldIdLst>
        </p14:section>
        <p14:section name="COMPUTING BINOMIAL COEFFICIENTS" id="{428B0E1D-1945-4B1B-8AE0-1CDBE5AF3CFA}">
          <p14:sldIdLst>
            <p14:sldId id="275"/>
            <p14:sldId id="276"/>
            <p14:sldId id="277"/>
            <p14:sldId id="310"/>
            <p14:sldId id="309"/>
          </p14:sldIdLst>
        </p14:section>
        <p14:section name="MULTISTAGE GRAPH" id="{91051F5E-AED7-401E-A605-ABCDA51EE36D}">
          <p14:sldIdLst>
            <p14:sldId id="278"/>
            <p14:sldId id="279"/>
            <p14:sldId id="280"/>
            <p14:sldId id="281"/>
            <p14:sldId id="311"/>
            <p14:sldId id="282"/>
            <p14:sldId id="283"/>
          </p14:sldIdLst>
        </p14:section>
        <p14:section name="TRANSITIVE CLOSURE AND WARSHELL ALGORITHM" id="{04753938-0144-46F0-8CE7-AF7EEB040EDA}">
          <p14:sldIdLst>
            <p14:sldId id="284"/>
            <p14:sldId id="285"/>
          </p14:sldIdLst>
        </p14:section>
        <p14:section name="Floyd-Warshall all-pairs shortest algorithm" id="{4F2D9CE1-4668-489E-864B-57DF405C261F}">
          <p14:sldIdLst>
            <p14:sldId id="286"/>
            <p14:sldId id="287"/>
            <p14:sldId id="288"/>
            <p14:sldId id="289"/>
            <p14:sldId id="312"/>
            <p14:sldId id="313"/>
          </p14:sldIdLst>
        </p14:section>
        <p14:section name="Bellman-Ford Algorithm" id="{4E5D6362-9815-43B2-BE1B-83D42CDDA8C1}">
          <p14:sldIdLst>
            <p14:sldId id="290"/>
            <p14:sldId id="291"/>
            <p14:sldId id="292"/>
            <p14:sldId id="293"/>
            <p14:sldId id="314"/>
            <p14:sldId id="315"/>
          </p14:sldIdLst>
        </p14:section>
        <p14:section name="Travelling salesman problem" id="{E38DD6EE-D607-4618-AB81-3564A93FF44E}">
          <p14:sldIdLst>
            <p14:sldId id="294"/>
            <p14:sldId id="308"/>
            <p14:sldId id="316"/>
          </p14:sldIdLst>
        </p14:section>
        <p14:section name="Chain Matrix Multiplication" id="{FB576B31-8E6E-4188-A645-F5F16B84A166}">
          <p14:sldIdLst>
            <p14:sldId id="295"/>
            <p14:sldId id="296"/>
            <p14:sldId id="297"/>
            <p14:sldId id="307"/>
            <p14:sldId id="317"/>
            <p14:sldId id="318"/>
          </p14:sldIdLst>
        </p14:section>
        <p14:section name="Knapsack Problem" id="{39F4C0DF-42E3-4F55-A7D6-A115DF0E11AE}">
          <p14:sldIdLst>
            <p14:sldId id="298"/>
            <p14:sldId id="299"/>
            <p14:sldId id="306"/>
            <p14:sldId id="319"/>
          </p14:sldIdLst>
        </p14:section>
        <p14:section name="Optimal Binary Search Trees" id="{D474347B-48E8-442A-BD0C-BD23F7016987}">
          <p14:sldIdLst>
            <p14:sldId id="300"/>
            <p14:sldId id="301"/>
            <p14:sldId id="302"/>
            <p14:sldId id="303"/>
            <p14:sldId id="321"/>
            <p14:sldId id="322"/>
            <p14:sldId id="323"/>
            <p14:sldId id="324"/>
          </p14:sldIdLst>
        </p14:section>
        <p14:section name="FLOW-SHOP SCHEDULING PROBLEM" id="{E7D7E8FE-488F-4BB2-8A06-2004CB00EE86}">
          <p14:sldIdLst>
            <p14:sldId id="304"/>
            <p14:sldId id="305"/>
            <p14:sldId id="320"/>
            <p14:sldId id="325"/>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5" d="100"/>
          <a:sy n="115" d="100"/>
        </p:scale>
        <p:origin x="-43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A0B29C-9BC9-403D-84B5-92478707A1BA}" type="datetimeFigureOut">
              <a:rPr lang="en-US" smtClean="0"/>
              <a:pPr/>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C266BB-280D-454D-80D1-1C5B92F46914}" type="slidenum">
              <a:rPr lang="en-US" smtClean="0"/>
              <a:pPr/>
              <a:t>‹#›</a:t>
            </a:fld>
            <a:endParaRPr lang="en-US"/>
          </a:p>
        </p:txBody>
      </p:sp>
    </p:spTree>
    <p:extLst>
      <p:ext uri="{BB962C8B-B14F-4D97-AF65-F5344CB8AC3E}">
        <p14:creationId xmlns:p14="http://schemas.microsoft.com/office/powerpoint/2010/main" xmlns="" val="1069918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5CDD45-0E24-824E-8528-54480BCF5819}"/>
              </a:ext>
            </a:extLst>
          </p:cNvPr>
          <p:cNvSpPr>
            <a:spLocks noGrp="1"/>
          </p:cNvSpPr>
          <p:nvPr>
            <p:ph type="ctrTitle" hasCustomPrompt="1"/>
          </p:nvPr>
        </p:nvSpPr>
        <p:spPr>
          <a:xfrm>
            <a:off x="540000" y="1332000"/>
            <a:ext cx="9144000" cy="2160000"/>
          </a:xfrm>
        </p:spPr>
        <p:txBody>
          <a:bodyPr anchor="b"/>
          <a:lstStyle>
            <a:lvl1pPr algn="l">
              <a:defRPr sz="6500">
                <a:solidFill>
                  <a:schemeClr val="accent4"/>
                </a:solidFill>
              </a:defRPr>
            </a:lvl1pPr>
          </a:lstStyle>
          <a:p>
            <a:r>
              <a:rPr lang="en-US" dirty="0"/>
              <a:t>Add title</a:t>
            </a:r>
            <a:endParaRPr lang="en-GB" dirty="0"/>
          </a:p>
        </p:txBody>
      </p:sp>
      <p:sp>
        <p:nvSpPr>
          <p:cNvPr id="3" name="Subtitle 2">
            <a:extLst>
              <a:ext uri="{FF2B5EF4-FFF2-40B4-BE49-F238E27FC236}">
                <a16:creationId xmlns:a16="http://schemas.microsoft.com/office/drawing/2014/main" xmlns="" id="{00DB4FFB-A229-AF47-8E60-155F5A2CCF9D}"/>
              </a:ext>
            </a:extLst>
          </p:cNvPr>
          <p:cNvSpPr>
            <a:spLocks noGrp="1"/>
          </p:cNvSpPr>
          <p:nvPr>
            <p:ph type="subTitle" idx="1" hasCustomPrompt="1"/>
          </p:nvPr>
        </p:nvSpPr>
        <p:spPr>
          <a:xfrm>
            <a:off x="540000" y="3456000"/>
            <a:ext cx="9144000" cy="1260000"/>
          </a:xfrm>
        </p:spPr>
        <p:txBody>
          <a:bodyPr/>
          <a:lstStyle>
            <a:lvl1pPr marL="0" indent="0" algn="l">
              <a:buNone/>
              <a:defRPr sz="54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Subtitle</a:t>
            </a:r>
            <a:endParaRPr lang="en-GB" dirty="0"/>
          </a:p>
        </p:txBody>
      </p:sp>
      <p:sp>
        <p:nvSpPr>
          <p:cNvPr id="11" name="Date Placeholder 10">
            <a:extLst>
              <a:ext uri="{FF2B5EF4-FFF2-40B4-BE49-F238E27FC236}">
                <a16:creationId xmlns:a16="http://schemas.microsoft.com/office/drawing/2014/main" xmlns="" id="{DD607922-B123-734A-90FA-9E19DA4F9D9A}"/>
              </a:ext>
            </a:extLst>
          </p:cNvPr>
          <p:cNvSpPr>
            <a:spLocks noGrp="1"/>
          </p:cNvSpPr>
          <p:nvPr>
            <p:ph type="dt" sz="half" idx="10"/>
          </p:nvPr>
        </p:nvSpPr>
        <p:spPr>
          <a:xfrm>
            <a:off x="540000" y="5040001"/>
            <a:ext cx="2743200" cy="365125"/>
          </a:xfrm>
          <a:prstGeom prst="rect">
            <a:avLst/>
          </a:prstGeom>
        </p:spPr>
        <p:txBody>
          <a:bodyPr lIns="0" tIns="0" rIns="0" bIns="0" anchor="t" anchorCtr="0"/>
          <a:lstStyle>
            <a:lvl1pPr>
              <a:defRPr sz="1500">
                <a:solidFill>
                  <a:schemeClr val="bg2"/>
                </a:solidFill>
              </a:defRPr>
            </a:lvl1pPr>
          </a:lstStyle>
          <a:p>
            <a:fld id="{67A5990F-4943-499A-836C-85B2DC5B2758}" type="datetime1">
              <a:rPr lang="en-IN" smtClean="0"/>
              <a:t>18-03-2026</a:t>
            </a:fld>
            <a:endParaRPr lang="en-IN"/>
          </a:p>
        </p:txBody>
      </p:sp>
    </p:spTree>
    <p:extLst>
      <p:ext uri="{BB962C8B-B14F-4D97-AF65-F5344CB8AC3E}">
        <p14:creationId xmlns:p14="http://schemas.microsoft.com/office/powerpoint/2010/main" xmlns="" val="55258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or 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5CDD45-0E24-824E-8528-54480BCF5819}"/>
              </a:ext>
            </a:extLst>
          </p:cNvPr>
          <p:cNvSpPr>
            <a:spLocks noGrp="1"/>
          </p:cNvSpPr>
          <p:nvPr>
            <p:ph type="ctrTitle" hasCustomPrompt="1"/>
          </p:nvPr>
        </p:nvSpPr>
        <p:spPr>
          <a:xfrm>
            <a:off x="1524000" y="1122364"/>
            <a:ext cx="9144000" cy="4261727"/>
          </a:xfrm>
        </p:spPr>
        <p:txBody>
          <a:bodyPr anchor="ctr"/>
          <a:lstStyle>
            <a:lvl1pPr algn="ctr">
              <a:defRPr sz="4000" b="0" i="0">
                <a:solidFill>
                  <a:schemeClr val="accent5"/>
                </a:solidFill>
                <a:latin typeface="+mj-lt"/>
              </a:defRPr>
            </a:lvl1pPr>
          </a:lstStyle>
          <a:p>
            <a:r>
              <a:rPr lang="en-US" dirty="0"/>
              <a:t>Add Section tile, quote or statement text</a:t>
            </a:r>
            <a:endParaRPr lang="en-GB" dirty="0"/>
          </a:p>
        </p:txBody>
      </p:sp>
    </p:spTree>
    <p:extLst>
      <p:ext uri="{BB962C8B-B14F-4D97-AF65-F5344CB8AC3E}">
        <p14:creationId xmlns:p14="http://schemas.microsoft.com/office/powerpoint/2010/main" xmlns="" val="76493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or Statement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5CDD45-0E24-824E-8528-54480BCF5819}"/>
              </a:ext>
            </a:extLst>
          </p:cNvPr>
          <p:cNvSpPr>
            <a:spLocks noGrp="1"/>
          </p:cNvSpPr>
          <p:nvPr>
            <p:ph type="ctrTitle" hasCustomPrompt="1"/>
          </p:nvPr>
        </p:nvSpPr>
        <p:spPr>
          <a:xfrm>
            <a:off x="1524000" y="1122364"/>
            <a:ext cx="9144000" cy="4261727"/>
          </a:xfrm>
        </p:spPr>
        <p:txBody>
          <a:bodyPr anchor="ctr"/>
          <a:lstStyle>
            <a:lvl1pPr algn="ctr">
              <a:defRPr sz="4000" b="0" i="0">
                <a:solidFill>
                  <a:schemeClr val="accent2"/>
                </a:solidFill>
                <a:latin typeface="+mj-lt"/>
              </a:defRPr>
            </a:lvl1pPr>
          </a:lstStyle>
          <a:p>
            <a:r>
              <a:rPr lang="en-US" dirty="0"/>
              <a:t>Add Section tile, quote or statement text</a:t>
            </a:r>
            <a:endParaRPr lang="en-GB" dirty="0"/>
          </a:p>
        </p:txBody>
      </p:sp>
    </p:spTree>
    <p:extLst>
      <p:ext uri="{BB962C8B-B14F-4D97-AF65-F5344CB8AC3E}">
        <p14:creationId xmlns:p14="http://schemas.microsoft.com/office/powerpoint/2010/main" xmlns="" val="56132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troduction 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DCEB79FC-C7F9-7A41-9F31-DE5E9936D5B9}"/>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 name="Title 1">
            <a:extLst>
              <a:ext uri="{FF2B5EF4-FFF2-40B4-BE49-F238E27FC236}">
                <a16:creationId xmlns:a16="http://schemas.microsoft.com/office/drawing/2014/main" xmlns="" id="{515CDD45-0E24-824E-8528-54480BCF5819}"/>
              </a:ext>
            </a:extLst>
          </p:cNvPr>
          <p:cNvSpPr>
            <a:spLocks noGrp="1"/>
          </p:cNvSpPr>
          <p:nvPr>
            <p:ph type="ctrTitle" hasCustomPrompt="1"/>
          </p:nvPr>
        </p:nvSpPr>
        <p:spPr>
          <a:xfrm>
            <a:off x="432000" y="1260000"/>
            <a:ext cx="9162574" cy="720000"/>
          </a:xfrm>
        </p:spPr>
        <p:txBody>
          <a:bodyPr anchor="t" anchorCtr="0"/>
          <a:lstStyle>
            <a:lvl1pPr algn="l">
              <a:defRPr sz="3000">
                <a:solidFill>
                  <a:schemeClr val="tx2"/>
                </a:solidFill>
              </a:defRPr>
            </a:lvl1pPr>
          </a:lstStyle>
          <a:p>
            <a:r>
              <a:rPr lang="en-US" dirty="0"/>
              <a:t>Add Title</a:t>
            </a:r>
            <a:endParaRPr lang="en-GB" dirty="0"/>
          </a:p>
        </p:txBody>
      </p:sp>
      <p:sp>
        <p:nvSpPr>
          <p:cNvPr id="3" name="Subtitle 2">
            <a:extLst>
              <a:ext uri="{FF2B5EF4-FFF2-40B4-BE49-F238E27FC236}">
                <a16:creationId xmlns:a16="http://schemas.microsoft.com/office/drawing/2014/main" xmlns="" id="{00DB4FFB-A229-AF47-8E60-155F5A2CCF9D}"/>
              </a:ext>
            </a:extLst>
          </p:cNvPr>
          <p:cNvSpPr>
            <a:spLocks noGrp="1"/>
          </p:cNvSpPr>
          <p:nvPr>
            <p:ph type="subTitle" idx="1" hasCustomPrompt="1"/>
          </p:nvPr>
        </p:nvSpPr>
        <p:spPr>
          <a:xfrm>
            <a:off x="432000" y="2088000"/>
            <a:ext cx="9144000" cy="2340000"/>
          </a:xfrm>
        </p:spPr>
        <p:txBody>
          <a:bodyPr anchor="t" anchorCtr="0"/>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introduction text or statement</a:t>
            </a:r>
            <a:endParaRPr lang="en-GB" dirty="0"/>
          </a:p>
        </p:txBody>
      </p:sp>
      <p:sp>
        <p:nvSpPr>
          <p:cNvPr id="5" name="Footer Placeholder 4">
            <a:extLst>
              <a:ext uri="{FF2B5EF4-FFF2-40B4-BE49-F238E27FC236}">
                <a16:creationId xmlns:a16="http://schemas.microsoft.com/office/drawing/2014/main" xmlns="" id="{1570FF5F-86DC-2A48-BA0E-9956D2F5E682}"/>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sp>
        <p:nvSpPr>
          <p:cNvPr id="12" name="TextBox 11">
            <a:extLst>
              <a:ext uri="{FF2B5EF4-FFF2-40B4-BE49-F238E27FC236}">
                <a16:creationId xmlns:a16="http://schemas.microsoft.com/office/drawing/2014/main" xmlns="" id="{15EB2273-3E9C-714C-947C-062AFA427E83}"/>
              </a:ext>
            </a:extLst>
          </p:cNvPr>
          <p:cNvSpPr txBox="1"/>
          <p:nvPr/>
        </p:nvSpPr>
        <p:spPr>
          <a:xfrm>
            <a:off x="13462356" y="-351692"/>
            <a:ext cx="0" cy="0"/>
          </a:xfrm>
          <a:prstGeom prst="rect">
            <a:avLst/>
          </a:prstGeom>
          <a:noFill/>
        </p:spPr>
        <p:txBody>
          <a:bodyPr wrap="none" lIns="0" tIns="0" rIns="0" bIns="0" rtlCol="0">
            <a:noAutofit/>
          </a:bodyPr>
          <a:lstStyle/>
          <a:p>
            <a:pPr algn="l"/>
            <a:endParaRPr lang="en-GB" sz="1200" dirty="0">
              <a:solidFill>
                <a:schemeClr val="tx2"/>
              </a:solidFill>
            </a:endParaRPr>
          </a:p>
        </p:txBody>
      </p:sp>
      <p:cxnSp>
        <p:nvCxnSpPr>
          <p:cNvPr id="8" name="Straight Connector 7">
            <a:extLst>
              <a:ext uri="{FF2B5EF4-FFF2-40B4-BE49-F238E27FC236}">
                <a16:creationId xmlns:a16="http://schemas.microsoft.com/office/drawing/2014/main" xmlns="" id="{60399DBD-03B7-8A4A-96A1-57D466B2A4DA}"/>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xmlns="" id="{8C7ED201-DC4D-DD43-B1BA-D1C5FD977E0D}"/>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4" name="Graphic 13">
            <a:extLst>
              <a:ext uri="{FF2B5EF4-FFF2-40B4-BE49-F238E27FC236}">
                <a16:creationId xmlns:a16="http://schemas.microsoft.com/office/drawing/2014/main" xmlns="" id="{9417353C-D9E4-E44B-9D53-0185AA1C220C}"/>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2058648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8AF0E0EB-99EB-934F-B161-D43EBAFC8027}"/>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4" name="Footer Placeholder 4">
            <a:extLst>
              <a:ext uri="{FF2B5EF4-FFF2-40B4-BE49-F238E27FC236}">
                <a16:creationId xmlns:a16="http://schemas.microsoft.com/office/drawing/2014/main" xmlns="" id="{E4CADE0F-6FDA-D54D-BFD9-ED61277690F2}"/>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cxnSp>
        <p:nvCxnSpPr>
          <p:cNvPr id="17" name="Straight Connector 16">
            <a:extLst>
              <a:ext uri="{FF2B5EF4-FFF2-40B4-BE49-F238E27FC236}">
                <a16:creationId xmlns:a16="http://schemas.microsoft.com/office/drawing/2014/main" xmlns="" id="{2620E7FC-C51A-914A-9EF8-0BEB15E42502}"/>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xmlns="" id="{6F5D1C0F-74B3-8A4E-AAC6-F9A9FAAF8A5F}"/>
              </a:ext>
            </a:extLst>
          </p:cNvPr>
          <p:cNvSpPr>
            <a:spLocks noGrp="1"/>
          </p:cNvSpPr>
          <p:nvPr>
            <p:ph sz="quarter" idx="18" hasCustomPrompt="1"/>
          </p:nvPr>
        </p:nvSpPr>
        <p:spPr>
          <a:xfrm>
            <a:off x="432001" y="2088000"/>
            <a:ext cx="11329200" cy="4140000"/>
          </a:xfrm>
        </p:spPr>
        <p:txBody>
          <a:bodyPr/>
          <a:lstStyle/>
          <a:p>
            <a:pPr lvl="0"/>
            <a:r>
              <a:rPr lang="en-US" dirty="0"/>
              <a:t>Add chart/table/photo</a:t>
            </a:r>
            <a:endParaRPr lang="en-GB" dirty="0"/>
          </a:p>
        </p:txBody>
      </p:sp>
      <p:sp>
        <p:nvSpPr>
          <p:cNvPr id="10" name="Title 1">
            <a:extLst>
              <a:ext uri="{FF2B5EF4-FFF2-40B4-BE49-F238E27FC236}">
                <a16:creationId xmlns:a16="http://schemas.microsoft.com/office/drawing/2014/main" xmlns="" id="{4C7E32C5-B4D2-3D4A-A247-46A7EA56E1CC}"/>
              </a:ext>
            </a:extLst>
          </p:cNvPr>
          <p:cNvSpPr>
            <a:spLocks noGrp="1"/>
          </p:cNvSpPr>
          <p:nvPr>
            <p:ph type="ctrTitle" hasCustomPrompt="1"/>
          </p:nvPr>
        </p:nvSpPr>
        <p:spPr>
          <a:xfrm>
            <a:off x="432001" y="1260000"/>
            <a:ext cx="11349182" cy="720000"/>
          </a:xfrm>
        </p:spPr>
        <p:txBody>
          <a:bodyPr anchor="t" anchorCtr="0"/>
          <a:lstStyle>
            <a:lvl1pPr algn="l">
              <a:defRPr sz="3000">
                <a:solidFill>
                  <a:schemeClr val="tx2"/>
                </a:solidFill>
              </a:defRPr>
            </a:lvl1pPr>
          </a:lstStyle>
          <a:p>
            <a:r>
              <a:rPr lang="en-US" dirty="0"/>
              <a:t>Add Title</a:t>
            </a:r>
            <a:endParaRPr lang="en-GB" dirty="0"/>
          </a:p>
        </p:txBody>
      </p:sp>
      <p:sp>
        <p:nvSpPr>
          <p:cNvPr id="11" name="Slide Number Placeholder 5">
            <a:extLst>
              <a:ext uri="{FF2B5EF4-FFF2-40B4-BE49-F238E27FC236}">
                <a16:creationId xmlns:a16="http://schemas.microsoft.com/office/drawing/2014/main" xmlns="" id="{2E9B0D2C-B5D7-6C4B-9F42-6AE0EBB91E52}"/>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5" name="Graphic 14">
            <a:extLst>
              <a:ext uri="{FF2B5EF4-FFF2-40B4-BE49-F238E27FC236}">
                <a16:creationId xmlns:a16="http://schemas.microsoft.com/office/drawing/2014/main" xmlns="" id="{9ACCBCE4-4A50-C443-90B9-B0D714D23159}"/>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303340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4DE92B2F-3B5D-374E-8620-EC886CDC0815}"/>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Footer Placeholder 4">
            <a:extLst>
              <a:ext uri="{FF2B5EF4-FFF2-40B4-BE49-F238E27FC236}">
                <a16:creationId xmlns:a16="http://schemas.microsoft.com/office/drawing/2014/main" xmlns="" id="{4587B805-39B4-A94D-A62A-73E51D01544C}"/>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cxnSp>
        <p:nvCxnSpPr>
          <p:cNvPr id="16" name="Straight Connector 15">
            <a:extLst>
              <a:ext uri="{FF2B5EF4-FFF2-40B4-BE49-F238E27FC236}">
                <a16:creationId xmlns:a16="http://schemas.microsoft.com/office/drawing/2014/main" xmlns="" id="{4C82DC9D-C785-B94C-B406-965D6D8822FE}"/>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xmlns="" id="{1AA3A0A6-2360-E749-813F-4C2BB76956BA}"/>
              </a:ext>
            </a:extLst>
          </p:cNvPr>
          <p:cNvSpPr>
            <a:spLocks noGrp="1"/>
          </p:cNvSpPr>
          <p:nvPr>
            <p:ph type="body" sz="quarter" idx="15"/>
          </p:nvPr>
        </p:nvSpPr>
        <p:spPr>
          <a:xfrm>
            <a:off x="432000" y="2088000"/>
            <a:ext cx="5520000" cy="4140000"/>
          </a:xfrm>
        </p:spPr>
        <p:txBody>
          <a:bodyPr/>
          <a:lstStyle>
            <a:lvl3pPr marL="144000" indent="-144000">
              <a:defRPr/>
            </a:lvl3pPr>
            <a:lvl4pPr marL="288000" indent="-144000">
              <a:spcBef>
                <a:spcPts val="0"/>
              </a:spcBef>
              <a:spcAft>
                <a:spcPts val="0"/>
              </a:spcAft>
              <a:buFont typeface="Arial" panose="020B0604020202020204" pitchFamily="34" charset="0"/>
              <a:buChar cha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Content Placeholder 11">
            <a:extLst>
              <a:ext uri="{FF2B5EF4-FFF2-40B4-BE49-F238E27FC236}">
                <a16:creationId xmlns:a16="http://schemas.microsoft.com/office/drawing/2014/main" xmlns="" id="{A6E03B43-8C85-3146-B22E-4FD9A082F70A}"/>
              </a:ext>
            </a:extLst>
          </p:cNvPr>
          <p:cNvSpPr>
            <a:spLocks noGrp="1"/>
          </p:cNvSpPr>
          <p:nvPr>
            <p:ph sz="quarter" idx="16" hasCustomPrompt="1"/>
          </p:nvPr>
        </p:nvSpPr>
        <p:spPr>
          <a:xfrm>
            <a:off x="6191251" y="2088000"/>
            <a:ext cx="5520267" cy="4140200"/>
          </a:xfrm>
        </p:spPr>
        <p:txBody>
          <a:bodyPr/>
          <a:lstStyle/>
          <a:p>
            <a:pPr lvl="0"/>
            <a:r>
              <a:rPr lang="en-US" dirty="0"/>
              <a:t>Add chart/table/photo</a:t>
            </a:r>
            <a:endParaRPr lang="en-GB" dirty="0"/>
          </a:p>
        </p:txBody>
      </p:sp>
      <p:sp>
        <p:nvSpPr>
          <p:cNvPr id="10" name="Title 1">
            <a:extLst>
              <a:ext uri="{FF2B5EF4-FFF2-40B4-BE49-F238E27FC236}">
                <a16:creationId xmlns:a16="http://schemas.microsoft.com/office/drawing/2014/main" xmlns="" id="{E9821578-A4C2-2446-878D-F5C93749956B}"/>
              </a:ext>
            </a:extLst>
          </p:cNvPr>
          <p:cNvSpPr>
            <a:spLocks noGrp="1"/>
          </p:cNvSpPr>
          <p:nvPr>
            <p:ph type="ctrTitle" hasCustomPrompt="1"/>
          </p:nvPr>
        </p:nvSpPr>
        <p:spPr>
          <a:xfrm>
            <a:off x="432000" y="1260000"/>
            <a:ext cx="11282204" cy="720000"/>
          </a:xfrm>
        </p:spPr>
        <p:txBody>
          <a:bodyPr anchor="t" anchorCtr="0"/>
          <a:lstStyle>
            <a:lvl1pPr algn="l">
              <a:defRPr sz="3000">
                <a:solidFill>
                  <a:schemeClr val="tx2"/>
                </a:solidFill>
              </a:defRPr>
            </a:lvl1pPr>
          </a:lstStyle>
          <a:p>
            <a:r>
              <a:rPr lang="en-US" dirty="0"/>
              <a:t>Add Title</a:t>
            </a:r>
            <a:endParaRPr lang="en-GB" dirty="0"/>
          </a:p>
        </p:txBody>
      </p:sp>
      <p:sp>
        <p:nvSpPr>
          <p:cNvPr id="11" name="Slide Number Placeholder 5">
            <a:extLst>
              <a:ext uri="{FF2B5EF4-FFF2-40B4-BE49-F238E27FC236}">
                <a16:creationId xmlns:a16="http://schemas.microsoft.com/office/drawing/2014/main" xmlns="" id="{64A134AF-19DB-7342-9C2D-414BDB13BA7E}"/>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4" name="Graphic 13">
            <a:extLst>
              <a:ext uri="{FF2B5EF4-FFF2-40B4-BE49-F238E27FC236}">
                <a16:creationId xmlns:a16="http://schemas.microsoft.com/office/drawing/2014/main" xmlns="" id="{BDA0BFA6-ECB6-FF41-8B37-CAC4ED15694F}"/>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4159544752"/>
      </p:ext>
    </p:extLst>
  </p:cSld>
  <p:clrMapOvr>
    <a:masterClrMapping/>
  </p:clrMapOvr>
  <p:extLst mod="1">
    <p:ext uri="{DCECCB84-F9BA-43D5-87BE-67443E8EF086}">
      <p15:sldGuideLst xmlns:p15="http://schemas.microsoft.com/office/powerpoint/2012/main" xmlns="">
        <p15:guide id="1" orient="horz" pos="2160">
          <p15:clr>
            <a:srgbClr val="FBAE40"/>
          </p15:clr>
        </p15:guide>
        <p15:guide id="2" pos="3809">
          <p15:clr>
            <a:srgbClr val="FBAE40"/>
          </p15:clr>
        </p15:guide>
        <p15:guide id="3" pos="387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and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8739EBC3-2E79-AF4C-A385-42015A47076C}"/>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4" name="Footer Placeholder 4">
            <a:extLst>
              <a:ext uri="{FF2B5EF4-FFF2-40B4-BE49-F238E27FC236}">
                <a16:creationId xmlns:a16="http://schemas.microsoft.com/office/drawing/2014/main" xmlns="" id="{2CAE3DF5-3A96-064D-B068-053221BE1578}"/>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cxnSp>
        <p:nvCxnSpPr>
          <p:cNvPr id="18" name="Straight Connector 17">
            <a:extLst>
              <a:ext uri="{FF2B5EF4-FFF2-40B4-BE49-F238E27FC236}">
                <a16:creationId xmlns:a16="http://schemas.microsoft.com/office/drawing/2014/main" xmlns="" id="{5DFDDD87-ACE1-C04D-93D1-B1083ED83E11}"/>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Picture Placeholder 3"/>
          <p:cNvSpPr>
            <a:spLocks noGrp="1"/>
          </p:cNvSpPr>
          <p:nvPr>
            <p:ph type="pic" sz="quarter" idx="10"/>
          </p:nvPr>
        </p:nvSpPr>
        <p:spPr>
          <a:xfrm>
            <a:off x="8161200" y="2088000"/>
            <a:ext cx="3600000" cy="4140000"/>
          </a:xfrm>
          <a:prstGeom prst="rect">
            <a:avLst/>
          </a:prstGeom>
        </p:spPr>
        <p:txBody>
          <a:bodyPr anchor="ctr"/>
          <a:lstStyle>
            <a:lvl1pPr marL="0" indent="0" algn="ctr">
              <a:buNone/>
              <a:defRPr>
                <a:solidFill>
                  <a:schemeClr val="bg2"/>
                </a:solidFill>
              </a:defRPr>
            </a:lvl1pPr>
          </a:lstStyle>
          <a:p>
            <a:r>
              <a:rPr lang="en-US"/>
              <a:t>Click icon to add picture</a:t>
            </a:r>
            <a:endParaRPr lang="en-GB" dirty="0"/>
          </a:p>
        </p:txBody>
      </p:sp>
      <p:sp>
        <p:nvSpPr>
          <p:cNvPr id="5" name="Text Placeholder 4">
            <a:extLst>
              <a:ext uri="{FF2B5EF4-FFF2-40B4-BE49-F238E27FC236}">
                <a16:creationId xmlns:a16="http://schemas.microsoft.com/office/drawing/2014/main" xmlns="" id="{1AA3A0A6-2360-E749-813F-4C2BB76956BA}"/>
              </a:ext>
            </a:extLst>
          </p:cNvPr>
          <p:cNvSpPr>
            <a:spLocks noGrp="1"/>
          </p:cNvSpPr>
          <p:nvPr>
            <p:ph type="body" sz="quarter" idx="15"/>
          </p:nvPr>
        </p:nvSpPr>
        <p:spPr>
          <a:xfrm>
            <a:off x="432000" y="2088000"/>
            <a:ext cx="3600000" cy="414000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4">
            <a:extLst>
              <a:ext uri="{FF2B5EF4-FFF2-40B4-BE49-F238E27FC236}">
                <a16:creationId xmlns:a16="http://schemas.microsoft.com/office/drawing/2014/main" xmlns="" id="{2AB1F66A-DEB0-684D-B5D3-31629EAC148A}"/>
              </a:ext>
            </a:extLst>
          </p:cNvPr>
          <p:cNvSpPr>
            <a:spLocks noGrp="1"/>
          </p:cNvSpPr>
          <p:nvPr>
            <p:ph type="body" sz="quarter" idx="16"/>
          </p:nvPr>
        </p:nvSpPr>
        <p:spPr>
          <a:xfrm>
            <a:off x="4296000" y="2088000"/>
            <a:ext cx="3600000" cy="414000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
            <a:extLst>
              <a:ext uri="{FF2B5EF4-FFF2-40B4-BE49-F238E27FC236}">
                <a16:creationId xmlns:a16="http://schemas.microsoft.com/office/drawing/2014/main" xmlns="" id="{5074D620-F982-5441-BE6E-F7D4543A3CA3}"/>
              </a:ext>
            </a:extLst>
          </p:cNvPr>
          <p:cNvSpPr>
            <a:spLocks noGrp="1"/>
          </p:cNvSpPr>
          <p:nvPr>
            <p:ph type="ctrTitle" hasCustomPrompt="1"/>
          </p:nvPr>
        </p:nvSpPr>
        <p:spPr>
          <a:xfrm>
            <a:off x="432000" y="1260000"/>
            <a:ext cx="11343989" cy="720000"/>
          </a:xfrm>
        </p:spPr>
        <p:txBody>
          <a:bodyPr anchor="t" anchorCtr="0"/>
          <a:lstStyle>
            <a:lvl1pPr algn="l">
              <a:defRPr sz="3000">
                <a:solidFill>
                  <a:schemeClr val="tx2"/>
                </a:solidFill>
              </a:defRPr>
            </a:lvl1pPr>
          </a:lstStyle>
          <a:p>
            <a:r>
              <a:rPr lang="en-US" dirty="0"/>
              <a:t>Add Title</a:t>
            </a:r>
            <a:endParaRPr lang="en-GB" dirty="0"/>
          </a:p>
        </p:txBody>
      </p:sp>
      <p:sp>
        <p:nvSpPr>
          <p:cNvPr id="13" name="Slide Number Placeholder 5">
            <a:extLst>
              <a:ext uri="{FF2B5EF4-FFF2-40B4-BE49-F238E27FC236}">
                <a16:creationId xmlns:a16="http://schemas.microsoft.com/office/drawing/2014/main" xmlns="" id="{ABA5BE87-C937-8640-BE27-67B42DE27C74}"/>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7" name="Graphic 16">
            <a:extLst>
              <a:ext uri="{FF2B5EF4-FFF2-40B4-BE49-F238E27FC236}">
                <a16:creationId xmlns:a16="http://schemas.microsoft.com/office/drawing/2014/main" xmlns="" id="{993504D2-B444-4F40-A6BA-E734F5A4E9A9}"/>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4164874653"/>
      </p:ext>
    </p:extLst>
  </p:cSld>
  <p:clrMapOvr>
    <a:masterClrMapping/>
  </p:clrMapOvr>
  <p:extLst mod="1">
    <p:ext uri="{DCECCB84-F9BA-43D5-87BE-67443E8EF086}">
      <p15:sldGuideLst xmlns:p15="http://schemas.microsoft.com/office/powerpoint/2012/main" xmlns="">
        <p15:guide id="1" orient="horz" pos="2160">
          <p15:clr>
            <a:srgbClr val="FBAE40"/>
          </p15:clr>
        </p15:guide>
        <p15:guide id="2" pos="3809">
          <p15:clr>
            <a:srgbClr val="FBAE40"/>
          </p15:clr>
        </p15:guide>
        <p15:guide id="3" pos="38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4F3A6A55-235B-4730-981B-9D1BB965CFE5}"/>
              </a:ext>
            </a:extLst>
          </p:cNvPr>
          <p:cNvSpPr>
            <a:spLocks noGrp="1"/>
          </p:cNvSpPr>
          <p:nvPr>
            <p:ph type="ftr" sz="quarter" idx="10"/>
          </p:nvPr>
        </p:nvSpPr>
        <p:spPr/>
        <p:txBody>
          <a:bodyPr/>
          <a:lstStyle/>
          <a:p>
            <a:endParaRPr lang="en-IN"/>
          </a:p>
        </p:txBody>
      </p:sp>
      <p:sp>
        <p:nvSpPr>
          <p:cNvPr id="4" name="Slide Number Placeholder 3">
            <a:extLst>
              <a:ext uri="{FF2B5EF4-FFF2-40B4-BE49-F238E27FC236}">
                <a16:creationId xmlns:a16="http://schemas.microsoft.com/office/drawing/2014/main" xmlns="" id="{192BA99E-25D1-42D1-A78D-F28F96A8ACDE}"/>
              </a:ext>
            </a:extLst>
          </p:cNvPr>
          <p:cNvSpPr>
            <a:spLocks noGrp="1"/>
          </p:cNvSpPr>
          <p:nvPr>
            <p:ph type="sldNum" sz="quarter" idx="11"/>
          </p:nvPr>
        </p:nvSpPr>
        <p:spPr/>
        <p:txBody>
          <a:bodyPr/>
          <a:lstStyle/>
          <a:p>
            <a:fld id="{2D7B3FB0-1511-4BF4-9288-455FC303C7FD}" type="slidenum">
              <a:rPr lang="en-IN" smtClean="0"/>
              <a:pPr/>
              <a:t>‹#›</a:t>
            </a:fld>
            <a:endParaRPr lang="en-IN"/>
          </a:p>
        </p:txBody>
      </p:sp>
      <p:sp>
        <p:nvSpPr>
          <p:cNvPr id="5" name="Rectangle 4">
            <a:extLst>
              <a:ext uri="{FF2B5EF4-FFF2-40B4-BE49-F238E27FC236}">
                <a16:creationId xmlns:a16="http://schemas.microsoft.com/office/drawing/2014/main" xmlns="" id="{854726E7-46BA-4B54-A763-895CD5917CB6}"/>
              </a:ext>
            </a:extLst>
          </p:cNvPr>
          <p:cNvSpPr/>
          <p:nvPr/>
        </p:nvSpPr>
        <p:spPr>
          <a:xfrm>
            <a:off x="6260597" y="531342"/>
            <a:ext cx="5931404" cy="5842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solidFill>
                <a:schemeClr val="accent2"/>
              </a:solidFill>
              <a:highlight>
                <a:srgbClr val="F2692B"/>
              </a:highlight>
            </a:endParaRPr>
          </a:p>
        </p:txBody>
      </p:sp>
      <p:sp>
        <p:nvSpPr>
          <p:cNvPr id="6" name="Rectangle 5">
            <a:extLst>
              <a:ext uri="{FF2B5EF4-FFF2-40B4-BE49-F238E27FC236}">
                <a16:creationId xmlns:a16="http://schemas.microsoft.com/office/drawing/2014/main" xmlns="" id="{F239E52C-08A2-4225-8B56-BAC3BACB926E}"/>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ext Placeholder 8">
            <a:extLst>
              <a:ext uri="{FF2B5EF4-FFF2-40B4-BE49-F238E27FC236}">
                <a16:creationId xmlns:a16="http://schemas.microsoft.com/office/drawing/2014/main" xmlns="" id="{7025C311-4A7F-487B-A84B-9C1948BA2416}"/>
              </a:ext>
            </a:extLst>
          </p:cNvPr>
          <p:cNvSpPr>
            <a:spLocks noGrp="1"/>
          </p:cNvSpPr>
          <p:nvPr>
            <p:ph type="body" sz="quarter" idx="14" hasCustomPrompt="1"/>
          </p:nvPr>
        </p:nvSpPr>
        <p:spPr>
          <a:xfrm>
            <a:off x="6642102" y="1651597"/>
            <a:ext cx="4953090" cy="3723776"/>
          </a:xfrm>
        </p:spPr>
        <p:txBody>
          <a:bodyPr anchor="t" anchorCtr="0"/>
          <a:lstStyle>
            <a:lvl1pPr algn="l">
              <a:lnSpc>
                <a:spcPct val="120000"/>
              </a:lnSpc>
              <a:defRPr sz="3000">
                <a:solidFill>
                  <a:schemeClr val="tx2"/>
                </a:solidFill>
                <a:latin typeface="+mj-lt"/>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GB" dirty="0"/>
              <a:t>“Quote or statement”</a:t>
            </a:r>
          </a:p>
        </p:txBody>
      </p:sp>
      <p:pic>
        <p:nvPicPr>
          <p:cNvPr id="8" name="Graphic 7">
            <a:extLst>
              <a:ext uri="{FF2B5EF4-FFF2-40B4-BE49-F238E27FC236}">
                <a16:creationId xmlns:a16="http://schemas.microsoft.com/office/drawing/2014/main" xmlns="" id="{4313CC98-D8A8-4DFA-8BB4-82E5CB804786}"/>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cxnSp>
        <p:nvCxnSpPr>
          <p:cNvPr id="9" name="Straight Connector 8">
            <a:extLst>
              <a:ext uri="{FF2B5EF4-FFF2-40B4-BE49-F238E27FC236}">
                <a16:creationId xmlns:a16="http://schemas.microsoft.com/office/drawing/2014/main" xmlns="" id="{199BA821-4050-4623-94EA-BEB11F2A7968}"/>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xmlns="" id="{92B34AC7-CAE1-4A11-9F35-3EF0E16FB0ED}"/>
              </a:ext>
            </a:extLst>
          </p:cNvPr>
          <p:cNvSpPr>
            <a:spLocks noGrp="1"/>
          </p:cNvSpPr>
          <p:nvPr>
            <p:ph type="body" sz="quarter" idx="15"/>
          </p:nvPr>
        </p:nvSpPr>
        <p:spPr>
          <a:xfrm>
            <a:off x="394093" y="1376854"/>
            <a:ext cx="5499100" cy="458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974146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and Statement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BC9BCFD0-067D-6545-8C5D-27D2627541BB}"/>
              </a:ext>
            </a:extLst>
          </p:cNvPr>
          <p:cNvSpPr/>
          <p:nvPr/>
        </p:nvSpPr>
        <p:spPr>
          <a:xfrm>
            <a:off x="1" y="531342"/>
            <a:ext cx="5931404" cy="584295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solidFill>
                <a:schemeClr val="tx2"/>
              </a:solidFill>
            </a:endParaRPr>
          </a:p>
        </p:txBody>
      </p:sp>
      <p:sp>
        <p:nvSpPr>
          <p:cNvPr id="12" name="Rectangle 11">
            <a:extLst>
              <a:ext uri="{FF2B5EF4-FFF2-40B4-BE49-F238E27FC236}">
                <a16:creationId xmlns:a16="http://schemas.microsoft.com/office/drawing/2014/main" xmlns="" id="{C1F9EB67-9E65-204A-B7A8-73B03B26A550}"/>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cxnSp>
        <p:nvCxnSpPr>
          <p:cNvPr id="19" name="Straight Connector 18">
            <a:extLst>
              <a:ext uri="{FF2B5EF4-FFF2-40B4-BE49-F238E27FC236}">
                <a16:creationId xmlns:a16="http://schemas.microsoft.com/office/drawing/2014/main" xmlns="" id="{5F1BF6B2-48A5-1B4F-B109-4AD86E66F171}"/>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xmlns="" id="{5A57B211-0045-2844-B5DA-1D7E13A68B82}"/>
              </a:ext>
            </a:extLst>
          </p:cNvPr>
          <p:cNvSpPr>
            <a:spLocks noGrp="1"/>
          </p:cNvSpPr>
          <p:nvPr>
            <p:ph type="pic" sz="quarter" idx="13"/>
          </p:nvPr>
        </p:nvSpPr>
        <p:spPr>
          <a:xfrm>
            <a:off x="6253200" y="1296000"/>
            <a:ext cx="5508000" cy="4752000"/>
          </a:xfrm>
        </p:spPr>
        <p:txBody>
          <a:bodyPr/>
          <a:lstStyle>
            <a:lvl1pPr>
              <a:defRPr sz="1200"/>
            </a:lvl1pPr>
          </a:lstStyle>
          <a:p>
            <a:r>
              <a:rPr lang="en-US"/>
              <a:t>Click icon to add picture</a:t>
            </a:r>
            <a:endParaRPr lang="en-GB" dirty="0"/>
          </a:p>
        </p:txBody>
      </p:sp>
      <p:sp>
        <p:nvSpPr>
          <p:cNvPr id="9" name="Text Placeholder 8">
            <a:extLst>
              <a:ext uri="{FF2B5EF4-FFF2-40B4-BE49-F238E27FC236}">
                <a16:creationId xmlns:a16="http://schemas.microsoft.com/office/drawing/2014/main" xmlns="" id="{6C7B40B0-3203-CF4D-9A88-A624E8DA0CF6}"/>
              </a:ext>
            </a:extLst>
          </p:cNvPr>
          <p:cNvSpPr>
            <a:spLocks noGrp="1"/>
          </p:cNvSpPr>
          <p:nvPr>
            <p:ph type="body" sz="quarter" idx="14" hasCustomPrompt="1"/>
          </p:nvPr>
        </p:nvSpPr>
        <p:spPr>
          <a:xfrm>
            <a:off x="381507" y="1661024"/>
            <a:ext cx="4953090" cy="3723776"/>
          </a:xfrm>
        </p:spPr>
        <p:txBody>
          <a:bodyPr anchor="t" anchorCtr="0"/>
          <a:lstStyle>
            <a:lvl1pPr algn="l">
              <a:lnSpc>
                <a:spcPct val="120000"/>
              </a:lnSpc>
              <a:defRPr sz="3000">
                <a:solidFill>
                  <a:schemeClr val="bg1"/>
                </a:solidFill>
                <a:latin typeface="+mj-lt"/>
              </a:defRPr>
            </a:lvl1pPr>
            <a:lvl2pPr algn="ctr">
              <a:defRPr>
                <a:solidFill>
                  <a:schemeClr val="accent4"/>
                </a:solidFill>
              </a:defRPr>
            </a:lvl2pPr>
            <a:lvl3pPr algn="ctr">
              <a:defRPr>
                <a:solidFill>
                  <a:schemeClr val="accent4"/>
                </a:solidFill>
              </a:defRPr>
            </a:lvl3pPr>
            <a:lvl4pPr algn="ctr">
              <a:defRPr>
                <a:solidFill>
                  <a:schemeClr val="accent4"/>
                </a:solidFill>
              </a:defRPr>
            </a:lvl4pPr>
            <a:lvl5pPr algn="ctr">
              <a:defRPr>
                <a:solidFill>
                  <a:schemeClr val="accent4"/>
                </a:solidFill>
              </a:defRPr>
            </a:lvl5pPr>
          </a:lstStyle>
          <a:p>
            <a:pPr lvl="0"/>
            <a:r>
              <a:rPr lang="en-GB" dirty="0"/>
              <a:t>“Quote or statement”</a:t>
            </a:r>
          </a:p>
        </p:txBody>
      </p:sp>
      <p:sp>
        <p:nvSpPr>
          <p:cNvPr id="13" name="Slide Number Placeholder 5">
            <a:extLst>
              <a:ext uri="{FF2B5EF4-FFF2-40B4-BE49-F238E27FC236}">
                <a16:creationId xmlns:a16="http://schemas.microsoft.com/office/drawing/2014/main" xmlns="" id="{23E1636A-7E1C-4042-8E40-337CB68DC022}"/>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0" name="Graphic 9">
            <a:extLst>
              <a:ext uri="{FF2B5EF4-FFF2-40B4-BE49-F238E27FC236}">
                <a16:creationId xmlns:a16="http://schemas.microsoft.com/office/drawing/2014/main" xmlns="" id="{E8609E81-C585-8744-AD73-8C072DF85858}"/>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
        <p:nvSpPr>
          <p:cNvPr id="15" name="Footer Placeholder 4">
            <a:extLst>
              <a:ext uri="{FF2B5EF4-FFF2-40B4-BE49-F238E27FC236}">
                <a16:creationId xmlns:a16="http://schemas.microsoft.com/office/drawing/2014/main" xmlns="" id="{C6DD65B2-8958-684E-9DF1-A1F41C927BD2}"/>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spTree>
    <p:extLst>
      <p:ext uri="{BB962C8B-B14F-4D97-AF65-F5344CB8AC3E}">
        <p14:creationId xmlns:p14="http://schemas.microsoft.com/office/powerpoint/2010/main" xmlns="" val="1418758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and Statem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BC9BCFD0-067D-6545-8C5D-27D2627541BB}"/>
              </a:ext>
            </a:extLst>
          </p:cNvPr>
          <p:cNvSpPr/>
          <p:nvPr/>
        </p:nvSpPr>
        <p:spPr>
          <a:xfrm>
            <a:off x="6260597" y="531342"/>
            <a:ext cx="5931404" cy="5842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solidFill>
                <a:schemeClr val="accent2"/>
              </a:solidFill>
            </a:endParaRPr>
          </a:p>
        </p:txBody>
      </p:sp>
      <p:sp>
        <p:nvSpPr>
          <p:cNvPr id="12" name="Rectangle 11">
            <a:extLst>
              <a:ext uri="{FF2B5EF4-FFF2-40B4-BE49-F238E27FC236}">
                <a16:creationId xmlns:a16="http://schemas.microsoft.com/office/drawing/2014/main" xmlns="" id="{C1F9EB67-9E65-204A-B7A8-73B03B26A550}"/>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cxnSp>
        <p:nvCxnSpPr>
          <p:cNvPr id="19" name="Straight Connector 18">
            <a:extLst>
              <a:ext uri="{FF2B5EF4-FFF2-40B4-BE49-F238E27FC236}">
                <a16:creationId xmlns:a16="http://schemas.microsoft.com/office/drawing/2014/main" xmlns="" id="{5F1BF6B2-48A5-1B4F-B109-4AD86E66F171}"/>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xmlns="" id="{5A57B211-0045-2844-B5DA-1D7E13A68B82}"/>
              </a:ext>
            </a:extLst>
          </p:cNvPr>
          <p:cNvSpPr>
            <a:spLocks noGrp="1"/>
          </p:cNvSpPr>
          <p:nvPr>
            <p:ph type="pic" sz="quarter" idx="13"/>
          </p:nvPr>
        </p:nvSpPr>
        <p:spPr>
          <a:xfrm>
            <a:off x="432000" y="1296000"/>
            <a:ext cx="5508000" cy="4752000"/>
          </a:xfrm>
        </p:spPr>
        <p:txBody>
          <a:bodyPr/>
          <a:lstStyle>
            <a:lvl1pPr>
              <a:defRPr sz="1200"/>
            </a:lvl1pPr>
          </a:lstStyle>
          <a:p>
            <a:r>
              <a:rPr lang="en-US"/>
              <a:t>Click icon to add picture</a:t>
            </a:r>
            <a:endParaRPr lang="en-GB" dirty="0"/>
          </a:p>
        </p:txBody>
      </p:sp>
      <p:sp>
        <p:nvSpPr>
          <p:cNvPr id="9" name="Text Placeholder 8">
            <a:extLst>
              <a:ext uri="{FF2B5EF4-FFF2-40B4-BE49-F238E27FC236}">
                <a16:creationId xmlns:a16="http://schemas.microsoft.com/office/drawing/2014/main" xmlns="" id="{6C7B40B0-3203-CF4D-9A88-A624E8DA0CF6}"/>
              </a:ext>
            </a:extLst>
          </p:cNvPr>
          <p:cNvSpPr>
            <a:spLocks noGrp="1"/>
          </p:cNvSpPr>
          <p:nvPr>
            <p:ph type="body" sz="quarter" idx="14" hasCustomPrompt="1"/>
          </p:nvPr>
        </p:nvSpPr>
        <p:spPr>
          <a:xfrm>
            <a:off x="6642102" y="1661024"/>
            <a:ext cx="4953090" cy="3723776"/>
          </a:xfrm>
        </p:spPr>
        <p:txBody>
          <a:bodyPr anchor="t" anchorCtr="0"/>
          <a:lstStyle>
            <a:lvl1pPr algn="l">
              <a:lnSpc>
                <a:spcPct val="120000"/>
              </a:lnSpc>
              <a:defRPr sz="3000">
                <a:solidFill>
                  <a:schemeClr val="tx2"/>
                </a:solidFill>
                <a:latin typeface="+mj-lt"/>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GB" dirty="0"/>
              <a:t>“Quote or statement goes here”</a:t>
            </a:r>
          </a:p>
        </p:txBody>
      </p:sp>
      <p:sp>
        <p:nvSpPr>
          <p:cNvPr id="10" name="Slide Number Placeholder 5">
            <a:extLst>
              <a:ext uri="{FF2B5EF4-FFF2-40B4-BE49-F238E27FC236}">
                <a16:creationId xmlns:a16="http://schemas.microsoft.com/office/drawing/2014/main" xmlns="" id="{443E513C-589A-FF49-BFDE-0A7D8FB554D0}"/>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5" name="Graphic 14">
            <a:extLst>
              <a:ext uri="{FF2B5EF4-FFF2-40B4-BE49-F238E27FC236}">
                <a16:creationId xmlns:a16="http://schemas.microsoft.com/office/drawing/2014/main" xmlns="" id="{982C24E9-6FCE-4248-BF58-7BFF398BEA4F}"/>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
        <p:nvSpPr>
          <p:cNvPr id="13" name="Footer Placeholder 4">
            <a:extLst>
              <a:ext uri="{FF2B5EF4-FFF2-40B4-BE49-F238E27FC236}">
                <a16:creationId xmlns:a16="http://schemas.microsoft.com/office/drawing/2014/main" xmlns="" id="{43E13EAC-98C4-4B4E-96F3-38B24D8FEE79}"/>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spTree>
    <p:extLst>
      <p:ext uri="{BB962C8B-B14F-4D97-AF65-F5344CB8AC3E}">
        <p14:creationId xmlns:p14="http://schemas.microsoft.com/office/powerpoint/2010/main" xmlns="" val="153735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48B7077F-D91F-8948-9ECB-C2D32251CE17}"/>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Footer Placeholder 4">
            <a:extLst>
              <a:ext uri="{FF2B5EF4-FFF2-40B4-BE49-F238E27FC236}">
                <a16:creationId xmlns:a16="http://schemas.microsoft.com/office/drawing/2014/main" xmlns="" id="{8A9648BA-17B9-F044-A0C4-221BF80D3D64}"/>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cxnSp>
        <p:nvCxnSpPr>
          <p:cNvPr id="19" name="Straight Connector 18">
            <a:extLst>
              <a:ext uri="{FF2B5EF4-FFF2-40B4-BE49-F238E27FC236}">
                <a16:creationId xmlns:a16="http://schemas.microsoft.com/office/drawing/2014/main" xmlns="" id="{C989E7DF-FE1D-084F-88EA-E9633041F143}"/>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xmlns="" id="{BEC8765E-7826-1748-8472-ADB34D09F795}"/>
              </a:ext>
            </a:extLst>
          </p:cNvPr>
          <p:cNvSpPr>
            <a:spLocks noGrp="1"/>
          </p:cNvSpPr>
          <p:nvPr>
            <p:ph sz="quarter" idx="17"/>
          </p:nvPr>
        </p:nvSpPr>
        <p:spPr>
          <a:xfrm>
            <a:off x="432001" y="1260001"/>
            <a:ext cx="3600450" cy="493348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Content Placeholder 10">
            <a:extLst>
              <a:ext uri="{FF2B5EF4-FFF2-40B4-BE49-F238E27FC236}">
                <a16:creationId xmlns:a16="http://schemas.microsoft.com/office/drawing/2014/main" xmlns="" id="{0219AE79-442B-B24C-BB69-50651E6FEAA4}"/>
              </a:ext>
            </a:extLst>
          </p:cNvPr>
          <p:cNvSpPr>
            <a:spLocks noGrp="1"/>
          </p:cNvSpPr>
          <p:nvPr>
            <p:ph sz="quarter" idx="18"/>
          </p:nvPr>
        </p:nvSpPr>
        <p:spPr>
          <a:xfrm>
            <a:off x="4291201" y="1260000"/>
            <a:ext cx="3600450" cy="4933482"/>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10">
            <a:extLst>
              <a:ext uri="{FF2B5EF4-FFF2-40B4-BE49-F238E27FC236}">
                <a16:creationId xmlns:a16="http://schemas.microsoft.com/office/drawing/2014/main" xmlns="" id="{1F34AE87-A884-3F46-BDEF-93AEDE5E01EE}"/>
              </a:ext>
            </a:extLst>
          </p:cNvPr>
          <p:cNvSpPr>
            <a:spLocks noGrp="1"/>
          </p:cNvSpPr>
          <p:nvPr>
            <p:ph sz="quarter" idx="19"/>
          </p:nvPr>
        </p:nvSpPr>
        <p:spPr>
          <a:xfrm>
            <a:off x="8161201" y="1260000"/>
            <a:ext cx="3600450" cy="493200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Slide Number Placeholder 5">
            <a:extLst>
              <a:ext uri="{FF2B5EF4-FFF2-40B4-BE49-F238E27FC236}">
                <a16:creationId xmlns:a16="http://schemas.microsoft.com/office/drawing/2014/main" xmlns="" id="{0506BC29-BD72-7743-A224-634C5037F0FA}"/>
              </a:ext>
            </a:extLst>
          </p:cNvPr>
          <p:cNvSpPr>
            <a:spLocks noGrp="1"/>
          </p:cNvSpPr>
          <p:nvPr>
            <p:ph type="sldNum" sz="quarter" idx="20"/>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4" name="Graphic 13">
            <a:extLst>
              <a:ext uri="{FF2B5EF4-FFF2-40B4-BE49-F238E27FC236}">
                <a16:creationId xmlns:a16="http://schemas.microsoft.com/office/drawing/2014/main" xmlns="" id="{A4A47060-EA29-F348-A3B2-F42CB7DA5B9B}"/>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3863128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and Multiple Photo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7ADA8D41-0A96-924B-A078-EB59844464EE}"/>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Footer Placeholder 4">
            <a:extLst>
              <a:ext uri="{FF2B5EF4-FFF2-40B4-BE49-F238E27FC236}">
                <a16:creationId xmlns:a16="http://schemas.microsoft.com/office/drawing/2014/main" xmlns="" id="{E30A32ED-8133-404E-93CA-5E3A2A31A398}"/>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cxnSp>
        <p:nvCxnSpPr>
          <p:cNvPr id="23" name="Straight Connector 22">
            <a:extLst>
              <a:ext uri="{FF2B5EF4-FFF2-40B4-BE49-F238E27FC236}">
                <a16:creationId xmlns:a16="http://schemas.microsoft.com/office/drawing/2014/main" xmlns="" id="{9B6D721C-D7FD-584E-A033-B11008ABFC7C}"/>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Picture Placeholder 3">
            <a:extLst>
              <a:ext uri="{FF2B5EF4-FFF2-40B4-BE49-F238E27FC236}">
                <a16:creationId xmlns:a16="http://schemas.microsoft.com/office/drawing/2014/main" xmlns="" id="{4CFF857B-12AB-E04C-A1F6-FC4B79FE185A}"/>
              </a:ext>
            </a:extLst>
          </p:cNvPr>
          <p:cNvSpPr>
            <a:spLocks noGrp="1"/>
          </p:cNvSpPr>
          <p:nvPr>
            <p:ph type="pic" sz="quarter" idx="12"/>
          </p:nvPr>
        </p:nvSpPr>
        <p:spPr>
          <a:xfrm>
            <a:off x="6300000" y="3816000"/>
            <a:ext cx="2628000" cy="2376000"/>
          </a:xfrm>
          <a:prstGeom prst="rect">
            <a:avLst/>
          </a:prstGeom>
        </p:spPr>
        <p:txBody>
          <a:bodyPr anchor="ctr"/>
          <a:lstStyle>
            <a:lvl1pPr marL="0" indent="0" algn="ctr">
              <a:buNone/>
              <a:defRPr>
                <a:solidFill>
                  <a:schemeClr val="bg2"/>
                </a:solidFill>
              </a:defRPr>
            </a:lvl1pPr>
          </a:lstStyle>
          <a:p>
            <a:r>
              <a:rPr lang="en-US"/>
              <a:t>Click icon to add picture</a:t>
            </a:r>
            <a:endParaRPr lang="en-GB" dirty="0"/>
          </a:p>
        </p:txBody>
      </p:sp>
      <p:sp>
        <p:nvSpPr>
          <p:cNvPr id="13" name="Picture Placeholder 3">
            <a:extLst>
              <a:ext uri="{FF2B5EF4-FFF2-40B4-BE49-F238E27FC236}">
                <a16:creationId xmlns:a16="http://schemas.microsoft.com/office/drawing/2014/main" xmlns="" id="{4FAE989E-25E7-1149-9293-241B09C5CA76}"/>
              </a:ext>
            </a:extLst>
          </p:cNvPr>
          <p:cNvSpPr>
            <a:spLocks noGrp="1"/>
          </p:cNvSpPr>
          <p:nvPr>
            <p:ph type="pic" sz="quarter" idx="20"/>
          </p:nvPr>
        </p:nvSpPr>
        <p:spPr>
          <a:xfrm>
            <a:off x="6300000" y="1260000"/>
            <a:ext cx="2628000" cy="2376000"/>
          </a:xfrm>
          <a:prstGeom prst="rect">
            <a:avLst/>
          </a:prstGeom>
        </p:spPr>
        <p:txBody>
          <a:bodyPr anchor="ctr"/>
          <a:lstStyle>
            <a:lvl1pPr marL="0" indent="0" algn="ctr">
              <a:buNone/>
              <a:defRPr>
                <a:solidFill>
                  <a:schemeClr val="bg2"/>
                </a:solidFill>
              </a:defRPr>
            </a:lvl1pPr>
          </a:lstStyle>
          <a:p>
            <a:r>
              <a:rPr lang="en-US"/>
              <a:t>Click icon to add picture</a:t>
            </a:r>
            <a:endParaRPr lang="en-GB" dirty="0"/>
          </a:p>
        </p:txBody>
      </p:sp>
      <p:sp>
        <p:nvSpPr>
          <p:cNvPr id="21" name="Picture Placeholder 3">
            <a:extLst>
              <a:ext uri="{FF2B5EF4-FFF2-40B4-BE49-F238E27FC236}">
                <a16:creationId xmlns:a16="http://schemas.microsoft.com/office/drawing/2014/main" xmlns="" id="{60E16E0C-FDEC-6A4D-8D90-1A65F10ABDB8}"/>
              </a:ext>
            </a:extLst>
          </p:cNvPr>
          <p:cNvSpPr>
            <a:spLocks noGrp="1"/>
          </p:cNvSpPr>
          <p:nvPr>
            <p:ph type="pic" sz="quarter" idx="21"/>
          </p:nvPr>
        </p:nvSpPr>
        <p:spPr>
          <a:xfrm>
            <a:off x="9120336" y="3816000"/>
            <a:ext cx="2628000" cy="2376000"/>
          </a:xfrm>
          <a:prstGeom prst="rect">
            <a:avLst/>
          </a:prstGeom>
        </p:spPr>
        <p:txBody>
          <a:bodyPr anchor="ctr"/>
          <a:lstStyle>
            <a:lvl1pPr marL="0" indent="0" algn="ctr">
              <a:buNone/>
              <a:defRPr>
                <a:solidFill>
                  <a:schemeClr val="bg2"/>
                </a:solidFill>
              </a:defRPr>
            </a:lvl1pPr>
          </a:lstStyle>
          <a:p>
            <a:r>
              <a:rPr lang="en-US"/>
              <a:t>Click icon to add picture</a:t>
            </a:r>
            <a:endParaRPr lang="en-GB" dirty="0"/>
          </a:p>
        </p:txBody>
      </p:sp>
      <p:sp>
        <p:nvSpPr>
          <p:cNvPr id="24" name="Picture Placeholder 3">
            <a:extLst>
              <a:ext uri="{FF2B5EF4-FFF2-40B4-BE49-F238E27FC236}">
                <a16:creationId xmlns:a16="http://schemas.microsoft.com/office/drawing/2014/main" xmlns="" id="{66363F88-7A49-D942-A043-8CF8DF2E24C3}"/>
              </a:ext>
            </a:extLst>
          </p:cNvPr>
          <p:cNvSpPr>
            <a:spLocks noGrp="1"/>
          </p:cNvSpPr>
          <p:nvPr>
            <p:ph type="pic" sz="quarter" idx="22"/>
          </p:nvPr>
        </p:nvSpPr>
        <p:spPr>
          <a:xfrm>
            <a:off x="9120336" y="1260000"/>
            <a:ext cx="2628000" cy="2376000"/>
          </a:xfrm>
          <a:prstGeom prst="rect">
            <a:avLst/>
          </a:prstGeom>
        </p:spPr>
        <p:txBody>
          <a:bodyPr anchor="ctr"/>
          <a:lstStyle>
            <a:lvl1pPr marL="0" indent="0" algn="ctr">
              <a:buNone/>
              <a:defRPr>
                <a:solidFill>
                  <a:schemeClr val="bg2"/>
                </a:solidFill>
              </a:defRPr>
            </a:lvl1pPr>
          </a:lstStyle>
          <a:p>
            <a:r>
              <a:rPr lang="en-US"/>
              <a:t>Click icon to add picture</a:t>
            </a:r>
            <a:endParaRPr lang="en-GB" dirty="0"/>
          </a:p>
        </p:txBody>
      </p:sp>
      <p:sp>
        <p:nvSpPr>
          <p:cNvPr id="25" name="Text Placeholder 8">
            <a:extLst>
              <a:ext uri="{FF2B5EF4-FFF2-40B4-BE49-F238E27FC236}">
                <a16:creationId xmlns:a16="http://schemas.microsoft.com/office/drawing/2014/main" xmlns="" id="{440009B8-931B-F54E-BA1E-D9C16B4E45EA}"/>
              </a:ext>
            </a:extLst>
          </p:cNvPr>
          <p:cNvSpPr>
            <a:spLocks noGrp="1"/>
          </p:cNvSpPr>
          <p:nvPr>
            <p:ph type="body" sz="quarter" idx="14"/>
          </p:nvPr>
        </p:nvSpPr>
        <p:spPr>
          <a:xfrm>
            <a:off x="426268" y="1276711"/>
            <a:ext cx="5669733" cy="4925306"/>
          </a:xfrm>
          <a:solidFill>
            <a:schemeClr val="bg2"/>
          </a:solidFill>
        </p:spPr>
        <p:txBody>
          <a:bodyPr lIns="144000" tIns="144000" rIns="144000" bIns="144000" anchor="t" anchorCtr="0"/>
          <a:lstStyle>
            <a:lvl1pPr algn="l">
              <a:defRPr>
                <a:solidFill>
                  <a:schemeClr val="tx2"/>
                </a:solidFill>
              </a:defRPr>
            </a:lvl1pPr>
            <a:lvl2pPr algn="l">
              <a:defRPr>
                <a:solidFill>
                  <a:schemeClr val="tx2"/>
                </a:solidFill>
              </a:defRPr>
            </a:lvl2pPr>
            <a:lvl3pPr algn="l">
              <a:defRPr>
                <a:solidFill>
                  <a:schemeClr val="tx2"/>
                </a:solidFill>
              </a:defRPr>
            </a:lvl3pPr>
            <a:lvl4pPr algn="l">
              <a:defRPr>
                <a:solidFill>
                  <a:schemeClr val="tx2"/>
                </a:solidFill>
              </a:defRPr>
            </a:lvl4pPr>
            <a:lvl5pPr algn="l">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6" name="Slide Number Placeholder 5">
            <a:extLst>
              <a:ext uri="{FF2B5EF4-FFF2-40B4-BE49-F238E27FC236}">
                <a16:creationId xmlns:a16="http://schemas.microsoft.com/office/drawing/2014/main" xmlns="" id="{A87EFF2F-A951-9F44-A426-FD3A0BB78147}"/>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pic>
        <p:nvPicPr>
          <p:cNvPr id="14" name="Graphic 13">
            <a:extLst>
              <a:ext uri="{FF2B5EF4-FFF2-40B4-BE49-F238E27FC236}">
                <a16:creationId xmlns:a16="http://schemas.microsoft.com/office/drawing/2014/main" xmlns="" id="{D838BB3D-9262-B64B-9517-6DE0A996FD7E}"/>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3561840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and Four Conten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7ADA8D41-0A96-924B-A078-EB59844464EE}"/>
              </a:ext>
            </a:extLst>
          </p:cNvPr>
          <p:cNvSpPr/>
          <p:nvPr/>
        </p:nvSpPr>
        <p:spPr>
          <a:xfrm>
            <a:off x="0" y="0"/>
            <a:ext cx="12192000" cy="90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Footer Placeholder 4">
            <a:extLst>
              <a:ext uri="{FF2B5EF4-FFF2-40B4-BE49-F238E27FC236}">
                <a16:creationId xmlns:a16="http://schemas.microsoft.com/office/drawing/2014/main" xmlns="" id="{E30A32ED-8133-404E-93CA-5E3A2A31A398}"/>
              </a:ext>
            </a:extLst>
          </p:cNvPr>
          <p:cNvSpPr>
            <a:spLocks noGrp="1"/>
          </p:cNvSpPr>
          <p:nvPr>
            <p:ph type="ftr" sz="quarter" idx="11"/>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sp>
        <p:nvSpPr>
          <p:cNvPr id="19" name="Slide Number Placeholder 5">
            <a:extLst>
              <a:ext uri="{FF2B5EF4-FFF2-40B4-BE49-F238E27FC236}">
                <a16:creationId xmlns:a16="http://schemas.microsoft.com/office/drawing/2014/main" xmlns="" id="{D9C27669-02C0-A244-8A78-68E60250A1E3}"/>
              </a:ext>
            </a:extLst>
          </p:cNvPr>
          <p:cNvSpPr>
            <a:spLocks noGrp="1"/>
          </p:cNvSpPr>
          <p:nvPr>
            <p:ph type="sldNum" sz="quarter" idx="19"/>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cxnSp>
        <p:nvCxnSpPr>
          <p:cNvPr id="23" name="Straight Connector 22">
            <a:extLst>
              <a:ext uri="{FF2B5EF4-FFF2-40B4-BE49-F238E27FC236}">
                <a16:creationId xmlns:a16="http://schemas.microsoft.com/office/drawing/2014/main" xmlns="" id="{9B6D721C-D7FD-584E-A033-B11008ABFC7C}"/>
              </a:ext>
            </a:extLst>
          </p:cNvPr>
          <p:cNvCxnSpPr/>
          <p:nvPr/>
        </p:nvCxnSpPr>
        <p:spPr>
          <a:xfrm>
            <a:off x="0" y="6372000"/>
            <a:ext cx="1219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xmlns="" id="{6E640A40-E5B5-A844-8D30-DAF4B761227C}"/>
              </a:ext>
            </a:extLst>
          </p:cNvPr>
          <p:cNvSpPr>
            <a:spLocks noGrp="1"/>
          </p:cNvSpPr>
          <p:nvPr>
            <p:ph sz="quarter" idx="25" hasCustomPrompt="1"/>
          </p:nvPr>
        </p:nvSpPr>
        <p:spPr>
          <a:xfrm>
            <a:off x="432000" y="1258888"/>
            <a:ext cx="2664000" cy="2386012"/>
          </a:xfrm>
          <a:solidFill>
            <a:srgbClr val="F4E4DD"/>
          </a:solidFill>
        </p:spPr>
        <p:txBody>
          <a:bodyPr lIns="72000" tIns="72000" rIns="72000" bIns="72000"/>
          <a:lstStyle>
            <a:lvl1pPr>
              <a:defRPr sz="1500"/>
            </a:lvl1pPr>
          </a:lstStyle>
          <a:p>
            <a:pPr lvl="0"/>
            <a:r>
              <a:rPr lang="en-GB" dirty="0"/>
              <a:t>Add content</a:t>
            </a:r>
          </a:p>
        </p:txBody>
      </p:sp>
      <p:sp>
        <p:nvSpPr>
          <p:cNvPr id="16" name="Content Placeholder 2">
            <a:extLst>
              <a:ext uri="{FF2B5EF4-FFF2-40B4-BE49-F238E27FC236}">
                <a16:creationId xmlns:a16="http://schemas.microsoft.com/office/drawing/2014/main" xmlns="" id="{02497FDA-F163-5541-BB4B-36A8695804A4}"/>
              </a:ext>
            </a:extLst>
          </p:cNvPr>
          <p:cNvSpPr>
            <a:spLocks noGrp="1"/>
          </p:cNvSpPr>
          <p:nvPr>
            <p:ph sz="quarter" idx="26" hasCustomPrompt="1"/>
          </p:nvPr>
        </p:nvSpPr>
        <p:spPr>
          <a:xfrm>
            <a:off x="9118800" y="1258888"/>
            <a:ext cx="2664000" cy="2386012"/>
          </a:xfrm>
          <a:solidFill>
            <a:srgbClr val="E3E1E0"/>
          </a:solidFill>
        </p:spPr>
        <p:txBody>
          <a:bodyPr lIns="72000" tIns="72000" rIns="72000" bIns="72000"/>
          <a:lstStyle>
            <a:lvl1pPr>
              <a:defRPr sz="1500"/>
            </a:lvl1pPr>
          </a:lstStyle>
          <a:p>
            <a:pPr lvl="0"/>
            <a:r>
              <a:rPr lang="en-GB" dirty="0"/>
              <a:t>Add content</a:t>
            </a:r>
          </a:p>
        </p:txBody>
      </p:sp>
      <p:sp>
        <p:nvSpPr>
          <p:cNvPr id="20" name="Content Placeholder 2">
            <a:extLst>
              <a:ext uri="{FF2B5EF4-FFF2-40B4-BE49-F238E27FC236}">
                <a16:creationId xmlns:a16="http://schemas.microsoft.com/office/drawing/2014/main" xmlns="" id="{00753C3B-1A30-6540-BB7B-E7C488D79035}"/>
              </a:ext>
            </a:extLst>
          </p:cNvPr>
          <p:cNvSpPr>
            <a:spLocks noGrp="1"/>
          </p:cNvSpPr>
          <p:nvPr>
            <p:ph sz="quarter" idx="27" hasCustomPrompt="1"/>
          </p:nvPr>
        </p:nvSpPr>
        <p:spPr>
          <a:xfrm>
            <a:off x="3327600" y="1258888"/>
            <a:ext cx="2664000" cy="2386012"/>
          </a:xfrm>
          <a:solidFill>
            <a:srgbClr val="E0E7D0"/>
          </a:solidFill>
        </p:spPr>
        <p:txBody>
          <a:bodyPr lIns="72000" tIns="72000" rIns="72000" bIns="72000"/>
          <a:lstStyle>
            <a:lvl1pPr>
              <a:defRPr sz="1500"/>
            </a:lvl1pPr>
          </a:lstStyle>
          <a:p>
            <a:pPr lvl="0"/>
            <a:r>
              <a:rPr lang="en-GB" dirty="0"/>
              <a:t>Add content</a:t>
            </a:r>
          </a:p>
        </p:txBody>
      </p:sp>
      <p:sp>
        <p:nvSpPr>
          <p:cNvPr id="26" name="Content Placeholder 2">
            <a:extLst>
              <a:ext uri="{FF2B5EF4-FFF2-40B4-BE49-F238E27FC236}">
                <a16:creationId xmlns:a16="http://schemas.microsoft.com/office/drawing/2014/main" xmlns="" id="{C2B6887E-02B4-224F-9032-803169527750}"/>
              </a:ext>
            </a:extLst>
          </p:cNvPr>
          <p:cNvSpPr>
            <a:spLocks noGrp="1"/>
          </p:cNvSpPr>
          <p:nvPr>
            <p:ph sz="quarter" idx="28" hasCustomPrompt="1"/>
          </p:nvPr>
        </p:nvSpPr>
        <p:spPr>
          <a:xfrm>
            <a:off x="6223200" y="1258888"/>
            <a:ext cx="2664000" cy="2386012"/>
          </a:xfrm>
          <a:solidFill>
            <a:srgbClr val="F2EEDA"/>
          </a:solidFill>
        </p:spPr>
        <p:txBody>
          <a:bodyPr lIns="72000" tIns="72000" rIns="72000" bIns="72000"/>
          <a:lstStyle>
            <a:lvl1pPr>
              <a:defRPr sz="1500"/>
            </a:lvl1pPr>
          </a:lstStyle>
          <a:p>
            <a:pPr lvl="0"/>
            <a:r>
              <a:rPr lang="en-GB" dirty="0"/>
              <a:t>Add content</a:t>
            </a:r>
          </a:p>
        </p:txBody>
      </p:sp>
      <p:sp>
        <p:nvSpPr>
          <p:cNvPr id="5" name="Text Placeholder 4">
            <a:extLst>
              <a:ext uri="{FF2B5EF4-FFF2-40B4-BE49-F238E27FC236}">
                <a16:creationId xmlns:a16="http://schemas.microsoft.com/office/drawing/2014/main" xmlns="" id="{92A016F4-463D-1F43-990B-3AC3A7FFFAA5}"/>
              </a:ext>
            </a:extLst>
          </p:cNvPr>
          <p:cNvSpPr>
            <a:spLocks noGrp="1"/>
          </p:cNvSpPr>
          <p:nvPr>
            <p:ph type="body" sz="quarter" idx="30"/>
          </p:nvPr>
        </p:nvSpPr>
        <p:spPr>
          <a:xfrm>
            <a:off x="432001" y="3852000"/>
            <a:ext cx="5567362" cy="23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4">
            <a:extLst>
              <a:ext uri="{FF2B5EF4-FFF2-40B4-BE49-F238E27FC236}">
                <a16:creationId xmlns:a16="http://schemas.microsoft.com/office/drawing/2014/main" xmlns="" id="{88C5B731-B650-C241-9628-1D8A5E77C5FD}"/>
              </a:ext>
            </a:extLst>
          </p:cNvPr>
          <p:cNvSpPr>
            <a:spLocks noGrp="1"/>
          </p:cNvSpPr>
          <p:nvPr>
            <p:ph type="body" sz="quarter" idx="31"/>
          </p:nvPr>
        </p:nvSpPr>
        <p:spPr>
          <a:xfrm>
            <a:off x="6240017" y="3852000"/>
            <a:ext cx="5567362" cy="23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3" name="Graphic 12">
            <a:extLst>
              <a:ext uri="{FF2B5EF4-FFF2-40B4-BE49-F238E27FC236}">
                <a16:creationId xmlns:a16="http://schemas.microsoft.com/office/drawing/2014/main" xmlns="" id="{7911147A-5087-BD46-A32A-3953BD0C9E0A}"/>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154352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 Light Logo">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xmlns="" id="{D081DD78-DE67-F04F-A476-A154F14C80EF}"/>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26748512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 Dark Logo">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xmlns="" id="{308BD56D-C3E7-2944-BB80-5620F5AF6469}"/>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404496" y="228165"/>
            <a:ext cx="1932306" cy="447229"/>
          </a:xfrm>
          <a:prstGeom prst="rect">
            <a:avLst/>
          </a:prstGeom>
        </p:spPr>
      </p:pic>
    </p:spTree>
    <p:extLst>
      <p:ext uri="{BB962C8B-B14F-4D97-AF65-F5344CB8AC3E}">
        <p14:creationId xmlns:p14="http://schemas.microsoft.com/office/powerpoint/2010/main" xmlns="" val="4077322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0D10DCF-8A94-4D7A-AE4E-7D82662D3789}" type="datetime1">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1886345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9EFEA0-710B-4AAA-AFF0-A30DCA16163B}" type="datetime1">
              <a:rPr lang="en-IN" smtClean="0"/>
              <a:t>18-03-2026</a:t>
            </a:fld>
            <a:endParaRPr lang="en-IN"/>
          </a:p>
        </p:txBody>
      </p:sp>
      <p:sp>
        <p:nvSpPr>
          <p:cNvPr id="6" name="Slide Number Placeholder 5"/>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2972619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ED9C08-7C1A-4804-B67D-384B66748FC8}" type="datetime1">
              <a:rPr lang="en-IN" smtClean="0"/>
              <a:t>18-03-2026</a:t>
            </a:fld>
            <a:endParaRPr lang="en-IN"/>
          </a:p>
        </p:txBody>
      </p:sp>
      <p:sp>
        <p:nvSpPr>
          <p:cNvPr id="6" name="Slide Number Placeholder 5"/>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3949280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0593AE9-79EE-4AC8-A81E-FA317E4A6760}" type="datetime1">
              <a:rPr lang="en-IN" smtClean="0"/>
              <a:t>18-03-2026</a:t>
            </a:fld>
            <a:endParaRPr lang="en-IN"/>
          </a:p>
        </p:txBody>
      </p:sp>
      <p:sp>
        <p:nvSpPr>
          <p:cNvPr id="9" name="Slide Number Placeholder 8"/>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64420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CDF341-F9AA-4139-8D18-1A834E2E2F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845A625-DE15-4459-A8C6-18238EE8D4D9}"/>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5139C4DD-69D8-4E3A-AB9E-F616D4651552}"/>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DA654C72-B8C1-43A2-B0C7-FC9ECCF4FF4B}"/>
              </a:ext>
            </a:extLst>
          </p:cNvPr>
          <p:cNvSpPr>
            <a:spLocks noGrp="1"/>
          </p:cNvSpPr>
          <p:nvPr>
            <p:ph type="dt" sz="half" idx="10"/>
          </p:nvPr>
        </p:nvSpPr>
        <p:spPr/>
        <p:txBody>
          <a:bodyPr/>
          <a:lstStyle/>
          <a:p>
            <a:fld id="{EDE2E0EA-6D9D-4132-AAA2-46D91314188A}" type="datetime1">
              <a:rPr lang="en-IN" smtClean="0"/>
              <a:t>18-03-2026</a:t>
            </a:fld>
            <a:endParaRPr lang="en-IN"/>
          </a:p>
        </p:txBody>
      </p:sp>
      <p:sp>
        <p:nvSpPr>
          <p:cNvPr id="7" name="Slide Number Placeholder 6">
            <a:extLst>
              <a:ext uri="{FF2B5EF4-FFF2-40B4-BE49-F238E27FC236}">
                <a16:creationId xmlns:a16="http://schemas.microsoft.com/office/drawing/2014/main" xmlns="" id="{9F1441D4-3C2E-4149-8DCC-1E58D475730E}"/>
              </a:ext>
            </a:extLst>
          </p:cNvPr>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2351250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DB20005-5F20-4D3C-980F-F94DB84ADCBE}"/>
              </a:ext>
            </a:extLst>
          </p:cNvPr>
          <p:cNvSpPr>
            <a:spLocks noGrp="1"/>
          </p:cNvSpPr>
          <p:nvPr>
            <p:ph type="dt" sz="half" idx="10"/>
          </p:nvPr>
        </p:nvSpPr>
        <p:spPr/>
        <p:txBody>
          <a:bodyPr/>
          <a:lstStyle/>
          <a:p>
            <a:fld id="{8CC1055A-65B1-438F-AC47-E6436B57565C}" type="datetime1">
              <a:rPr lang="en-IN" smtClean="0"/>
              <a:t>18-03-2026</a:t>
            </a:fld>
            <a:endParaRPr lang="en-IN"/>
          </a:p>
        </p:txBody>
      </p:sp>
      <p:sp>
        <p:nvSpPr>
          <p:cNvPr id="4" name="Slide Number Placeholder 3">
            <a:extLst>
              <a:ext uri="{FF2B5EF4-FFF2-40B4-BE49-F238E27FC236}">
                <a16:creationId xmlns:a16="http://schemas.microsoft.com/office/drawing/2014/main" xmlns="" id="{44C08EA1-3CFC-411A-A227-9232182114FB}"/>
              </a:ext>
            </a:extLst>
          </p:cNvPr>
          <p:cNvSpPr>
            <a:spLocks noGrp="1"/>
          </p:cNvSpPr>
          <p:nvPr>
            <p:ph type="sldNum" sz="quarter" idx="12"/>
          </p:nvPr>
        </p:nvSpPr>
        <p:spPr/>
        <p:txBody>
          <a:body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190990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478353D-46A7-2448-89A2-82D8D5FD32C9}"/>
              </a:ext>
            </a:extLst>
          </p:cNvPr>
          <p:cNvSpPr>
            <a:spLocks noGrp="1"/>
          </p:cNvSpPr>
          <p:nvPr>
            <p:ph type="title"/>
          </p:nvPr>
        </p:nvSpPr>
        <p:spPr>
          <a:xfrm>
            <a:off x="432000" y="432000"/>
            <a:ext cx="11232000" cy="7200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xmlns="" id="{4F85E140-9D5F-0646-BC1E-1FBC73E967D8}"/>
              </a:ext>
            </a:extLst>
          </p:cNvPr>
          <p:cNvSpPr>
            <a:spLocks noGrp="1"/>
          </p:cNvSpPr>
          <p:nvPr>
            <p:ph type="body" idx="1"/>
          </p:nvPr>
        </p:nvSpPr>
        <p:spPr>
          <a:xfrm>
            <a:off x="432001" y="1825625"/>
            <a:ext cx="1139400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Footer Placeholder 4">
            <a:extLst>
              <a:ext uri="{FF2B5EF4-FFF2-40B4-BE49-F238E27FC236}">
                <a16:creationId xmlns:a16="http://schemas.microsoft.com/office/drawing/2014/main" xmlns="" id="{88502E10-5E11-A544-894B-482862B46DF6}"/>
              </a:ext>
            </a:extLst>
          </p:cNvPr>
          <p:cNvSpPr>
            <a:spLocks noGrp="1"/>
          </p:cNvSpPr>
          <p:nvPr>
            <p:ph type="ftr" sz="quarter" idx="3"/>
          </p:nvPr>
        </p:nvSpPr>
        <p:spPr>
          <a:xfrm>
            <a:off x="432000" y="6516000"/>
            <a:ext cx="4704000" cy="216000"/>
          </a:xfrm>
          <a:prstGeom prst="rect">
            <a:avLst/>
          </a:prstGeom>
        </p:spPr>
        <p:txBody>
          <a:bodyPr lIns="0" tIns="0" rIns="0" bIns="0" anchor="t" anchorCtr="0"/>
          <a:lstStyle>
            <a:lvl1pPr algn="l">
              <a:defRPr sz="1100" b="0" i="0" cap="none" spc="0" baseline="0">
                <a:solidFill>
                  <a:schemeClr val="tx2"/>
                </a:solidFill>
                <a:latin typeface="+mn-lt"/>
                <a:ea typeface="Open Sans" panose="020B0606030504020204" pitchFamily="34" charset="0"/>
                <a:cs typeface="Open Sans" panose="020B0606030504020204" pitchFamily="34" charset="0"/>
              </a:defRPr>
            </a:lvl1pPr>
          </a:lstStyle>
          <a:p>
            <a:endParaRPr lang="en-IN"/>
          </a:p>
        </p:txBody>
      </p:sp>
      <p:sp>
        <p:nvSpPr>
          <p:cNvPr id="5" name="Slide Number Placeholder 5">
            <a:extLst>
              <a:ext uri="{FF2B5EF4-FFF2-40B4-BE49-F238E27FC236}">
                <a16:creationId xmlns:a16="http://schemas.microsoft.com/office/drawing/2014/main" xmlns="" id="{8E3D3D65-06BB-1F41-B8A0-F90D4CA08387}"/>
              </a:ext>
            </a:extLst>
          </p:cNvPr>
          <p:cNvSpPr>
            <a:spLocks noGrp="1"/>
          </p:cNvSpPr>
          <p:nvPr>
            <p:ph type="sldNum" sz="quarter" idx="4"/>
          </p:nvPr>
        </p:nvSpPr>
        <p:spPr>
          <a:xfrm>
            <a:off x="11304000" y="6516000"/>
            <a:ext cx="480000" cy="180000"/>
          </a:xfrm>
          <a:prstGeom prst="rect">
            <a:avLst/>
          </a:prstGeom>
        </p:spPr>
        <p:txBody>
          <a:bodyPr lIns="0" tIns="0" rIns="0" bIns="0" anchor="t" anchorCtr="0"/>
          <a:lstStyle>
            <a:lvl1pPr algn="r">
              <a:defRPr sz="1100">
                <a:solidFill>
                  <a:schemeClr val="tx1"/>
                </a:solidFill>
              </a:defRPr>
            </a:lvl1pPr>
          </a:lstStyle>
          <a:p>
            <a:fld id="{2D7B3FB0-1511-4BF4-9288-455FC303C7FD}" type="slidenum">
              <a:rPr lang="en-IN" smtClean="0"/>
              <a:pPr/>
              <a:t>‹#›</a:t>
            </a:fld>
            <a:endParaRPr lang="en-IN"/>
          </a:p>
        </p:txBody>
      </p:sp>
    </p:spTree>
    <p:extLst>
      <p:ext uri="{BB962C8B-B14F-4D97-AF65-F5344CB8AC3E}">
        <p14:creationId xmlns:p14="http://schemas.microsoft.com/office/powerpoint/2010/main" xmlns="" val="15401797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914400" rtl="0" eaLnBrk="1" latinLnBrk="0" hangingPunct="1">
        <a:lnSpc>
          <a:spcPct val="90000"/>
        </a:lnSpc>
        <a:spcBef>
          <a:spcPct val="0"/>
        </a:spcBef>
        <a:buNone/>
        <a:defRPr sz="3000" kern="1200">
          <a:solidFill>
            <a:schemeClr val="tx2"/>
          </a:solidFill>
          <a:latin typeface="+mj-lt"/>
          <a:ea typeface="+mj-ea"/>
          <a:cs typeface="+mj-cs"/>
        </a:defRPr>
      </a:lvl1pPr>
    </p:titleStyle>
    <p:bodyStyle>
      <a:lvl1pPr marL="0" indent="0" algn="l" defTabSz="126000" rtl="0" eaLnBrk="1" latinLnBrk="0" hangingPunct="1">
        <a:lnSpc>
          <a:spcPct val="105000"/>
        </a:lnSpc>
        <a:spcBef>
          <a:spcPts val="0"/>
        </a:spcBef>
        <a:buFont typeface="Arial" panose="020B0604020202020204" pitchFamily="34" charset="0"/>
        <a:buNone/>
        <a:tabLst/>
        <a:defRPr sz="1600" kern="1200">
          <a:solidFill>
            <a:schemeClr val="tx2"/>
          </a:solidFill>
          <a:latin typeface="+mn-lt"/>
          <a:ea typeface="+mn-ea"/>
          <a:cs typeface="+mn-cs"/>
        </a:defRPr>
      </a:lvl1pPr>
      <a:lvl2pPr marL="0" indent="0" algn="l" defTabSz="126000" rtl="0" eaLnBrk="1" latinLnBrk="0" hangingPunct="1">
        <a:lnSpc>
          <a:spcPct val="105000"/>
        </a:lnSpc>
        <a:spcBef>
          <a:spcPts val="0"/>
        </a:spcBef>
        <a:buFont typeface="Arial" panose="020B0604020202020204" pitchFamily="34" charset="0"/>
        <a:buNone/>
        <a:tabLst>
          <a:tab pos="126000" algn="l"/>
        </a:tabLst>
        <a:defRPr sz="1200" kern="1200">
          <a:solidFill>
            <a:schemeClr val="tx2"/>
          </a:solidFill>
          <a:latin typeface="+mn-lt"/>
          <a:ea typeface="+mn-ea"/>
          <a:cs typeface="+mn-cs"/>
        </a:defRPr>
      </a:lvl2pPr>
      <a:lvl3pPr marL="126000" indent="-126000" algn="l" defTabSz="126000" rtl="0" eaLnBrk="1" latinLnBrk="0" hangingPunct="1">
        <a:lnSpc>
          <a:spcPct val="105000"/>
        </a:lnSpc>
        <a:spcBef>
          <a:spcPts val="0"/>
        </a:spcBef>
        <a:buFont typeface="System Font Regular"/>
        <a:buChar char="–"/>
        <a:tabLst>
          <a:tab pos="126000" algn="l"/>
        </a:tabLst>
        <a:defRPr sz="1200" kern="1200">
          <a:solidFill>
            <a:schemeClr val="tx2"/>
          </a:solidFill>
          <a:latin typeface="+mn-lt"/>
          <a:ea typeface="+mn-ea"/>
          <a:cs typeface="+mn-cs"/>
        </a:defRPr>
      </a:lvl3pPr>
      <a:lvl4pPr marL="288000" indent="-144000" algn="l" defTabSz="126000" rtl="0" eaLnBrk="1" latinLnBrk="0" hangingPunct="1">
        <a:lnSpc>
          <a:spcPct val="105000"/>
        </a:lnSpc>
        <a:spcBef>
          <a:spcPts val="0"/>
        </a:spcBef>
        <a:spcAft>
          <a:spcPts val="0"/>
        </a:spcAft>
        <a:buFont typeface="Arial" panose="020B0604020202020204" pitchFamily="34" charset="0"/>
        <a:buChar char="•"/>
        <a:tabLst/>
        <a:defRPr sz="1200" kern="1200">
          <a:solidFill>
            <a:schemeClr val="tx2"/>
          </a:solidFill>
          <a:latin typeface="+mn-lt"/>
          <a:ea typeface="+mn-ea"/>
          <a:cs typeface="+mn-cs"/>
        </a:defRPr>
      </a:lvl4pPr>
      <a:lvl5pPr marL="0" indent="0" algn="l" defTabSz="126000" rtl="0" eaLnBrk="1" latinLnBrk="0" hangingPunct="1">
        <a:lnSpc>
          <a:spcPct val="105000"/>
        </a:lnSpc>
        <a:spcBef>
          <a:spcPts val="800"/>
        </a:spcBef>
        <a:spcAft>
          <a:spcPts val="800"/>
        </a:spcAft>
        <a:buFont typeface="Arial" panose="020B0604020202020204" pitchFamily="34" charset="0"/>
        <a:buNone/>
        <a:tabLst>
          <a:tab pos="126000" algn="l"/>
        </a:tabLst>
        <a:defRPr sz="1600" kern="1200">
          <a:solidFill>
            <a:schemeClr val="tx2"/>
          </a:solidFill>
          <a:latin typeface="+mn-lt"/>
          <a:ea typeface="+mn-ea"/>
          <a:cs typeface="+mn-cs"/>
        </a:defRPr>
      </a:lvl5pPr>
      <a:lvl6pPr marL="216000" indent="-216000" algn="l" defTabSz="126000" rtl="0" eaLnBrk="1" latinLnBrk="0" hangingPunct="1">
        <a:lnSpc>
          <a:spcPct val="105000"/>
        </a:lnSpc>
        <a:spcBef>
          <a:spcPts val="0"/>
        </a:spcBef>
        <a:spcAft>
          <a:spcPts val="600"/>
        </a:spcAft>
        <a:buFont typeface="+mj-lt"/>
        <a:buAutoNum type="arabicPeriod"/>
        <a:tabLst>
          <a:tab pos="126000" algn="l"/>
        </a:tabLst>
        <a:defRPr sz="1200" kern="1200">
          <a:solidFill>
            <a:schemeClr val="tx2"/>
          </a:solidFill>
          <a:latin typeface="+mn-lt"/>
          <a:ea typeface="+mn-ea"/>
          <a:cs typeface="+mn-cs"/>
        </a:defRPr>
      </a:lvl6pPr>
      <a:lvl7pPr marL="216000" indent="-216000" algn="l" defTabSz="126000" rtl="0" eaLnBrk="1" latinLnBrk="0" hangingPunct="1">
        <a:lnSpc>
          <a:spcPct val="105000"/>
        </a:lnSpc>
        <a:spcBef>
          <a:spcPts val="0"/>
        </a:spcBef>
        <a:spcAft>
          <a:spcPts val="800"/>
        </a:spcAft>
        <a:buFont typeface="Arial" panose="020B0604020202020204" pitchFamily="34" charset="0"/>
        <a:buChar char="•"/>
        <a:tabLst>
          <a:tab pos="126000" algn="l"/>
        </a:tabLst>
        <a:defRPr sz="1600" kern="1200">
          <a:solidFill>
            <a:schemeClr val="tx2"/>
          </a:solidFill>
          <a:latin typeface="+mn-lt"/>
          <a:ea typeface="+mn-ea"/>
          <a:cs typeface="+mn-cs"/>
        </a:defRPr>
      </a:lvl7pPr>
      <a:lvl8pPr marL="0" indent="0" algn="l" defTabSz="126000" rtl="0" eaLnBrk="1" latinLnBrk="0" hangingPunct="1">
        <a:lnSpc>
          <a:spcPct val="105000"/>
        </a:lnSpc>
        <a:spcBef>
          <a:spcPts val="0"/>
        </a:spcBef>
        <a:buFont typeface="Arial" panose="020B0604020202020204" pitchFamily="34" charset="0"/>
        <a:buNone/>
        <a:tabLst>
          <a:tab pos="126000" algn="l"/>
        </a:tabLst>
        <a:defRPr sz="1600" kern="1200">
          <a:solidFill>
            <a:schemeClr val="tx2"/>
          </a:solidFill>
          <a:latin typeface="+mn-lt"/>
          <a:ea typeface="+mn-ea"/>
          <a:cs typeface="+mn-cs"/>
        </a:defRPr>
      </a:lvl8pPr>
      <a:lvl9pPr marL="0" indent="0" algn="l" defTabSz="126000" rtl="0" eaLnBrk="1" latinLnBrk="0" hangingPunct="1">
        <a:lnSpc>
          <a:spcPct val="105000"/>
        </a:lnSpc>
        <a:spcBef>
          <a:spcPts val="0"/>
        </a:spcBef>
        <a:buFont typeface="Arial" panose="020B0604020202020204" pitchFamily="34" charset="0"/>
        <a:buNone/>
        <a:tabLst>
          <a:tab pos="126000" algn="l"/>
        </a:tabLst>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0.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0.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3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7.xml"/><Relationship Id="rId5" Type="http://schemas.openxmlformats.org/officeDocument/2006/relationships/image" Target="../media/image67.png"/><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1.xml"/><Relationship Id="rId4" Type="http://schemas.openxmlformats.org/officeDocument/2006/relationships/image" Target="../media/image82.png"/></Relationships>
</file>

<file path=ppt/slides/_rels/slide5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7.xml"/><Relationship Id="rId4" Type="http://schemas.openxmlformats.org/officeDocument/2006/relationships/image" Target="../media/image89.png"/></Relationships>
</file>

<file path=ppt/slides/_rels/slide5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1.xml"/><Relationship Id="rId5" Type="http://schemas.openxmlformats.org/officeDocument/2006/relationships/image" Target="../media/image103.png"/><Relationship Id="rId4" Type="http://schemas.openxmlformats.org/officeDocument/2006/relationships/image" Target="../media/image102.png"/></Relationships>
</file>

<file path=ppt/slides/_rels/slide6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7.xml"/><Relationship Id="rId4" Type="http://schemas.openxmlformats.org/officeDocument/2006/relationships/image" Target="../media/image107.png"/></Relationships>
</file>

<file path=ppt/slides/_rels/slide7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1.xml"/><Relationship Id="rId4"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AB48E9D0-BF86-481A-8A0E-07D22B989583}"/>
              </a:ext>
            </a:extLst>
          </p:cNvPr>
          <p:cNvSpPr>
            <a:spLocks noGrp="1"/>
          </p:cNvSpPr>
          <p:nvPr>
            <p:ph type="ctrTitle"/>
          </p:nvPr>
        </p:nvSpPr>
        <p:spPr>
          <a:xfrm>
            <a:off x="1678845" y="1589696"/>
            <a:ext cx="9144000" cy="2160000"/>
          </a:xfrm>
        </p:spPr>
        <p:txBody>
          <a:bodyPr anchor="b">
            <a:normAutofit/>
          </a:bodyPr>
          <a:lstStyle/>
          <a:p>
            <a:pPr algn="ctr"/>
            <a:r>
              <a:rPr lang="en-US" dirty="0" smtClean="0"/>
              <a:t>Dynamic </a:t>
            </a:r>
            <a:r>
              <a:rPr lang="en-US" dirty="0"/>
              <a:t>Programming</a:t>
            </a:r>
          </a:p>
        </p:txBody>
      </p:sp>
    </p:spTree>
    <p:extLst>
      <p:ext uri="{BB962C8B-B14F-4D97-AF65-F5344CB8AC3E}">
        <p14:creationId xmlns:p14="http://schemas.microsoft.com/office/powerpoint/2010/main" xmlns="" val="189987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4DE0E7FA-0C29-4E7B-94A6-8D9ECDCCB424}"/>
              </a:ext>
            </a:extLst>
          </p:cNvPr>
          <p:cNvSpPr>
            <a:spLocks noGrp="1"/>
          </p:cNvSpPr>
          <p:nvPr>
            <p:ph type="title"/>
          </p:nvPr>
        </p:nvSpPr>
        <p:spPr/>
        <p:txBody>
          <a:bodyPr/>
          <a:lstStyle/>
          <a:p>
            <a:r>
              <a:rPr lang="en-US" dirty="0"/>
              <a:t>BASICS OF DYNAMIC PROGRAMMING</a:t>
            </a:r>
            <a:endParaRPr lang="en-IN" dirty="0"/>
          </a:p>
        </p:txBody>
      </p:sp>
      <p:sp>
        <p:nvSpPr>
          <p:cNvPr id="3" name="Content Placeholder 2">
            <a:extLst>
              <a:ext uri="{FF2B5EF4-FFF2-40B4-BE49-F238E27FC236}">
                <a16:creationId xmlns:a16="http://schemas.microsoft.com/office/drawing/2014/main" xmlns="" id="{B3FE6A9E-7516-4E50-ABA7-D60F42FD2FBF}"/>
              </a:ext>
            </a:extLst>
          </p:cNvPr>
          <p:cNvSpPr>
            <a:spLocks noGrp="1"/>
          </p:cNvSpPr>
          <p:nvPr>
            <p:ph idx="1"/>
          </p:nvPr>
        </p:nvSpPr>
        <p:spPr>
          <a:xfrm>
            <a:off x="480755" y="1256426"/>
            <a:ext cx="10515600" cy="5115339"/>
          </a:xfrm>
        </p:spPr>
        <p:txBody>
          <a:bodyPr>
            <a:normAutofit/>
          </a:bodyPr>
          <a:lstStyle/>
          <a:p>
            <a:pPr algn="just">
              <a:lnSpc>
                <a:spcPct val="150000"/>
              </a:lnSpc>
            </a:pPr>
            <a:r>
              <a:rPr lang="en-US" sz="1800" b="1" dirty="0"/>
              <a:t>Useful for solving multistage optimization problems. </a:t>
            </a:r>
          </a:p>
          <a:p>
            <a:pPr lvl="1" algn="just">
              <a:lnSpc>
                <a:spcPct val="200000"/>
              </a:lnSpc>
              <a:buFont typeface="Wingdings" pitchFamily="2" charset="2"/>
              <a:buChar char="ü"/>
            </a:pPr>
            <a:r>
              <a:rPr lang="en-US" sz="1600" dirty="0"/>
              <a:t>An optimization problem deals with the maximization or minimization of the objective function as per problem requirements. </a:t>
            </a:r>
          </a:p>
          <a:p>
            <a:pPr lvl="1" algn="just">
              <a:lnSpc>
                <a:spcPct val="200000"/>
              </a:lnSpc>
              <a:buFont typeface="Wingdings" pitchFamily="2" charset="2"/>
              <a:buChar char="ü"/>
            </a:pPr>
            <a:r>
              <a:rPr lang="en-US" sz="1600" dirty="0"/>
              <a:t>In multistage optimization problems, decisions are made at successive stages to obtain a global solution for the given problem. </a:t>
            </a:r>
          </a:p>
          <a:p>
            <a:pPr lvl="1" algn="just">
              <a:lnSpc>
                <a:spcPct val="200000"/>
              </a:lnSpc>
              <a:buFont typeface="Wingdings" pitchFamily="2" charset="2"/>
              <a:buChar char="ü"/>
            </a:pPr>
            <a:r>
              <a:rPr lang="en-US" sz="1600" dirty="0"/>
              <a:t>Dynamic programming divides a problem into subproblems and establishes a recursive relationship between the original problem and its subproblems</a:t>
            </a:r>
            <a:r>
              <a:rPr lang="en-US" dirty="0"/>
              <a:t>. </a:t>
            </a:r>
          </a:p>
        </p:txBody>
      </p:sp>
    </p:spTree>
    <p:extLst>
      <p:ext uri="{BB962C8B-B14F-4D97-AF65-F5344CB8AC3E}">
        <p14:creationId xmlns:p14="http://schemas.microsoft.com/office/powerpoint/2010/main" xmlns="" val="1848925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1504CF-54FA-4578-82BD-B4195360C785}"/>
              </a:ext>
            </a:extLst>
          </p:cNvPr>
          <p:cNvSpPr>
            <a:spLocks noGrp="1"/>
          </p:cNvSpPr>
          <p:nvPr>
            <p:ph type="title"/>
          </p:nvPr>
        </p:nvSpPr>
        <p:spPr/>
        <p:txBody>
          <a:bodyPr/>
          <a:lstStyle/>
          <a:p>
            <a:r>
              <a:rPr lang="en-US" dirty="0"/>
              <a:t>BASICS OF DYNAMIC PROGRAMMING-cont’d</a:t>
            </a:r>
            <a:endParaRPr lang="en-IN" dirty="0"/>
          </a:p>
        </p:txBody>
      </p:sp>
      <p:sp>
        <p:nvSpPr>
          <p:cNvPr id="3" name="Content Placeholder 2">
            <a:extLst>
              <a:ext uri="{FF2B5EF4-FFF2-40B4-BE49-F238E27FC236}">
                <a16:creationId xmlns:a16="http://schemas.microsoft.com/office/drawing/2014/main" xmlns="" id="{5584E4CE-B7CA-4A29-8ADC-E0EBCA7B0185}"/>
              </a:ext>
            </a:extLst>
          </p:cNvPr>
          <p:cNvSpPr>
            <a:spLocks noGrp="1"/>
          </p:cNvSpPr>
          <p:nvPr>
            <p:ph idx="1"/>
          </p:nvPr>
        </p:nvSpPr>
        <p:spPr/>
        <p:txBody>
          <a:bodyPr>
            <a:normAutofit/>
          </a:bodyPr>
          <a:lstStyle/>
          <a:p>
            <a:pPr algn="just">
              <a:lnSpc>
                <a:spcPct val="200000"/>
              </a:lnSpc>
            </a:pPr>
            <a:r>
              <a:rPr lang="en-US" dirty="0"/>
              <a:t>A subproblem representing a small part of the original problem is solved to obtain the optimal solution. </a:t>
            </a:r>
          </a:p>
          <a:p>
            <a:pPr algn="just">
              <a:lnSpc>
                <a:spcPct val="200000"/>
              </a:lnSpc>
            </a:pPr>
            <a:r>
              <a:rPr lang="en-US" dirty="0"/>
              <a:t>Then the scope of this subproblem is enlarged to find the optimal solution for a new subproblem. </a:t>
            </a:r>
          </a:p>
          <a:p>
            <a:pPr algn="just">
              <a:lnSpc>
                <a:spcPct val="200000"/>
              </a:lnSpc>
            </a:pPr>
            <a:r>
              <a:rPr lang="en-US" dirty="0"/>
              <a:t>This enlargement process is repeated until the subproblem’s scope encompasses the original problem. </a:t>
            </a:r>
          </a:p>
          <a:p>
            <a:pPr algn="just">
              <a:lnSpc>
                <a:spcPct val="200000"/>
              </a:lnSpc>
            </a:pPr>
            <a:r>
              <a:rPr lang="en-US" dirty="0"/>
              <a:t>After that, a solution for the whole problem is obtained by combining the optimal solutions of its subproblems.</a:t>
            </a:r>
          </a:p>
          <a:p>
            <a:pPr algn="just">
              <a:lnSpc>
                <a:spcPct val="200000"/>
              </a:lnSpc>
            </a:pPr>
            <a:endParaRPr lang="en-IN" dirty="0"/>
          </a:p>
        </p:txBody>
      </p:sp>
    </p:spTree>
    <p:extLst>
      <p:ext uri="{BB962C8B-B14F-4D97-AF65-F5344CB8AC3E}">
        <p14:creationId xmlns:p14="http://schemas.microsoft.com/office/powerpoint/2010/main" xmlns="" val="752836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xmlns="" id="{6D04BDE1-2F10-44E5-BB68-C12280F69B4A}"/>
              </a:ext>
            </a:extLst>
          </p:cNvPr>
          <p:cNvSpPr txBox="1"/>
          <p:nvPr/>
        </p:nvSpPr>
        <p:spPr>
          <a:xfrm>
            <a:off x="728870" y="1892542"/>
            <a:ext cx="10624930"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difference between dynamic programming and the top-down or divide-and-conquer approach is that the subproblems overlap in the dynamic programming approach. In contrast, in the divide-and-conquer approach, the subproblems are independent. The differences between the dynamic programming and divide-and-conquer approaches.</a:t>
            </a:r>
          </a:p>
        </p:txBody>
      </p:sp>
      <p:sp>
        <p:nvSpPr>
          <p:cNvPr id="12" name="Title 1">
            <a:extLst>
              <a:ext uri="{FF2B5EF4-FFF2-40B4-BE49-F238E27FC236}">
                <a16:creationId xmlns:a16="http://schemas.microsoft.com/office/drawing/2014/main" xmlns="" id="{41038306-52F7-4E7B-81B8-CDB2A89853E0}"/>
              </a:ext>
            </a:extLst>
          </p:cNvPr>
          <p:cNvSpPr>
            <a:spLocks noGrp="1"/>
          </p:cNvSpPr>
          <p:nvPr>
            <p:ph type="title"/>
          </p:nvPr>
        </p:nvSpPr>
        <p:spPr/>
        <p:txBody>
          <a:bodyPr/>
          <a:lstStyle/>
          <a:p>
            <a:r>
              <a:rPr lang="en-US" dirty="0"/>
              <a:t>Dynamic programming vs divide-and-conquer approaches</a:t>
            </a:r>
            <a:endParaRPr lang="en-IN" dirty="0"/>
          </a:p>
        </p:txBody>
      </p:sp>
      <p:pic>
        <p:nvPicPr>
          <p:cNvPr id="15" name="Content Placeholder 14">
            <a:extLst>
              <a:ext uri="{FF2B5EF4-FFF2-40B4-BE49-F238E27FC236}">
                <a16:creationId xmlns:a16="http://schemas.microsoft.com/office/drawing/2014/main" xmlns="" id="{88F0D49E-01CA-4E27-9370-5CA502D0958E}"/>
              </a:ext>
            </a:extLst>
          </p:cNvPr>
          <p:cNvPicPr>
            <a:picLocks noGrp="1" noChangeAspect="1"/>
          </p:cNvPicPr>
          <p:nvPr>
            <p:ph idx="1"/>
          </p:nvPr>
        </p:nvPicPr>
        <p:blipFill>
          <a:blip r:embed="rId2" cstate="print"/>
          <a:stretch>
            <a:fillRect/>
          </a:stretch>
        </p:blipFill>
        <p:spPr>
          <a:xfrm>
            <a:off x="1241537" y="3067714"/>
            <a:ext cx="9774014" cy="1867161"/>
          </a:xfrm>
          <a:prstGeom prst="rect">
            <a:avLst/>
          </a:prstGeom>
        </p:spPr>
      </p:pic>
    </p:spTree>
    <p:extLst>
      <p:ext uri="{BB962C8B-B14F-4D97-AF65-F5344CB8AC3E}">
        <p14:creationId xmlns:p14="http://schemas.microsoft.com/office/powerpoint/2010/main" xmlns="" val="2026078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A1B4D13-B778-471C-92FC-638C259EFB81}"/>
              </a:ext>
            </a:extLst>
          </p:cNvPr>
          <p:cNvSpPr>
            <a:spLocks noGrp="1"/>
          </p:cNvSpPr>
          <p:nvPr>
            <p:ph type="title"/>
          </p:nvPr>
        </p:nvSpPr>
        <p:spPr/>
        <p:txBody>
          <a:bodyPr/>
          <a:lstStyle/>
          <a:p>
            <a:r>
              <a:rPr lang="en-US" dirty="0"/>
              <a:t>Dynamic programming approach vs greedy approach</a:t>
            </a:r>
            <a:endParaRPr lang="en-IN" dirty="0"/>
          </a:p>
        </p:txBody>
      </p:sp>
      <p:sp>
        <p:nvSpPr>
          <p:cNvPr id="5" name="Content Placeholder 4">
            <a:extLst>
              <a:ext uri="{FF2B5EF4-FFF2-40B4-BE49-F238E27FC236}">
                <a16:creationId xmlns:a16="http://schemas.microsoft.com/office/drawing/2014/main" xmlns="" id="{9F9118CD-522F-48AB-A213-D92049D79095}"/>
              </a:ext>
            </a:extLst>
          </p:cNvPr>
          <p:cNvSpPr>
            <a:spLocks noGrp="1"/>
          </p:cNvSpPr>
          <p:nvPr>
            <p:ph sz="half" idx="1"/>
          </p:nvPr>
        </p:nvSpPr>
        <p:spPr>
          <a:xfrm>
            <a:off x="838200" y="1825625"/>
            <a:ext cx="8030818" cy="5032375"/>
          </a:xfrm>
        </p:spPr>
        <p:txBody>
          <a:bodyPr>
            <a:normAutofit/>
          </a:bodyPr>
          <a:lstStyle/>
          <a:p>
            <a:pPr algn="just"/>
            <a:r>
              <a:rPr lang="en-US" dirty="0"/>
              <a:t>Dynamic programming can also be compared with the greedy approach. </a:t>
            </a:r>
          </a:p>
          <a:p>
            <a:pPr algn="just"/>
            <a:r>
              <a:rPr lang="en-US" dirty="0"/>
              <a:t>Unlike dynamic programming, the greedy approach fails in many problems. </a:t>
            </a:r>
          </a:p>
          <a:p>
            <a:pPr algn="just"/>
            <a:r>
              <a:rPr lang="en-US" dirty="0"/>
              <a:t>consider the shortest-path problem for the distance between s and t in the graph shown in Fig. A greedy algorithm such as Dijkstra would take the route from s to vertex 2, as its path length is shorter than that of the route from s to ‘1’. </a:t>
            </a:r>
          </a:p>
          <a:p>
            <a:pPr algn="just"/>
            <a:r>
              <a:rPr lang="en-US" dirty="0"/>
              <a:t>After that, the path length increases, resulting in a total path length of 1002. </a:t>
            </a:r>
          </a:p>
          <a:p>
            <a:pPr algn="just"/>
            <a:r>
              <a:rPr lang="en-US" dirty="0"/>
              <a:t>However, dynamic programming would not make such a mistake, as it treats the problem in stages. </a:t>
            </a:r>
          </a:p>
          <a:p>
            <a:pPr algn="just"/>
            <a:r>
              <a:rPr lang="en-US" dirty="0"/>
              <a:t>For this problem, there are three stages with vertices {s}, {1, 2}, and {t}. The problem would find the shortest path from stage 2, {1, 2}, to {t} first, then calculate the final path. Hence, dynamic programming would result in a path s to 1 and from 1 to t. </a:t>
            </a:r>
          </a:p>
          <a:p>
            <a:pPr algn="just"/>
            <a:r>
              <a:rPr lang="en-US" dirty="0"/>
              <a:t>Dynamic programming problems, therefore, yield a globally optimal result compared to the greedy approach, whose solutions are just locally optimal. </a:t>
            </a:r>
            <a:endParaRPr lang="en-IN" dirty="0"/>
          </a:p>
          <a:p>
            <a:pPr algn="just"/>
            <a:endParaRPr lang="en-IN" dirty="0"/>
          </a:p>
        </p:txBody>
      </p:sp>
      <p:pic>
        <p:nvPicPr>
          <p:cNvPr id="7" name="Content Placeholder 6">
            <a:extLst>
              <a:ext uri="{FF2B5EF4-FFF2-40B4-BE49-F238E27FC236}">
                <a16:creationId xmlns:a16="http://schemas.microsoft.com/office/drawing/2014/main" xmlns="" id="{0A90A17D-C18F-421F-81D3-795E3A5D61DA}"/>
              </a:ext>
            </a:extLst>
          </p:cNvPr>
          <p:cNvPicPr>
            <a:picLocks noGrp="1" noChangeAspect="1"/>
          </p:cNvPicPr>
          <p:nvPr>
            <p:ph sz="half" idx="2"/>
          </p:nvPr>
        </p:nvPicPr>
        <p:blipFill>
          <a:blip r:embed="rId2" cstate="print"/>
          <a:stretch>
            <a:fillRect/>
          </a:stretch>
        </p:blipFill>
        <p:spPr>
          <a:xfrm>
            <a:off x="8869017" y="2499760"/>
            <a:ext cx="3322983" cy="2653610"/>
          </a:xfrm>
          <a:prstGeom prst="rect">
            <a:avLst/>
          </a:prstGeom>
        </p:spPr>
      </p:pic>
    </p:spTree>
    <p:extLst>
      <p:ext uri="{BB962C8B-B14F-4D97-AF65-F5344CB8AC3E}">
        <p14:creationId xmlns:p14="http://schemas.microsoft.com/office/powerpoint/2010/main" xmlns="" val="135906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438B083B-C6FC-4731-9A6D-ACEEBF685CFC}"/>
              </a:ext>
            </a:extLst>
          </p:cNvPr>
          <p:cNvSpPr>
            <a:spLocks noGrp="1"/>
          </p:cNvSpPr>
          <p:nvPr>
            <p:ph type="title"/>
          </p:nvPr>
        </p:nvSpPr>
        <p:spPr/>
        <p:txBody>
          <a:bodyPr>
            <a:normAutofit/>
          </a:bodyPr>
          <a:lstStyle/>
          <a:p>
            <a:r>
              <a:rPr lang="en-US" sz="3000" dirty="0"/>
              <a:t>Dynamic programming approach vs greedy approach</a:t>
            </a:r>
            <a:endParaRPr lang="en-IN" sz="3000" dirty="0"/>
          </a:p>
        </p:txBody>
      </p:sp>
      <p:pic>
        <p:nvPicPr>
          <p:cNvPr id="12" name="Content Placeholder 11">
            <a:extLst>
              <a:ext uri="{FF2B5EF4-FFF2-40B4-BE49-F238E27FC236}">
                <a16:creationId xmlns:a16="http://schemas.microsoft.com/office/drawing/2014/main" xmlns="" id="{39CDDBAF-2FE8-4CAC-9978-519E2C89C0BE}"/>
              </a:ext>
            </a:extLst>
          </p:cNvPr>
          <p:cNvPicPr>
            <a:picLocks noGrp="1" noChangeAspect="1"/>
          </p:cNvPicPr>
          <p:nvPr>
            <p:ph idx="1"/>
          </p:nvPr>
        </p:nvPicPr>
        <p:blipFill>
          <a:blip r:embed="rId2" cstate="print"/>
          <a:stretch>
            <a:fillRect/>
          </a:stretch>
        </p:blipFill>
        <p:spPr>
          <a:xfrm>
            <a:off x="838201" y="1369196"/>
            <a:ext cx="10717696" cy="1677829"/>
          </a:xfrm>
          <a:prstGeom prst="rect">
            <a:avLst/>
          </a:prstGeom>
        </p:spPr>
      </p:pic>
      <p:pic>
        <p:nvPicPr>
          <p:cNvPr id="9" name="Picture 8">
            <a:extLst>
              <a:ext uri="{FF2B5EF4-FFF2-40B4-BE49-F238E27FC236}">
                <a16:creationId xmlns:a16="http://schemas.microsoft.com/office/drawing/2014/main" xmlns="" id="{7F6DAE74-49D9-4088-83FD-28F4F4721AA1}"/>
              </a:ext>
            </a:extLst>
          </p:cNvPr>
          <p:cNvPicPr>
            <a:picLocks noChangeAspect="1"/>
          </p:cNvPicPr>
          <p:nvPr/>
        </p:nvPicPr>
        <p:blipFill>
          <a:blip r:embed="rId3" cstate="print"/>
          <a:stretch>
            <a:fillRect/>
          </a:stretch>
        </p:blipFill>
        <p:spPr>
          <a:xfrm>
            <a:off x="947315" y="3763618"/>
            <a:ext cx="10913380" cy="2807869"/>
          </a:xfrm>
          <a:prstGeom prst="rect">
            <a:avLst/>
          </a:prstGeom>
        </p:spPr>
      </p:pic>
      <p:sp>
        <p:nvSpPr>
          <p:cNvPr id="14" name="TextBox 13">
            <a:extLst>
              <a:ext uri="{FF2B5EF4-FFF2-40B4-BE49-F238E27FC236}">
                <a16:creationId xmlns:a16="http://schemas.microsoft.com/office/drawing/2014/main" xmlns="" id="{28E47F53-BC22-4EE0-BC20-91FCEFDACBEA}"/>
              </a:ext>
            </a:extLst>
          </p:cNvPr>
          <p:cNvSpPr txBox="1"/>
          <p:nvPr/>
        </p:nvSpPr>
        <p:spPr>
          <a:xfrm>
            <a:off x="947316" y="3244335"/>
            <a:ext cx="10502562" cy="571310"/>
          </a:xfrm>
          <a:prstGeom prst="rect">
            <a:avLst/>
          </a:prstGeom>
          <a:noFill/>
        </p:spPr>
        <p:txBody>
          <a:bodyPr wrap="square">
            <a:spAutoFit/>
          </a:bodyPr>
          <a:lstStyle/>
          <a:p>
            <a:r>
              <a:rPr lang="en-US" sz="3000" dirty="0">
                <a:latin typeface="Calibri Light (Headings)"/>
              </a:rPr>
              <a:t>A</a:t>
            </a:r>
            <a:r>
              <a:rPr lang="en-IN" sz="3000" dirty="0" err="1">
                <a:latin typeface="Calibri Light (Headings)"/>
              </a:rPr>
              <a:t>dvantages</a:t>
            </a:r>
            <a:r>
              <a:rPr lang="en-IN" sz="3000" dirty="0">
                <a:latin typeface="Calibri Light (Headings)"/>
              </a:rPr>
              <a:t> and Disadvantages of dynamic programming</a:t>
            </a:r>
          </a:p>
        </p:txBody>
      </p:sp>
    </p:spTree>
    <p:extLst>
      <p:ext uri="{BB962C8B-B14F-4D97-AF65-F5344CB8AC3E}">
        <p14:creationId xmlns:p14="http://schemas.microsoft.com/office/powerpoint/2010/main" xmlns="" val="301629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D4BF83-7000-4FD7-8700-787335449CF9}"/>
              </a:ext>
            </a:extLst>
          </p:cNvPr>
          <p:cNvSpPr>
            <a:spLocks noGrp="1"/>
          </p:cNvSpPr>
          <p:nvPr>
            <p:ph type="title"/>
          </p:nvPr>
        </p:nvSpPr>
        <p:spPr/>
        <p:txBody>
          <a:bodyPr/>
          <a:lstStyle/>
          <a:p>
            <a:r>
              <a:rPr lang="en-IN" dirty="0"/>
              <a:t>Components of Dynamic Programming</a:t>
            </a:r>
          </a:p>
        </p:txBody>
      </p:sp>
      <p:sp>
        <p:nvSpPr>
          <p:cNvPr id="3" name="Content Placeholder 2">
            <a:extLst>
              <a:ext uri="{FF2B5EF4-FFF2-40B4-BE49-F238E27FC236}">
                <a16:creationId xmlns:a16="http://schemas.microsoft.com/office/drawing/2014/main" xmlns="" id="{E6343E33-F648-44DF-8651-30858FE1393C}"/>
              </a:ext>
            </a:extLst>
          </p:cNvPr>
          <p:cNvSpPr>
            <a:spLocks noGrp="1"/>
          </p:cNvSpPr>
          <p:nvPr>
            <p:ph idx="1"/>
          </p:nvPr>
        </p:nvSpPr>
        <p:spPr/>
        <p:txBody>
          <a:bodyPr>
            <a:normAutofit/>
          </a:bodyPr>
          <a:lstStyle/>
          <a:p>
            <a:pPr algn="just"/>
            <a:r>
              <a:rPr lang="en-US" dirty="0"/>
              <a:t>The guiding principle of dynamic programming is the </a:t>
            </a:r>
            <a:r>
              <a:rPr lang="en-US" b="1" dirty="0"/>
              <a:t>‘principle of optimality’</a:t>
            </a:r>
            <a:r>
              <a:rPr lang="en-US" dirty="0"/>
              <a:t>. In simple words, a given problem is split into subproblems. </a:t>
            </a:r>
          </a:p>
          <a:p>
            <a:pPr algn="just"/>
            <a:r>
              <a:rPr lang="en-US" dirty="0"/>
              <a:t>Then, this principle helps us solve each subproblem optimally, ultimately leading to the optimal solution of the given problem. It states that an optimal sequence of decisions in a multistage decision problem is feasible if its sub-sequences are optimal. </a:t>
            </a:r>
          </a:p>
          <a:p>
            <a:pPr algn="just"/>
            <a:r>
              <a:rPr lang="en-US" dirty="0"/>
              <a:t>In other words, the Bellman principle of optimality states that “an optimal policy (a sequence of decisions) has the property that whatever the initial state and decision are, the remaining decisions must constitute an optimal policy concerning the state resulting from the first decision”.</a:t>
            </a:r>
          </a:p>
          <a:p>
            <a:pPr algn="just"/>
            <a:r>
              <a:rPr lang="en-US" dirty="0"/>
              <a:t>The solution to a problem can be achieved by breaking the problem into subproblems. The subproblems can then be solved optimally. If so, the original problem can be solved optimally by combining the optimal solutions of its subproblems.</a:t>
            </a:r>
            <a:endParaRPr lang="en-IN" dirty="0"/>
          </a:p>
        </p:txBody>
      </p:sp>
    </p:spTree>
    <p:extLst>
      <p:ext uri="{BB962C8B-B14F-4D97-AF65-F5344CB8AC3E}">
        <p14:creationId xmlns:p14="http://schemas.microsoft.com/office/powerpoint/2010/main" xmlns="" val="2933426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C995A3-0E2B-40C2-8784-52CBD8211C94}"/>
              </a:ext>
            </a:extLst>
          </p:cNvPr>
          <p:cNvSpPr>
            <a:spLocks noGrp="1"/>
          </p:cNvSpPr>
          <p:nvPr>
            <p:ph type="title"/>
          </p:nvPr>
        </p:nvSpPr>
        <p:spPr/>
        <p:txBody>
          <a:bodyPr/>
          <a:lstStyle/>
          <a:p>
            <a:r>
              <a:rPr lang="en-IN" dirty="0"/>
              <a:t>Components of Dynamic Programming</a:t>
            </a:r>
          </a:p>
        </p:txBody>
      </p:sp>
      <p:pic>
        <p:nvPicPr>
          <p:cNvPr id="7" name="Picture 6">
            <a:extLst>
              <a:ext uri="{FF2B5EF4-FFF2-40B4-BE49-F238E27FC236}">
                <a16:creationId xmlns:a16="http://schemas.microsoft.com/office/drawing/2014/main" xmlns="" id="{8013BC03-95D7-4C94-9553-02F76E9CE0EB}"/>
              </a:ext>
            </a:extLst>
          </p:cNvPr>
          <p:cNvPicPr>
            <a:picLocks noChangeAspect="1"/>
          </p:cNvPicPr>
          <p:nvPr/>
        </p:nvPicPr>
        <p:blipFill>
          <a:blip r:embed="rId2" cstate="print"/>
          <a:stretch>
            <a:fillRect/>
          </a:stretch>
        </p:blipFill>
        <p:spPr>
          <a:xfrm>
            <a:off x="875572" y="1790471"/>
            <a:ext cx="10440857" cy="4265772"/>
          </a:xfrm>
          <a:prstGeom prst="rect">
            <a:avLst/>
          </a:prstGeom>
        </p:spPr>
      </p:pic>
    </p:spTree>
    <p:extLst>
      <p:ext uri="{BB962C8B-B14F-4D97-AF65-F5344CB8AC3E}">
        <p14:creationId xmlns:p14="http://schemas.microsoft.com/office/powerpoint/2010/main" xmlns="" val="136787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2E00AC-8D12-45A2-9DFB-5A31E3572220}"/>
              </a:ext>
            </a:extLst>
          </p:cNvPr>
          <p:cNvSpPr>
            <a:spLocks noGrp="1"/>
          </p:cNvSpPr>
          <p:nvPr>
            <p:ph type="title"/>
          </p:nvPr>
        </p:nvSpPr>
        <p:spPr/>
        <p:txBody>
          <a:bodyPr/>
          <a:lstStyle/>
          <a:p>
            <a:r>
              <a:rPr lang="en-US" dirty="0"/>
              <a:t>overlapping subproblems</a:t>
            </a:r>
          </a:p>
        </p:txBody>
      </p:sp>
      <p:sp>
        <p:nvSpPr>
          <p:cNvPr id="3" name="Content Placeholder 2">
            <a:extLst>
              <a:ext uri="{FF2B5EF4-FFF2-40B4-BE49-F238E27FC236}">
                <a16:creationId xmlns:a16="http://schemas.microsoft.com/office/drawing/2014/main" xmlns="" id="{FEC74E1A-CFAC-439E-8DF2-4A0BE657D9BC}"/>
              </a:ext>
            </a:extLst>
          </p:cNvPr>
          <p:cNvSpPr>
            <a:spLocks noGrp="1"/>
          </p:cNvSpPr>
          <p:nvPr>
            <p:ph idx="1"/>
          </p:nvPr>
        </p:nvSpPr>
        <p:spPr/>
        <p:txBody>
          <a:bodyPr>
            <a:normAutofit/>
          </a:bodyPr>
          <a:lstStyle/>
          <a:p>
            <a:r>
              <a:rPr lang="en-US" dirty="0"/>
              <a:t>Dynamic programs possess two essential properties—</a:t>
            </a:r>
          </a:p>
          <a:p>
            <a:pPr lvl="2"/>
            <a:r>
              <a:rPr lang="en-US" sz="2800" dirty="0"/>
              <a:t>overlapping subproblems</a:t>
            </a:r>
          </a:p>
          <a:p>
            <a:pPr lvl="2"/>
            <a:r>
              <a:rPr lang="en-US" sz="2800" dirty="0"/>
              <a:t>optimal substructures. </a:t>
            </a:r>
          </a:p>
          <a:p>
            <a:r>
              <a:rPr lang="en-US" dirty="0"/>
              <a:t>Overlapping subproblems One of the main characteristics of dynamic programming is to split the problem into subproblems, similar to the divide-and-conquer approach. The sub-problems are further divided into smaller problems. However, unlike  divide and conquer, here, many subproblems overlap and cannot be treated distinctly. </a:t>
            </a:r>
          </a:p>
          <a:p>
            <a:r>
              <a:rPr lang="en-US" dirty="0"/>
              <a:t>This feature is the primary characteristic of dynamic programming. There are two ways of handling this overlapping problem:</a:t>
            </a:r>
          </a:p>
          <a:p>
            <a:pPr lvl="2"/>
            <a:r>
              <a:rPr lang="en-US" sz="2800" dirty="0"/>
              <a:t>The </a:t>
            </a:r>
            <a:r>
              <a:rPr lang="en-US" sz="2800" dirty="0" err="1"/>
              <a:t>memoization</a:t>
            </a:r>
            <a:r>
              <a:rPr lang="en-US" sz="2800" dirty="0"/>
              <a:t> technique</a:t>
            </a:r>
          </a:p>
          <a:p>
            <a:pPr lvl="2"/>
            <a:r>
              <a:rPr lang="en-US" sz="2800" dirty="0"/>
              <a:t>The tabulation method.</a:t>
            </a:r>
          </a:p>
        </p:txBody>
      </p:sp>
    </p:spTree>
    <p:extLst>
      <p:ext uri="{BB962C8B-B14F-4D97-AF65-F5344CB8AC3E}">
        <p14:creationId xmlns:p14="http://schemas.microsoft.com/office/powerpoint/2010/main" xmlns="" val="262005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329A97C-2F9B-4A7F-8320-D56FE6C973DE}"/>
              </a:ext>
            </a:extLst>
          </p:cNvPr>
          <p:cNvSpPr>
            <a:spLocks noGrp="1"/>
          </p:cNvSpPr>
          <p:nvPr>
            <p:ph type="title"/>
          </p:nvPr>
        </p:nvSpPr>
        <p:spPr>
          <a:xfrm>
            <a:off x="838202" y="0"/>
            <a:ext cx="10515600" cy="1325563"/>
          </a:xfrm>
        </p:spPr>
        <p:txBody>
          <a:bodyPr/>
          <a:lstStyle/>
          <a:p>
            <a:r>
              <a:rPr lang="en-IN" dirty="0"/>
              <a:t>overlapping subproblems</a:t>
            </a: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73B59C31-9216-4095-A47D-2FE570EF3E5B}"/>
                  </a:ext>
                </a:extLst>
              </p:cNvPr>
              <p:cNvSpPr>
                <a:spLocks noGrp="1"/>
              </p:cNvSpPr>
              <p:nvPr>
                <p:ph sz="half" idx="1"/>
              </p:nvPr>
            </p:nvSpPr>
            <p:spPr>
              <a:xfrm>
                <a:off x="490331" y="1086678"/>
                <a:ext cx="7712766" cy="6003235"/>
              </a:xfrm>
            </p:spPr>
            <p:txBody>
              <a:bodyPr>
                <a:normAutofit fontScale="70000" lnSpcReduction="20000"/>
              </a:bodyPr>
              <a:lstStyle/>
              <a:p>
                <a:r>
                  <a:rPr lang="en-US" dirty="0"/>
                  <a:t>The Fibonacci sequence is given as (0, 1, 1, 2, 3, 5, 8, 13, …). The following recurrence equations can generate this sequence: </a:t>
                </a:r>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0</m:t>
                          </m:r>
                        </m:sub>
                      </m:sSub>
                      <m:r>
                        <a:rPr lang="en-US" sz="2300" b="0" i="1" smtClean="0">
                          <a:latin typeface="Cambria Math" panose="02040503050406030204" pitchFamily="18" charset="0"/>
                        </a:rPr>
                        <m:t>=0</m:t>
                      </m:r>
                    </m:oMath>
                  </m:oMathPara>
                </a14:m>
                <a:endParaRPr lang="en-US" sz="2300" b="0" dirty="0"/>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1</m:t>
                          </m:r>
                        </m:sub>
                      </m:sSub>
                      <m:r>
                        <a:rPr lang="en-US" sz="2300" b="0" i="1" smtClean="0">
                          <a:latin typeface="Cambria Math" panose="02040503050406030204" pitchFamily="18" charset="0"/>
                        </a:rPr>
                        <m:t>=1</m:t>
                      </m:r>
                    </m:oMath>
                  </m:oMathPara>
                </a14:m>
                <a:endParaRPr lang="en-US" sz="2300" b="0" dirty="0"/>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r>
                            <a:rPr lang="en-US" sz="2300" b="0" i="1" smtClean="0">
                              <a:latin typeface="Cambria Math" panose="02040503050406030204" pitchFamily="18" charset="0"/>
                            </a:rPr>
                            <m:t>−1</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r>
                            <a:rPr lang="en-US" sz="2300" b="0" i="1" smtClean="0">
                              <a:latin typeface="Cambria Math" panose="02040503050406030204" pitchFamily="18" charset="0"/>
                            </a:rPr>
                            <m:t>−2 </m:t>
                          </m:r>
                        </m:sub>
                      </m:sSub>
                      <m:r>
                        <a:rPr lang="en-US" sz="2300" b="0" i="1" smtClean="0">
                          <a:latin typeface="Cambria Math" panose="02040503050406030204" pitchFamily="18" charset="0"/>
                        </a:rPr>
                        <m:t>   </m:t>
                      </m:r>
                      <m:r>
                        <a:rPr lang="en-US" sz="2300" b="0" i="1" smtClean="0">
                          <a:latin typeface="Cambria Math" panose="02040503050406030204" pitchFamily="18" charset="0"/>
                        </a:rPr>
                        <m:t>𝑓𝑜𝑟</m:t>
                      </m:r>
                      <m:r>
                        <a:rPr lang="en-US" sz="2300" b="0" i="1" smtClean="0">
                          <a:latin typeface="Cambria Math" panose="02040503050406030204" pitchFamily="18" charset="0"/>
                        </a:rPr>
                        <m:t> </m:t>
                      </m:r>
                      <m:r>
                        <a:rPr lang="en-US" sz="2300" b="0" i="1" smtClean="0">
                          <a:latin typeface="Cambria Math" panose="02040503050406030204" pitchFamily="18" charset="0"/>
                        </a:rPr>
                        <m:t>𝑛</m:t>
                      </m:r>
                      <m:r>
                        <a:rPr lang="en-US" sz="2300" b="0" i="1" smtClean="0">
                          <a:latin typeface="Cambria Math" panose="02040503050406030204" pitchFamily="18" charset="0"/>
                        </a:rPr>
                        <m:t>≥2</m:t>
                      </m:r>
                    </m:oMath>
                  </m:oMathPara>
                </a14:m>
                <a:endParaRPr lang="en-US" sz="2300" dirty="0"/>
              </a:p>
              <a:p>
                <a:r>
                  <a:rPr lang="en-US" dirty="0"/>
                  <a:t>A straightforward pseudo-code for implementing this recursive equation is as follows:</a:t>
                </a:r>
              </a:p>
              <a:p>
                <a:r>
                  <a:rPr lang="en-US" dirty="0"/>
                  <a:t>Consider a Fibonacci recurrence tree for n = 5, as shown in Fig. 13.2.</a:t>
                </a:r>
              </a:p>
              <a:p>
                <a:r>
                  <a:rPr lang="en-US" dirty="0"/>
                  <a:t>It can be observed from Fig. 13.3 that there are multiple overlapping subproblems.</a:t>
                </a:r>
              </a:p>
              <a:p>
                <a:r>
                  <a:rPr lang="en-US" dirty="0"/>
                  <a:t>As n becomes large, subproblems increase exponentially, and repeated calculation makes the algorithm ineffective. In general, to compute Fibonacci(n), one requires two terms:</a:t>
                </a:r>
              </a:p>
              <a:p>
                <a:pPr lvl="2"/>
                <a:r>
                  <a:rPr lang="en-US" sz="2600" b="1" dirty="0"/>
                  <a:t>Fibonacci (n-1) and Fibonacci (n-2)</a:t>
                </a:r>
              </a:p>
              <a:p>
                <a:r>
                  <a:rPr lang="en-US" dirty="0"/>
                  <a:t>Even for computing Fibonacci(50), one must have all the previous 49 terms, which is tedious. </a:t>
                </a:r>
              </a:p>
              <a:p>
                <a:r>
                  <a:rPr lang="en-US" dirty="0"/>
                  <a:t>This exponential complexity of Fibonacci computation is because many of the subproblems are repetitive, and hence there are chances of multiple </a:t>
                </a:r>
                <a:r>
                  <a:rPr lang="en-US" dirty="0" err="1"/>
                  <a:t>recomputations</a:t>
                </a:r>
                <a:r>
                  <a:rPr lang="en-US" dirty="0"/>
                  <a:t>. </a:t>
                </a:r>
              </a:p>
              <a:p>
                <a:r>
                  <a:rPr lang="en-US" dirty="0"/>
                  <a:t>The complexity analysis of this algorithm yields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d>
                      <m:dPr>
                        <m:ctrlPr>
                          <a:rPr lang="el-GR" b="0" i="1" smtClean="0">
                            <a:latin typeface="Cambria Math" panose="02040503050406030204" pitchFamily="18" charset="0"/>
                            <a:ea typeface="Cambria Math" panose="02040503050406030204" pitchFamily="18" charset="0"/>
                          </a:rPr>
                        </m:ctrlPr>
                      </m:dPr>
                      <m:e>
                        <m:sSup>
                          <m:sSupPr>
                            <m:ctrlPr>
                              <a:rPr lang="el-GR" b="0" i="1" smtClean="0">
                                <a:latin typeface="Cambria Math" panose="02040503050406030204" pitchFamily="18" charset="0"/>
                                <a:ea typeface="Cambria Math" panose="02040503050406030204" pitchFamily="18" charset="0"/>
                              </a:rPr>
                            </m:ctrlPr>
                          </m:sSupPr>
                          <m:e>
                            <m:r>
                              <a:rPr lang="el-GR" b="0" i="1" smtClean="0">
                                <a:latin typeface="Cambria Math" panose="02040503050406030204" pitchFamily="18" charset="0"/>
                                <a:ea typeface="Cambria Math" panose="02040503050406030204" pitchFamily="18" charset="0"/>
                              </a:rPr>
                              <m:t>𝜙</m:t>
                            </m:r>
                          </m:e>
                          <m:sup>
                            <m:r>
                              <a:rPr lang="en-US" b="0" i="1" smtClean="0">
                                <a:latin typeface="Cambria Math" panose="02040503050406030204" pitchFamily="18" charset="0"/>
                                <a:ea typeface="Cambria Math" panose="02040503050406030204" pitchFamily="18" charset="0"/>
                              </a:rPr>
                              <m:t>𝑛</m:t>
                            </m:r>
                          </m:sup>
                        </m:sSup>
                      </m:e>
                    </m:d>
                  </m:oMath>
                </a14:m>
                <a:r>
                  <a:rPr lang="en-US" dirty="0"/>
                  <a:t>. Here f is called the golden ratio, whose value is approximately 1.62.</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73B59C31-9216-4095-A47D-2FE570EF3E5B}"/>
                  </a:ext>
                </a:extLst>
              </p:cNvPr>
              <p:cNvSpPr>
                <a:spLocks noGrp="1" noRot="1" noChangeAspect="1" noMove="1" noResize="1" noEditPoints="1" noAdjustHandles="1" noChangeArrowheads="1" noChangeShapeType="1" noTextEdit="1"/>
              </p:cNvSpPr>
              <p:nvPr>
                <p:ph sz="half" idx="1"/>
              </p:nvPr>
            </p:nvSpPr>
            <p:spPr>
              <a:xfrm>
                <a:off x="490332" y="1086679"/>
                <a:ext cx="7712766" cy="6003235"/>
              </a:xfrm>
              <a:blipFill>
                <a:blip r:embed="rId2" cstate="print"/>
                <a:stretch>
                  <a:fillRect l="-711" t="-1827" r="-150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xmlns="" id="{120515D7-8975-424E-9BC9-E0DAF2172543}"/>
              </a:ext>
            </a:extLst>
          </p:cNvPr>
          <p:cNvPicPr>
            <a:picLocks noGrp="1" noChangeAspect="1"/>
          </p:cNvPicPr>
          <p:nvPr>
            <p:ph sz="half" idx="2"/>
          </p:nvPr>
        </p:nvPicPr>
        <p:blipFill rotWithShape="1">
          <a:blip r:embed="rId3" cstate="print"/>
          <a:srcRect t="4771"/>
          <a:stretch/>
        </p:blipFill>
        <p:spPr>
          <a:xfrm>
            <a:off x="7720824" y="167226"/>
            <a:ext cx="4471177" cy="2693675"/>
          </a:xfrm>
          <a:prstGeom prst="rect">
            <a:avLst/>
          </a:prstGeom>
        </p:spPr>
      </p:pic>
      <p:pic>
        <p:nvPicPr>
          <p:cNvPr id="7" name="Picture 6">
            <a:extLst>
              <a:ext uri="{FF2B5EF4-FFF2-40B4-BE49-F238E27FC236}">
                <a16:creationId xmlns:a16="http://schemas.microsoft.com/office/drawing/2014/main" xmlns="" id="{DA7D4C9A-F3B5-44F6-A8FE-5F8EFAE34338}"/>
              </a:ext>
            </a:extLst>
          </p:cNvPr>
          <p:cNvPicPr>
            <a:picLocks noChangeAspect="1"/>
          </p:cNvPicPr>
          <p:nvPr/>
        </p:nvPicPr>
        <p:blipFill rotWithShape="1">
          <a:blip r:embed="rId4" cstate="print"/>
          <a:srcRect t="13255"/>
          <a:stretch/>
        </p:blipFill>
        <p:spPr>
          <a:xfrm>
            <a:off x="8514956" y="3616386"/>
            <a:ext cx="2838846" cy="2186495"/>
          </a:xfrm>
          <a:prstGeom prst="rect">
            <a:avLst/>
          </a:prstGeom>
        </p:spPr>
      </p:pic>
    </p:spTree>
    <p:extLst>
      <p:ext uri="{BB962C8B-B14F-4D97-AF65-F5344CB8AC3E}">
        <p14:creationId xmlns:p14="http://schemas.microsoft.com/office/powerpoint/2010/main" xmlns="" val="3524773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48B35A-B81A-4D42-A1C2-B25383909AB3}"/>
              </a:ext>
            </a:extLst>
          </p:cNvPr>
          <p:cNvSpPr>
            <a:spLocks noGrp="1"/>
          </p:cNvSpPr>
          <p:nvPr>
            <p:ph type="title"/>
          </p:nvPr>
        </p:nvSpPr>
        <p:spPr/>
        <p:txBody>
          <a:bodyPr/>
          <a:lstStyle/>
          <a:p>
            <a:r>
              <a:rPr lang="en-IN" dirty="0"/>
              <a:t>Optimal substructure</a:t>
            </a:r>
          </a:p>
        </p:txBody>
      </p:sp>
      <p:sp>
        <p:nvSpPr>
          <p:cNvPr id="5" name="Content Placeholder 4">
            <a:extLst>
              <a:ext uri="{FF2B5EF4-FFF2-40B4-BE49-F238E27FC236}">
                <a16:creationId xmlns:a16="http://schemas.microsoft.com/office/drawing/2014/main" xmlns="" id="{C548042F-AEE7-4051-B079-E501D41534F3}"/>
              </a:ext>
            </a:extLst>
          </p:cNvPr>
          <p:cNvSpPr>
            <a:spLocks noGrp="1"/>
          </p:cNvSpPr>
          <p:nvPr>
            <p:ph idx="1"/>
          </p:nvPr>
        </p:nvSpPr>
        <p:spPr/>
        <p:txBody>
          <a:bodyPr>
            <a:normAutofit/>
          </a:bodyPr>
          <a:lstStyle/>
          <a:p>
            <a:pPr algn="just"/>
            <a:r>
              <a:rPr lang="en-US" dirty="0"/>
              <a:t>The optimal solution of a problem can be expressed in terms of optimal solutions to its subproblems. </a:t>
            </a:r>
          </a:p>
          <a:p>
            <a:pPr algn="just"/>
            <a:r>
              <a:rPr lang="en-US" dirty="0"/>
              <a:t>In dynamic programming, a problem can be divided into subproblems. Then, the subproblem can be solved </a:t>
            </a:r>
            <a:r>
              <a:rPr lang="en-US" dirty="0" smtClean="0"/>
              <a:t>sub optimally. </a:t>
            </a:r>
            <a:r>
              <a:rPr lang="en-US" dirty="0"/>
              <a:t>If so, the optimal solutions of the subproblems can lead to the optimal solution of the original problem.</a:t>
            </a:r>
          </a:p>
          <a:p>
            <a:pPr algn="just"/>
            <a:r>
              <a:rPr lang="en-US" dirty="0"/>
              <a:t>If the solution to the original problem has stages, then the decision taken at the current stage depends on the decision taken in the previous stages. </a:t>
            </a:r>
          </a:p>
          <a:p>
            <a:pPr algn="just"/>
            <a:r>
              <a:rPr lang="en-US" dirty="0"/>
              <a:t>Therefore, there is no need to consider all possible decisions and their consequences as the optimal solution of the given problem is built on the optimal solution of its subproblems</a:t>
            </a:r>
            <a:endParaRPr lang="en-IN" dirty="0"/>
          </a:p>
        </p:txBody>
      </p:sp>
    </p:spTree>
    <p:extLst>
      <p:ext uri="{BB962C8B-B14F-4D97-AF65-F5344CB8AC3E}">
        <p14:creationId xmlns:p14="http://schemas.microsoft.com/office/powerpoint/2010/main" xmlns="" val="990099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E8C303-BEB9-4D75-9ED3-03D30F5F8E88}"/>
              </a:ext>
            </a:extLst>
          </p:cNvPr>
          <p:cNvSpPr>
            <a:spLocks noGrp="1"/>
          </p:cNvSpPr>
          <p:nvPr>
            <p:ph type="title"/>
          </p:nvPr>
        </p:nvSpPr>
        <p:spPr/>
        <p:txBody>
          <a:bodyPr/>
          <a:lstStyle/>
          <a:p>
            <a:r>
              <a:rPr lang="en-IN" dirty="0"/>
              <a:t>Optimal substructure</a:t>
            </a:r>
          </a:p>
        </p:txBody>
      </p:sp>
      <p:sp>
        <p:nvSpPr>
          <p:cNvPr id="3" name="Content Placeholder 2">
            <a:extLst>
              <a:ext uri="{FF2B5EF4-FFF2-40B4-BE49-F238E27FC236}">
                <a16:creationId xmlns:a16="http://schemas.microsoft.com/office/drawing/2014/main" xmlns="" id="{2FCE97EF-8180-4FE9-A9C6-C49366666E59}"/>
              </a:ext>
            </a:extLst>
          </p:cNvPr>
          <p:cNvSpPr>
            <a:spLocks noGrp="1"/>
          </p:cNvSpPr>
          <p:nvPr>
            <p:ph idx="1"/>
          </p:nvPr>
        </p:nvSpPr>
        <p:spPr/>
        <p:txBody>
          <a:bodyPr>
            <a:normAutofit/>
          </a:bodyPr>
          <a:lstStyle/>
          <a:p>
            <a:r>
              <a:rPr lang="en-US" dirty="0"/>
              <a:t>Consider the graph shown in Fig. 13.3. Consider the best route to visit the city v from city u. </a:t>
            </a:r>
          </a:p>
          <a:p>
            <a:r>
              <a:rPr lang="en-US" dirty="0"/>
              <a:t>This problem can be broken into a problem of finding a route from u to x and from x to v. If &lt;u, x&gt; is the optimal route from u to x, and the best route from x to v is &lt;x, v&gt;, then the best route from u to v can be built on the optimal solutions of its two subproblems. In other words, the route constructed on the suboptimal optimal routes must also be optimal.</a:t>
            </a:r>
          </a:p>
          <a:p>
            <a:r>
              <a:rPr lang="en-US" dirty="0"/>
              <a:t>The general template for solving dynamic programming looks like this:</a:t>
            </a:r>
          </a:p>
          <a:p>
            <a:r>
              <a:rPr lang="en-US" dirty="0"/>
              <a:t>Step 1: The given problem is divided into many subproblems, as in the case of the divide-and-conquer strategy. In divide and conquer, the subproblems are independent of each other; however, in the dynamic programming case, the subproblems are not independent of each other, but they are interrelated and hence are overlapping subproblems. </a:t>
            </a:r>
            <a:endParaRPr lang="en-IN" dirty="0"/>
          </a:p>
        </p:txBody>
      </p:sp>
    </p:spTree>
    <p:extLst>
      <p:ext uri="{BB962C8B-B14F-4D97-AF65-F5344CB8AC3E}">
        <p14:creationId xmlns:p14="http://schemas.microsoft.com/office/powerpoint/2010/main" xmlns="" val="3891947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6D1593-A1CD-49FD-96BC-13D436B2D131}"/>
              </a:ext>
            </a:extLst>
          </p:cNvPr>
          <p:cNvSpPr>
            <a:spLocks noGrp="1"/>
          </p:cNvSpPr>
          <p:nvPr>
            <p:ph type="title"/>
          </p:nvPr>
        </p:nvSpPr>
        <p:spPr/>
        <p:txBody>
          <a:bodyPr/>
          <a:lstStyle/>
          <a:p>
            <a:r>
              <a:rPr lang="en-IN" dirty="0"/>
              <a:t>Optimal substructure</a:t>
            </a:r>
          </a:p>
        </p:txBody>
      </p:sp>
      <p:sp>
        <p:nvSpPr>
          <p:cNvPr id="3" name="Content Placeholder 2">
            <a:extLst>
              <a:ext uri="{FF2B5EF4-FFF2-40B4-BE49-F238E27FC236}">
                <a16:creationId xmlns:a16="http://schemas.microsoft.com/office/drawing/2014/main" xmlns="" id="{A9C98912-E4D5-4D64-99DB-F53F6CBB64CD}"/>
              </a:ext>
            </a:extLst>
          </p:cNvPr>
          <p:cNvSpPr>
            <a:spLocks noGrp="1"/>
          </p:cNvSpPr>
          <p:nvPr>
            <p:ph idx="1"/>
          </p:nvPr>
        </p:nvSpPr>
        <p:spPr/>
        <p:txBody>
          <a:bodyPr>
            <a:normAutofit/>
          </a:bodyPr>
          <a:lstStyle/>
          <a:p>
            <a:r>
              <a:rPr lang="en-US" dirty="0"/>
              <a:t>Step 2: A table is created to avoid the </a:t>
            </a:r>
            <a:r>
              <a:rPr lang="en-US" dirty="0" err="1"/>
              <a:t>recomputation</a:t>
            </a:r>
            <a:r>
              <a:rPr lang="en-US" dirty="0"/>
              <a:t> of multiple overlapping subproblems repeatedly; a table is created. Whenever a subproblem is solved, its solution is stored in the table, so that its solutions can be reused.</a:t>
            </a:r>
          </a:p>
          <a:p>
            <a:r>
              <a:rPr lang="en-US" dirty="0"/>
              <a:t>Step 3.The solutions of the subproblems are combined in a bottom-up manner to obtain the final solution of the given problem </a:t>
            </a:r>
          </a:p>
          <a:p>
            <a:r>
              <a:rPr lang="en-US" dirty="0"/>
              <a:t>The essential steps are thus:</a:t>
            </a:r>
          </a:p>
          <a:p>
            <a:pPr marL="0" indent="0">
              <a:buNone/>
            </a:pPr>
            <a:r>
              <a:rPr lang="en-US" dirty="0"/>
              <a:t>1. It is breaking the problems into its subproblems.</a:t>
            </a:r>
          </a:p>
          <a:p>
            <a:pPr marL="0" indent="0">
              <a:buNone/>
            </a:pPr>
            <a:r>
              <a:rPr lang="en-US" dirty="0"/>
              <a:t>2. Creating a lookup table that contains the solutions of the subproblems.</a:t>
            </a:r>
          </a:p>
          <a:p>
            <a:pPr marL="0" indent="0">
              <a:buNone/>
            </a:pPr>
            <a:r>
              <a:rPr lang="en-US" dirty="0"/>
              <a:t>3. Reuse the solutions of the subproblems stored in the table to construct solutions to the given problem.</a:t>
            </a:r>
            <a:endParaRPr lang="en-IN" dirty="0"/>
          </a:p>
        </p:txBody>
      </p:sp>
    </p:spTree>
    <p:extLst>
      <p:ext uri="{BB962C8B-B14F-4D97-AF65-F5344CB8AC3E}">
        <p14:creationId xmlns:p14="http://schemas.microsoft.com/office/powerpoint/2010/main" xmlns="" val="561479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3A10B1-B51F-400D-BFBB-4D663B9A01F8}"/>
              </a:ext>
            </a:extLst>
          </p:cNvPr>
          <p:cNvSpPr>
            <a:spLocks noGrp="1"/>
          </p:cNvSpPr>
          <p:nvPr>
            <p:ph type="title"/>
          </p:nvPr>
        </p:nvSpPr>
        <p:spPr/>
        <p:txBody>
          <a:bodyPr/>
          <a:lstStyle/>
          <a:p>
            <a:r>
              <a:rPr lang="en-IN" dirty="0"/>
              <a:t>Optimal substructure</a:t>
            </a:r>
          </a:p>
        </p:txBody>
      </p:sp>
      <p:sp>
        <p:nvSpPr>
          <p:cNvPr id="3" name="Content Placeholder 2">
            <a:extLst>
              <a:ext uri="{FF2B5EF4-FFF2-40B4-BE49-F238E27FC236}">
                <a16:creationId xmlns:a16="http://schemas.microsoft.com/office/drawing/2014/main" xmlns="" id="{1229F305-3C28-4022-8F1E-D4848569DC6E}"/>
              </a:ext>
            </a:extLst>
          </p:cNvPr>
          <p:cNvSpPr>
            <a:spLocks noGrp="1"/>
          </p:cNvSpPr>
          <p:nvPr>
            <p:ph idx="1"/>
          </p:nvPr>
        </p:nvSpPr>
        <p:spPr/>
        <p:txBody>
          <a:bodyPr>
            <a:normAutofit/>
          </a:bodyPr>
          <a:lstStyle/>
          <a:p>
            <a:pPr marL="0" indent="0">
              <a:buNone/>
            </a:pPr>
            <a:r>
              <a:rPr lang="en-US" dirty="0"/>
              <a:t>Dynamic programming uses the lookup table in both a top-down manner and a bottom-up manner. The top-down approach is called the memorization technique, and the bottom-up manner is called the tabulation method.</a:t>
            </a:r>
          </a:p>
          <a:p>
            <a:pPr marL="0" indent="0">
              <a:buNone/>
            </a:pPr>
            <a:r>
              <a:rPr lang="en-US" b="1" dirty="0"/>
              <a:t>1. </a:t>
            </a:r>
            <a:r>
              <a:rPr lang="en-US" b="1" dirty="0" err="1"/>
              <a:t>Memoization</a:t>
            </a:r>
            <a:r>
              <a:rPr lang="en-US" b="1" dirty="0"/>
              <a:t> technique:</a:t>
            </a:r>
            <a:r>
              <a:rPr lang="en-US" dirty="0"/>
              <a:t> This method looks into a table to check whether the table has any entries. The lookup table Contains entries such as ‘NIL’ or ‘undefined’. If no value is present, then it is computed. Otherwise, the pre-computed value is reused. In other words, computation follows a top-down method similar to the recursion approach.</a:t>
            </a:r>
          </a:p>
          <a:p>
            <a:pPr marL="0" indent="0">
              <a:buNone/>
            </a:pPr>
            <a:r>
              <a:rPr lang="en-US" b="1" dirty="0"/>
              <a:t>2. Tabulation method: </a:t>
            </a:r>
            <a:r>
              <a:rPr lang="en-US" dirty="0"/>
              <a:t>Here, the problem is solved from scratch. The smallest subproblem is solved, and its value is stored in the table. Its value is used later for solving larger problems. In other words, computation follows a bottom-up method.</a:t>
            </a:r>
            <a:endParaRPr lang="en-IN" dirty="0"/>
          </a:p>
        </p:txBody>
      </p:sp>
    </p:spTree>
    <p:extLst>
      <p:ext uri="{BB962C8B-B14F-4D97-AF65-F5344CB8AC3E}">
        <p14:creationId xmlns:p14="http://schemas.microsoft.com/office/powerpoint/2010/main" xmlns="" val="3944254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DEBDCB-E498-46EA-BE7A-7937ED267F48}"/>
              </a:ext>
            </a:extLst>
          </p:cNvPr>
          <p:cNvSpPr>
            <a:spLocks noGrp="1"/>
          </p:cNvSpPr>
          <p:nvPr>
            <p:ph type="title"/>
          </p:nvPr>
        </p:nvSpPr>
        <p:spPr/>
        <p:txBody>
          <a:bodyPr/>
          <a:lstStyle/>
          <a:p>
            <a:r>
              <a:rPr lang="en-US" dirty="0"/>
              <a:t>FIBONACCI PROBLEM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427D3DD8-19DB-4DB7-B7E2-BB7C4A981E94}"/>
                  </a:ext>
                </a:extLst>
              </p:cNvPr>
              <p:cNvSpPr>
                <a:spLocks noGrp="1"/>
              </p:cNvSpPr>
              <p:nvPr>
                <p:ph idx="1"/>
              </p:nvPr>
            </p:nvSpPr>
            <p:spPr/>
            <p:txBody>
              <a:bodyPr>
                <a:normAutofit/>
              </a:bodyPr>
              <a:lstStyle/>
              <a:p>
                <a:r>
                  <a:rPr lang="en-US" dirty="0"/>
                  <a:t>The Fibonacci sequence is given as (0, 1, 1, 2, 3, 5, 8, 13, …). The following recurrence equations can generate this sequence: </a:t>
                </a:r>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0</m:t>
                          </m:r>
                        </m:sub>
                      </m:sSub>
                      <m:r>
                        <a:rPr lang="en-US" sz="2300" b="0" i="1" smtClean="0">
                          <a:latin typeface="Cambria Math" panose="02040503050406030204" pitchFamily="18" charset="0"/>
                        </a:rPr>
                        <m:t>=0</m:t>
                      </m:r>
                    </m:oMath>
                  </m:oMathPara>
                </a14:m>
                <a:endParaRPr lang="en-US" sz="2300" b="0" dirty="0"/>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1</m:t>
                          </m:r>
                        </m:sub>
                      </m:sSub>
                      <m:r>
                        <a:rPr lang="en-US" sz="2300" b="0" i="1" smtClean="0">
                          <a:latin typeface="Cambria Math" panose="02040503050406030204" pitchFamily="18" charset="0"/>
                        </a:rPr>
                        <m:t>=1</m:t>
                      </m:r>
                    </m:oMath>
                  </m:oMathPara>
                </a14:m>
                <a:endParaRPr lang="en-US" sz="2300" b="0" dirty="0"/>
              </a:p>
              <a:p>
                <a:pPr marL="1828800" lvl="4" indent="0">
                  <a:buNone/>
                </a:pPr>
                <a14:m>
                  <m:oMathPara xmlns:m="http://schemas.openxmlformats.org/officeDocument/2006/math">
                    <m:oMathParaPr>
                      <m:jc m:val="centerGroup"/>
                    </m:oMathParaPr>
                    <m:oMath xmlns:m="http://schemas.openxmlformats.org/officeDocument/2006/math">
                      <m:sSub>
                        <m:sSubPr>
                          <m:ctrlPr>
                            <a:rPr lang="en-US" sz="230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r>
                            <a:rPr lang="en-US" sz="2300" b="0" i="1" smtClean="0">
                              <a:latin typeface="Cambria Math" panose="02040503050406030204" pitchFamily="18" charset="0"/>
                            </a:rPr>
                            <m:t>−1</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𝐹</m:t>
                          </m:r>
                        </m:e>
                        <m:sub>
                          <m:r>
                            <a:rPr lang="en-US" sz="2300" b="0" i="1" smtClean="0">
                              <a:latin typeface="Cambria Math" panose="02040503050406030204" pitchFamily="18" charset="0"/>
                            </a:rPr>
                            <m:t>𝑛</m:t>
                          </m:r>
                          <m:r>
                            <a:rPr lang="en-US" sz="2300" b="0" i="1" smtClean="0">
                              <a:latin typeface="Cambria Math" panose="02040503050406030204" pitchFamily="18" charset="0"/>
                            </a:rPr>
                            <m:t>−2 </m:t>
                          </m:r>
                        </m:sub>
                      </m:sSub>
                      <m:r>
                        <a:rPr lang="en-US" sz="2300" b="0" i="1" smtClean="0">
                          <a:latin typeface="Cambria Math" panose="02040503050406030204" pitchFamily="18" charset="0"/>
                        </a:rPr>
                        <m:t>   </m:t>
                      </m:r>
                      <m:r>
                        <a:rPr lang="en-US" sz="2300" b="0" i="1" smtClean="0">
                          <a:latin typeface="Cambria Math" panose="02040503050406030204" pitchFamily="18" charset="0"/>
                        </a:rPr>
                        <m:t>𝑓𝑜𝑟</m:t>
                      </m:r>
                      <m:r>
                        <a:rPr lang="en-US" sz="2300" b="0" i="1" smtClean="0">
                          <a:latin typeface="Cambria Math" panose="02040503050406030204" pitchFamily="18" charset="0"/>
                        </a:rPr>
                        <m:t> </m:t>
                      </m:r>
                      <m:r>
                        <a:rPr lang="en-US" sz="2300" b="0" i="1" smtClean="0">
                          <a:latin typeface="Cambria Math" panose="02040503050406030204" pitchFamily="18" charset="0"/>
                        </a:rPr>
                        <m:t>𝑛</m:t>
                      </m:r>
                      <m:r>
                        <a:rPr lang="en-US" sz="2300" b="0" i="1" smtClean="0">
                          <a:latin typeface="Cambria Math" panose="02040503050406030204" pitchFamily="18" charset="0"/>
                        </a:rPr>
                        <m:t>≥2</m:t>
                      </m:r>
                    </m:oMath>
                  </m:oMathPara>
                </a14:m>
                <a:endParaRPr lang="en-US" sz="2300" dirty="0"/>
              </a:p>
              <a:p>
                <a:r>
                  <a:rPr lang="en-US" dirty="0"/>
                  <a:t>The best way to solve this problem is to use the dynamic programming approach, in which the results of the intermediate problems are stored. Consequently, results of the previously computed subproblems can be used instead of recomputing the subproblems repeatedly. Thus, a subproblem is computed only once, and the exponential algorithm is reduced to a polynomial algorithm. </a:t>
                </a:r>
              </a:p>
              <a:p>
                <a:r>
                  <a:rPr lang="en-US" dirty="0"/>
                  <a:t>A table is created to store the intermediate results, a table is created, and its values are reused.</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427D3DD8-19DB-4DB7-B7E2-BB7C4A981E94}"/>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r="-642"/>
                </a:stretch>
              </a:blipFill>
            </p:spPr>
            <p:txBody>
              <a:bodyPr/>
              <a:lstStyle/>
              <a:p>
                <a:r>
                  <a:rPr lang="en-US">
                    <a:noFill/>
                  </a:rPr>
                  <a:t> </a:t>
                </a:r>
              </a:p>
            </p:txBody>
          </p:sp>
        </mc:Fallback>
      </mc:AlternateContent>
    </p:spTree>
    <p:extLst>
      <p:ext uri="{BB962C8B-B14F-4D97-AF65-F5344CB8AC3E}">
        <p14:creationId xmlns:p14="http://schemas.microsoft.com/office/powerpoint/2010/main" xmlns="" val="276009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0F3FC8-7CDB-431D-A987-7D3C74238ECE}"/>
              </a:ext>
            </a:extLst>
          </p:cNvPr>
          <p:cNvSpPr>
            <a:spLocks noGrp="1"/>
          </p:cNvSpPr>
          <p:nvPr>
            <p:ph type="title"/>
          </p:nvPr>
        </p:nvSpPr>
        <p:spPr/>
        <p:txBody>
          <a:bodyPr/>
          <a:lstStyle/>
          <a:p>
            <a:r>
              <a:rPr lang="en-US" dirty="0"/>
              <a:t>Bottom-up approach</a:t>
            </a:r>
            <a:endParaRPr lang="en-IN" dirty="0"/>
          </a:p>
        </p:txBody>
      </p:sp>
      <p:sp>
        <p:nvSpPr>
          <p:cNvPr id="3" name="Content Placeholder 2">
            <a:extLst>
              <a:ext uri="{FF2B5EF4-FFF2-40B4-BE49-F238E27FC236}">
                <a16:creationId xmlns:a16="http://schemas.microsoft.com/office/drawing/2014/main" xmlns="" id="{3A33DD9F-8CDD-4560-B30B-CFB491BDF947}"/>
              </a:ext>
            </a:extLst>
          </p:cNvPr>
          <p:cNvSpPr>
            <a:spLocks noGrp="1"/>
          </p:cNvSpPr>
          <p:nvPr>
            <p:ph idx="1"/>
          </p:nvPr>
        </p:nvSpPr>
        <p:spPr>
          <a:xfrm>
            <a:off x="838202" y="1577009"/>
            <a:ext cx="10515600" cy="5062330"/>
          </a:xfrm>
        </p:spPr>
        <p:txBody>
          <a:bodyPr>
            <a:normAutofit/>
          </a:bodyPr>
          <a:lstStyle/>
          <a:p>
            <a:r>
              <a:rPr lang="en-US" dirty="0"/>
              <a:t>An iterative loop can be used to modify this Fibonacci number computation effectively, and the resulting dynamic programming algorithm can be used to compute the n</a:t>
            </a:r>
            <a:r>
              <a:rPr lang="en-US" baseline="30000" dirty="0"/>
              <a:t>th</a:t>
            </a:r>
            <a:r>
              <a:rPr lang="en-US" dirty="0"/>
              <a:t> Fibonacci number.</a:t>
            </a:r>
          </a:p>
          <a:p>
            <a:endParaRPr lang="en-US" dirty="0"/>
          </a:p>
          <a:p>
            <a:r>
              <a:rPr lang="en-US" b="1" dirty="0"/>
              <a:t>Step 1: </a:t>
            </a:r>
            <a:r>
              <a:rPr lang="en-US" dirty="0"/>
              <a:t>Read a positive integer n.</a:t>
            </a:r>
          </a:p>
          <a:p>
            <a:r>
              <a:rPr lang="en-US" b="1" dirty="0"/>
              <a:t>Step 2:</a:t>
            </a:r>
            <a:r>
              <a:rPr lang="en-US" dirty="0"/>
              <a:t> Initialize first to 0.</a:t>
            </a:r>
          </a:p>
          <a:p>
            <a:r>
              <a:rPr lang="en-US" b="1" dirty="0"/>
              <a:t>Step 3:</a:t>
            </a:r>
            <a:r>
              <a:rPr lang="en-US" dirty="0"/>
              <a:t> Initialize second to 1.</a:t>
            </a:r>
          </a:p>
          <a:p>
            <a:r>
              <a:rPr lang="en-US" b="1" dirty="0"/>
              <a:t>Step 4:</a:t>
            </a:r>
            <a:r>
              <a:rPr lang="en-US" dirty="0"/>
              <a:t> Repeat n − 1 times.</a:t>
            </a:r>
          </a:p>
          <a:p>
            <a:r>
              <a:rPr lang="en-US" dirty="0"/>
              <a:t> </a:t>
            </a:r>
            <a:r>
              <a:rPr lang="en-US" b="1" dirty="0"/>
              <a:t>4a: </a:t>
            </a:r>
            <a:r>
              <a:rPr lang="en-US" dirty="0"/>
              <a:t>Compute current as first + second.</a:t>
            </a:r>
          </a:p>
          <a:p>
            <a:r>
              <a:rPr lang="en-US" dirty="0"/>
              <a:t> </a:t>
            </a:r>
            <a:r>
              <a:rPr lang="en-US" b="1" dirty="0"/>
              <a:t>4b:</a:t>
            </a:r>
            <a:r>
              <a:rPr lang="en-US" dirty="0"/>
              <a:t> Update first = second.</a:t>
            </a:r>
          </a:p>
          <a:p>
            <a:r>
              <a:rPr lang="en-US" dirty="0"/>
              <a:t> </a:t>
            </a:r>
            <a:r>
              <a:rPr lang="en-US" b="1" dirty="0"/>
              <a:t>4c: </a:t>
            </a:r>
            <a:r>
              <a:rPr lang="en-US" dirty="0"/>
              <a:t>Update second = current.</a:t>
            </a:r>
          </a:p>
          <a:p>
            <a:r>
              <a:rPr lang="en-US" b="1" dirty="0"/>
              <a:t>Step 5:</a:t>
            </a:r>
            <a:r>
              <a:rPr lang="en-US" dirty="0"/>
              <a:t> Return(current).</a:t>
            </a:r>
          </a:p>
          <a:p>
            <a:r>
              <a:rPr lang="en-US" b="1" dirty="0"/>
              <a:t>Step 6:</a:t>
            </a:r>
            <a:r>
              <a:rPr lang="en-US" dirty="0"/>
              <a:t> End.</a:t>
            </a:r>
          </a:p>
          <a:p>
            <a:endParaRPr lang="en-IN" dirty="0"/>
          </a:p>
        </p:txBody>
      </p:sp>
      <p:pic>
        <p:nvPicPr>
          <p:cNvPr id="4" name="Picture 3">
            <a:extLst>
              <a:ext uri="{FF2B5EF4-FFF2-40B4-BE49-F238E27FC236}">
                <a16:creationId xmlns:a16="http://schemas.microsoft.com/office/drawing/2014/main" xmlns="" id="{80889E83-A907-446F-ABAD-5B8EB9BC8B1F}"/>
              </a:ext>
            </a:extLst>
          </p:cNvPr>
          <p:cNvPicPr>
            <a:picLocks noChangeAspect="1"/>
          </p:cNvPicPr>
          <p:nvPr/>
        </p:nvPicPr>
        <p:blipFill>
          <a:blip r:embed="rId2" cstate="print"/>
          <a:stretch>
            <a:fillRect/>
          </a:stretch>
        </p:blipFill>
        <p:spPr>
          <a:xfrm>
            <a:off x="6821693" y="3269539"/>
            <a:ext cx="3982005" cy="895475"/>
          </a:xfrm>
          <a:prstGeom prst="rect">
            <a:avLst/>
          </a:prstGeom>
        </p:spPr>
      </p:pic>
    </p:spTree>
    <p:extLst>
      <p:ext uri="{BB962C8B-B14F-4D97-AF65-F5344CB8AC3E}">
        <p14:creationId xmlns:p14="http://schemas.microsoft.com/office/powerpoint/2010/main" xmlns="" val="39566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ACA2CE-F8A8-4001-A265-4CD67901B111}"/>
              </a:ext>
            </a:extLst>
          </p:cNvPr>
          <p:cNvSpPr>
            <a:spLocks noGrp="1"/>
          </p:cNvSpPr>
          <p:nvPr>
            <p:ph type="title"/>
          </p:nvPr>
        </p:nvSpPr>
        <p:spPr>
          <a:xfrm>
            <a:off x="331306" y="365125"/>
            <a:ext cx="11622156" cy="1325563"/>
          </a:xfrm>
        </p:spPr>
        <p:txBody>
          <a:bodyPr/>
          <a:lstStyle/>
          <a:p>
            <a:r>
              <a:rPr lang="en-US" dirty="0"/>
              <a:t>Fibonacci Algorithm using dynamic programming</a:t>
            </a:r>
            <a:endParaRPr lang="en-IN" dirty="0"/>
          </a:p>
        </p:txBody>
      </p:sp>
      <p:pic>
        <p:nvPicPr>
          <p:cNvPr id="4" name="Content Placeholder 3">
            <a:extLst>
              <a:ext uri="{FF2B5EF4-FFF2-40B4-BE49-F238E27FC236}">
                <a16:creationId xmlns:a16="http://schemas.microsoft.com/office/drawing/2014/main" xmlns="" id="{66309857-7FB2-42C0-9458-F0A8C88C7F30}"/>
              </a:ext>
            </a:extLst>
          </p:cNvPr>
          <p:cNvPicPr>
            <a:picLocks noGrp="1" noChangeAspect="1"/>
          </p:cNvPicPr>
          <p:nvPr>
            <p:ph idx="1"/>
          </p:nvPr>
        </p:nvPicPr>
        <p:blipFill>
          <a:blip r:embed="rId2" cstate="print"/>
          <a:stretch>
            <a:fillRect/>
          </a:stretch>
        </p:blipFill>
        <p:spPr>
          <a:xfrm>
            <a:off x="884299" y="2196055"/>
            <a:ext cx="10488489" cy="3610479"/>
          </a:xfrm>
          <a:prstGeom prst="rect">
            <a:avLst/>
          </a:prstGeom>
        </p:spPr>
      </p:pic>
    </p:spTree>
    <p:extLst>
      <p:ext uri="{BB962C8B-B14F-4D97-AF65-F5344CB8AC3E}">
        <p14:creationId xmlns:p14="http://schemas.microsoft.com/office/powerpoint/2010/main" xmlns="" val="265237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6D0E5D-3FC0-423E-934C-C502A3D3C882}"/>
              </a:ext>
            </a:extLst>
          </p:cNvPr>
          <p:cNvSpPr>
            <a:spLocks noGrp="1"/>
          </p:cNvSpPr>
          <p:nvPr>
            <p:ph type="title"/>
          </p:nvPr>
        </p:nvSpPr>
        <p:spPr/>
        <p:txBody>
          <a:bodyPr/>
          <a:lstStyle/>
          <a:p>
            <a:r>
              <a:rPr lang="en-US" dirty="0"/>
              <a:t>Top-down approach and </a:t>
            </a:r>
            <a:r>
              <a:rPr lang="en-US" dirty="0" err="1"/>
              <a:t>Memoization</a:t>
            </a:r>
            <a:endParaRPr lang="en-IN" dirty="0"/>
          </a:p>
        </p:txBody>
      </p:sp>
      <p:sp>
        <p:nvSpPr>
          <p:cNvPr id="3" name="Content Placeholder 2">
            <a:extLst>
              <a:ext uri="{FF2B5EF4-FFF2-40B4-BE49-F238E27FC236}">
                <a16:creationId xmlns:a16="http://schemas.microsoft.com/office/drawing/2014/main" xmlns="" id="{741C2A6E-7D06-475E-BF6B-84AA879F3409}"/>
              </a:ext>
            </a:extLst>
          </p:cNvPr>
          <p:cNvSpPr>
            <a:spLocks noGrp="1"/>
          </p:cNvSpPr>
          <p:nvPr>
            <p:ph idx="1"/>
          </p:nvPr>
        </p:nvSpPr>
        <p:spPr/>
        <p:txBody>
          <a:bodyPr>
            <a:normAutofit/>
          </a:bodyPr>
          <a:lstStyle/>
          <a:p>
            <a:r>
              <a:rPr lang="en-US" dirty="0"/>
              <a:t>Dynamic programming can use the top-down approach for populating and manipulating the table. </a:t>
            </a:r>
          </a:p>
          <a:p>
            <a:r>
              <a:rPr lang="en-US" b="1" dirty="0"/>
              <a:t>Step 1:</a:t>
            </a:r>
            <a:r>
              <a:rPr lang="en-US" dirty="0"/>
              <a:t> Read a positive integer n</a:t>
            </a:r>
          </a:p>
          <a:p>
            <a:r>
              <a:rPr lang="en-US" b="1" dirty="0"/>
              <a:t>Step 2:</a:t>
            </a:r>
            <a:r>
              <a:rPr lang="en-US" dirty="0"/>
              <a:t> Create a table A with n entries</a:t>
            </a:r>
          </a:p>
          <a:p>
            <a:r>
              <a:rPr lang="en-US" b="1" dirty="0"/>
              <a:t>Step 3: </a:t>
            </a:r>
            <a:r>
              <a:rPr lang="en-US" dirty="0"/>
              <a:t>Initialize table A with the status ‘undefined.’</a:t>
            </a:r>
          </a:p>
          <a:p>
            <a:r>
              <a:rPr lang="en-US" b="1" dirty="0"/>
              <a:t>Step 4: </a:t>
            </a:r>
            <a:r>
              <a:rPr lang="en-US" dirty="0"/>
              <a:t>If the table entry is ‘undefined.’</a:t>
            </a:r>
          </a:p>
          <a:p>
            <a:r>
              <a:rPr lang="en-US" b="1" dirty="0"/>
              <a:t> 4a: </a:t>
            </a:r>
            <a:r>
              <a:rPr lang="en-US" dirty="0"/>
              <a:t>Compute recursively </a:t>
            </a:r>
          </a:p>
          <a:p>
            <a:pPr marL="0" indent="0">
              <a:buNone/>
            </a:pPr>
            <a:r>
              <a:rPr lang="en-US" dirty="0"/>
              <a:t>	</a:t>
            </a:r>
            <a:r>
              <a:rPr lang="en-US" dirty="0" err="1"/>
              <a:t>mem_Fib</a:t>
            </a:r>
            <a:r>
              <a:rPr lang="en-US" dirty="0"/>
              <a:t>(n) = </a:t>
            </a:r>
            <a:r>
              <a:rPr lang="en-US" dirty="0" err="1"/>
              <a:t>mem_Fib</a:t>
            </a:r>
            <a:r>
              <a:rPr lang="en-US" dirty="0"/>
              <a:t>(n − 1) + </a:t>
            </a:r>
            <a:r>
              <a:rPr lang="en-US" dirty="0" err="1"/>
              <a:t>mem_Fib</a:t>
            </a:r>
            <a:r>
              <a:rPr lang="en-US" dirty="0"/>
              <a:t>(n − 2)</a:t>
            </a:r>
          </a:p>
          <a:p>
            <a:pPr marL="0" indent="0">
              <a:buNone/>
            </a:pPr>
            <a:r>
              <a:rPr lang="en-US" dirty="0"/>
              <a:t>	else</a:t>
            </a:r>
          </a:p>
          <a:p>
            <a:pPr marL="0" indent="0">
              <a:buNone/>
            </a:pPr>
            <a:r>
              <a:rPr lang="en-US" dirty="0"/>
              <a:t>	return table value</a:t>
            </a:r>
          </a:p>
          <a:p>
            <a:r>
              <a:rPr lang="en-US" b="1" dirty="0"/>
              <a:t>Step 5: </a:t>
            </a:r>
            <a:r>
              <a:rPr lang="en-US" dirty="0"/>
              <a:t>Return(</a:t>
            </a:r>
            <a:r>
              <a:rPr lang="en-US" dirty="0" err="1"/>
              <a:t>mem_Fibonacci</a:t>
            </a:r>
            <a:r>
              <a:rPr lang="en-US" dirty="0"/>
              <a:t>(A, n))</a:t>
            </a:r>
            <a:endParaRPr lang="en-IN" dirty="0"/>
          </a:p>
        </p:txBody>
      </p:sp>
    </p:spTree>
    <p:extLst>
      <p:ext uri="{BB962C8B-B14F-4D97-AF65-F5344CB8AC3E}">
        <p14:creationId xmlns:p14="http://schemas.microsoft.com/office/powerpoint/2010/main" xmlns="" val="1174372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7EC7B8-2F4C-4164-9A5E-E3F223EDCFC3}"/>
              </a:ext>
            </a:extLst>
          </p:cNvPr>
          <p:cNvSpPr>
            <a:spLocks noGrp="1"/>
          </p:cNvSpPr>
          <p:nvPr>
            <p:ph type="title"/>
          </p:nvPr>
        </p:nvSpPr>
        <p:spPr/>
        <p:txBody>
          <a:bodyPr/>
          <a:lstStyle/>
          <a:p>
            <a:r>
              <a:rPr lang="en-US" dirty="0" err="1"/>
              <a:t>Memoization</a:t>
            </a:r>
            <a:r>
              <a:rPr lang="en-US" dirty="0"/>
              <a:t> technique algorithm</a:t>
            </a:r>
            <a:endParaRPr lang="en-IN" dirty="0"/>
          </a:p>
        </p:txBody>
      </p:sp>
      <p:pic>
        <p:nvPicPr>
          <p:cNvPr id="4" name="Content Placeholder 3">
            <a:extLst>
              <a:ext uri="{FF2B5EF4-FFF2-40B4-BE49-F238E27FC236}">
                <a16:creationId xmlns:a16="http://schemas.microsoft.com/office/drawing/2014/main" xmlns="" id="{C32F08EF-04CD-4B28-BD9D-5974D9C402CF}"/>
              </a:ext>
            </a:extLst>
          </p:cNvPr>
          <p:cNvPicPr>
            <a:picLocks noGrp="1" noChangeAspect="1"/>
          </p:cNvPicPr>
          <p:nvPr>
            <p:ph idx="1"/>
          </p:nvPr>
        </p:nvPicPr>
        <p:blipFill>
          <a:blip r:embed="rId2" cstate="print"/>
          <a:stretch>
            <a:fillRect/>
          </a:stretch>
        </p:blipFill>
        <p:spPr>
          <a:xfrm>
            <a:off x="860483" y="2381818"/>
            <a:ext cx="10536121" cy="3238952"/>
          </a:xfrm>
          <a:prstGeom prst="rect">
            <a:avLst/>
          </a:prstGeom>
        </p:spPr>
      </p:pic>
    </p:spTree>
    <p:extLst>
      <p:ext uri="{BB962C8B-B14F-4D97-AF65-F5344CB8AC3E}">
        <p14:creationId xmlns:p14="http://schemas.microsoft.com/office/powerpoint/2010/main" xmlns="" val="1360734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6CFB89-F36A-4EDB-B4D4-09E6787B1EED}"/>
              </a:ext>
            </a:extLst>
          </p:cNvPr>
          <p:cNvSpPr>
            <a:spLocks noGrp="1"/>
          </p:cNvSpPr>
          <p:nvPr>
            <p:ph type="title"/>
          </p:nvPr>
        </p:nvSpPr>
        <p:spPr/>
        <p:txBody>
          <a:bodyPr/>
          <a:lstStyle/>
          <a:p>
            <a:r>
              <a:rPr lang="en-US" dirty="0"/>
              <a:t>COMPUTING BINOMIAL COEFFICIENTS</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01C0D527-C9D3-41C9-8C3F-D478425B2D9B}"/>
                  </a:ext>
                </a:extLst>
              </p:cNvPr>
              <p:cNvSpPr>
                <a:spLocks noGrp="1"/>
              </p:cNvSpPr>
              <p:nvPr>
                <p:ph idx="1"/>
              </p:nvPr>
            </p:nvSpPr>
            <p:spPr/>
            <p:txBody>
              <a:bodyPr/>
              <a:lstStyle/>
              <a:p>
                <a:r>
                  <a:rPr lang="en-US" dirty="0"/>
                  <a:t> Given a positive integer </a:t>
                </a:r>
                <a14:m>
                  <m:oMath xmlns:m="http://schemas.openxmlformats.org/officeDocument/2006/math">
                    <m:r>
                      <a:rPr lang="en-US" i="1" dirty="0" smtClean="0">
                        <a:latin typeface="Cambria Math" panose="02040503050406030204" pitchFamily="18" charset="0"/>
                      </a:rPr>
                      <m:t>𝑛</m:t>
                    </m:r>
                  </m:oMath>
                </a14:m>
                <a:r>
                  <a:rPr lang="en-US" dirty="0"/>
                  <a:t> and any real number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 the expansion of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𝑏</m:t>
                    </m:r>
                    <m:r>
                      <a:rPr lang="en-US" i="1" dirty="0" smtClean="0">
                        <a:latin typeface="Cambria Math" panose="02040503050406030204" pitchFamily="18" charset="0"/>
                      </a:rPr>
                      <m:t>)</m:t>
                    </m:r>
                    <m:r>
                      <a:rPr lang="en-US" i="1" baseline="30000" dirty="0" smtClean="0">
                        <a:latin typeface="Cambria Math" panose="02040503050406030204" pitchFamily="18" charset="0"/>
                      </a:rPr>
                      <m:t>𝑛</m:t>
                    </m:r>
                    <m:r>
                      <a:rPr lang="en-US" i="1" baseline="30000" dirty="0" smtClean="0">
                        <a:latin typeface="Cambria Math" panose="02040503050406030204" pitchFamily="18" charset="0"/>
                      </a:rPr>
                      <m:t> </m:t>
                    </m:r>
                  </m:oMath>
                </a14:m>
                <a:r>
                  <a:rPr lang="en-US" dirty="0"/>
                  <a:t>is done as follows:</a:t>
                </a:r>
              </a:p>
              <a:p>
                <a:endParaRPr lang="en-US" dirty="0"/>
              </a:p>
              <a:p>
                <a:endParaRPr lang="en-US" dirty="0"/>
              </a:p>
              <a:p>
                <a:r>
                  <a:rPr lang="en-US" dirty="0"/>
                  <a:t>Binomial coefficients represented as </a:t>
                </a:r>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r>
                      <a:rPr lang="en-US" i="1" dirty="0" smtClean="0">
                        <a:latin typeface="Cambria Math" panose="02040503050406030204" pitchFamily="18" charset="0"/>
                      </a:rPr>
                      <m:t>𝑘</m:t>
                    </m:r>
                    <m:r>
                      <a:rPr lang="en-US" i="1" dirty="0" smtClean="0">
                        <a:latin typeface="Cambria Math" panose="02040503050406030204" pitchFamily="18" charset="0"/>
                      </a:rPr>
                      <m:t>) </m:t>
                    </m:r>
                  </m:oMath>
                </a14:m>
                <a:r>
                  <a:rPr lang="en-US" dirty="0"/>
                  <a:t>or </a:t>
                </a:r>
                <a14:m>
                  <m:oMath xmlns:m="http://schemas.openxmlformats.org/officeDocument/2006/math">
                    <m:r>
                      <a:rPr lang="en-US" i="1" dirty="0" smtClean="0">
                        <a:latin typeface="Cambria Math" panose="02040503050406030204" pitchFamily="18" charset="0"/>
                      </a:rPr>
                      <m:t>𝑛𝐶𝑘</m:t>
                    </m:r>
                  </m:oMath>
                </a14:m>
                <a:r>
                  <a:rPr lang="en-US" dirty="0"/>
                  <a:t>, can be used to represent the coefficients of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𝑎</m:t>
                    </m:r>
                    <m:r>
                      <a:rPr lang="en-US" i="1" dirty="0" smtClean="0">
                        <a:latin typeface="Cambria Math" panose="02040503050406030204" pitchFamily="18" charset="0"/>
                      </a:rPr>
                      <m:t> + </m:t>
                    </m:r>
                    <m:r>
                      <a:rPr lang="en-US" i="1" dirty="0" smtClean="0">
                        <a:latin typeface="Cambria Math" panose="02040503050406030204" pitchFamily="18" charset="0"/>
                      </a:rPr>
                      <m:t>𝑏</m:t>
                    </m:r>
                    <m:r>
                      <a:rPr lang="en-US" i="1" dirty="0" smtClean="0">
                        <a:latin typeface="Cambria Math" panose="02040503050406030204" pitchFamily="18" charset="0"/>
                      </a:rPr>
                      <m:t>)</m:t>
                    </m:r>
                    <m:r>
                      <a:rPr lang="en-US" i="1" baseline="30000" dirty="0" smtClean="0">
                        <a:latin typeface="Cambria Math" panose="02040503050406030204" pitchFamily="18" charset="0"/>
                      </a:rPr>
                      <m:t>𝑛</m:t>
                    </m:r>
                  </m:oMath>
                </a14:m>
                <a:endParaRPr lang="en-US" dirty="0"/>
              </a:p>
              <a:p>
                <a:r>
                  <a:rPr lang="en-US" dirty="0"/>
                  <a:t>Where, C=Combination,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𝑛</m:t>
                              </m:r>
                            </m:e>
                          </m:mr>
                          <m:mr>
                            <m:e>
                              <m:r>
                                <a:rPr lang="en-US" b="0" i="1" smtClean="0">
                                  <a:latin typeface="Cambria Math" panose="02040503050406030204" pitchFamily="18" charset="0"/>
                                </a:rPr>
                                <m:t>𝑘</m:t>
                              </m:r>
                            </m:e>
                          </m:mr>
                        </m:m>
                      </m:e>
                    </m:d>
                  </m:oMath>
                </a14:m>
                <a:endParaRPr lang="en-US" dirty="0"/>
              </a:p>
              <a:p>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01C0D527-C9D3-41C9-8C3F-D478425B2D9B}"/>
                  </a:ext>
                </a:extLst>
              </p:cNvPr>
              <p:cNvSpPr>
                <a:spLocks noGrp="1" noRot="1" noChangeAspect="1" noMove="1" noResize="1" noEditPoints="1" noAdjustHandles="1" noChangeArrowheads="1" noChangeShapeType="1" noTextEdit="1"/>
              </p:cNvSpPr>
              <p:nvPr>
                <p:ph idx="1"/>
              </p:nvPr>
            </p:nvSpPr>
            <p:spPr>
              <a:blipFill>
                <a:blip r:embed="rId2" cstate="print"/>
                <a:stretch>
                  <a:fillRect l="-1043" t="-2241"/>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xmlns="" id="{CC66EB9B-7783-4267-91ED-93B50A0B5438}"/>
              </a:ext>
            </a:extLst>
          </p:cNvPr>
          <p:cNvPicPr>
            <a:picLocks noChangeAspect="1"/>
          </p:cNvPicPr>
          <p:nvPr/>
        </p:nvPicPr>
        <p:blipFill>
          <a:blip r:embed="rId3" cstate="print"/>
          <a:stretch>
            <a:fillRect/>
          </a:stretch>
        </p:blipFill>
        <p:spPr>
          <a:xfrm>
            <a:off x="2451654" y="2789552"/>
            <a:ext cx="6318366" cy="639449"/>
          </a:xfrm>
          <a:prstGeom prst="rect">
            <a:avLst/>
          </a:prstGeom>
        </p:spPr>
      </p:pic>
    </p:spTree>
    <p:extLst>
      <p:ext uri="{BB962C8B-B14F-4D97-AF65-F5344CB8AC3E}">
        <p14:creationId xmlns:p14="http://schemas.microsoft.com/office/powerpoint/2010/main" xmlns="" val="3566020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13D2CF-E8AD-404A-871F-FB5F3258516F}"/>
              </a:ext>
            </a:extLst>
          </p:cNvPr>
          <p:cNvSpPr>
            <a:spLocks noGrp="1"/>
          </p:cNvSpPr>
          <p:nvPr>
            <p:ph type="title"/>
          </p:nvPr>
        </p:nvSpPr>
        <p:spPr/>
        <p:txBody>
          <a:bodyPr/>
          <a:lstStyle/>
          <a:p>
            <a:r>
              <a:rPr lang="en-US" dirty="0"/>
              <a:t>COMPUTING BINOMIAL COEFFICIENTS</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00E9A82A-1DC4-4A26-BAC7-A010C2E2B4FD}"/>
                  </a:ext>
                </a:extLst>
              </p:cNvPr>
              <p:cNvSpPr>
                <a:spLocks noGrp="1"/>
              </p:cNvSpPr>
              <p:nvPr>
                <p:ph idx="1"/>
              </p:nvPr>
            </p:nvSpPr>
            <p:spPr/>
            <p:txBody>
              <a:bodyPr/>
              <a:lstStyle/>
              <a:p>
                <a:r>
                  <a:rPr lang="en-US" dirty="0"/>
                  <a:t>The binomial coefficient can be computed using the following formula:</a:t>
                </a:r>
              </a:p>
              <a:p>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r>
                          <a:rPr lang="en-US" b="0" i="1" smtClean="0">
                            <a:latin typeface="Cambria Math" panose="02040503050406030204" pitchFamily="18" charset="0"/>
                          </a:rPr>
                          <m:t>𝑘</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den>
                    </m:f>
                    <m:r>
                      <a:rPr lang="en-US" b="0" i="1" smtClean="0">
                        <a:latin typeface="Cambria Math" panose="02040503050406030204" pitchFamily="18" charset="0"/>
                      </a:rPr>
                      <m:t> </m:t>
                    </m:r>
                  </m:oMath>
                </a14:m>
                <a:r>
                  <a:rPr lang="en-IN" dirty="0"/>
                  <a:t> </a:t>
                </a:r>
                <a:r>
                  <a:rPr lang="en-US" dirty="0"/>
                  <a:t> for non-negative integers n and k. And, by convention, </a:t>
                </a:r>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(0,0) </m:t>
                    </m:r>
                  </m:oMath>
                </a14:m>
                <a:r>
                  <a:rPr lang="en-US" dirty="0"/>
                  <a:t>= 1.</a:t>
                </a:r>
              </a:p>
              <a:p>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00E9A82A-1DC4-4A26-BAC7-A010C2E2B4FD}"/>
                  </a:ext>
                </a:extLst>
              </p:cNvPr>
              <p:cNvSpPr>
                <a:spLocks noGrp="1" noRot="1" noChangeAspect="1" noMove="1" noResize="1" noEditPoints="1" noAdjustHandles="1" noChangeArrowheads="1" noChangeShapeType="1" noTextEdit="1"/>
              </p:cNvSpPr>
              <p:nvPr>
                <p:ph idx="1"/>
              </p:nvPr>
            </p:nvSpPr>
            <p:spPr>
              <a:blipFill>
                <a:blip r:embed="rId2" cstate="print"/>
                <a:stretch>
                  <a:fillRect l="-1043" t="-224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xmlns="" id="{1EDE3323-436E-423A-83CA-EDB994114461}"/>
              </a:ext>
            </a:extLst>
          </p:cNvPr>
          <p:cNvPicPr>
            <a:picLocks noChangeAspect="1"/>
          </p:cNvPicPr>
          <p:nvPr/>
        </p:nvPicPr>
        <p:blipFill>
          <a:blip r:embed="rId3" cstate="print"/>
          <a:stretch>
            <a:fillRect/>
          </a:stretch>
        </p:blipFill>
        <p:spPr>
          <a:xfrm>
            <a:off x="1144575" y="3863609"/>
            <a:ext cx="10088382" cy="2629267"/>
          </a:xfrm>
          <a:prstGeom prst="rect">
            <a:avLst/>
          </a:prstGeom>
        </p:spPr>
      </p:pic>
    </p:spTree>
    <p:extLst>
      <p:ext uri="{BB962C8B-B14F-4D97-AF65-F5344CB8AC3E}">
        <p14:creationId xmlns:p14="http://schemas.microsoft.com/office/powerpoint/2010/main" xmlns="" val="4037812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3A2BF5-E972-4375-8ACA-11764744466E}"/>
              </a:ext>
            </a:extLst>
          </p:cNvPr>
          <p:cNvSpPr>
            <a:spLocks noGrp="1"/>
          </p:cNvSpPr>
          <p:nvPr>
            <p:ph type="title"/>
          </p:nvPr>
        </p:nvSpPr>
        <p:spPr/>
        <p:txBody>
          <a:bodyPr/>
          <a:lstStyle/>
          <a:p>
            <a:r>
              <a:rPr lang="en-US" dirty="0"/>
              <a:t>Computing binomial coefficients Algorithm</a:t>
            </a:r>
            <a:endParaRPr lang="en-IN" dirty="0"/>
          </a:p>
        </p:txBody>
      </p:sp>
      <p:pic>
        <p:nvPicPr>
          <p:cNvPr id="4" name="Content Placeholder 3">
            <a:extLst>
              <a:ext uri="{FF2B5EF4-FFF2-40B4-BE49-F238E27FC236}">
                <a16:creationId xmlns:a16="http://schemas.microsoft.com/office/drawing/2014/main" xmlns="" id="{FF7C834F-DA49-4827-8F6E-1FB99E716C49}"/>
              </a:ext>
            </a:extLst>
          </p:cNvPr>
          <p:cNvPicPr>
            <a:picLocks noGrp="1" noChangeAspect="1"/>
          </p:cNvPicPr>
          <p:nvPr>
            <p:ph idx="1"/>
          </p:nvPr>
        </p:nvPicPr>
        <p:blipFill>
          <a:blip r:embed="rId2" cstate="print"/>
          <a:stretch>
            <a:fillRect/>
          </a:stretch>
        </p:blipFill>
        <p:spPr>
          <a:xfrm>
            <a:off x="838202" y="1562193"/>
            <a:ext cx="10515600" cy="4321609"/>
          </a:xfrm>
          <a:prstGeom prst="rect">
            <a:avLst/>
          </a:prstGeom>
        </p:spPr>
      </p:pic>
      <p:sp>
        <p:nvSpPr>
          <p:cNvPr id="5" name="TextBox 4">
            <a:extLst>
              <a:ext uri="{FF2B5EF4-FFF2-40B4-BE49-F238E27FC236}">
                <a16:creationId xmlns:a16="http://schemas.microsoft.com/office/drawing/2014/main" xmlns="" id="{1B6031E2-B2A9-4D01-B5CC-D272729143DC}"/>
              </a:ext>
            </a:extLst>
          </p:cNvPr>
          <p:cNvSpPr txBox="1"/>
          <p:nvPr/>
        </p:nvSpPr>
        <p:spPr>
          <a:xfrm>
            <a:off x="993914" y="6034564"/>
            <a:ext cx="8865705" cy="369332"/>
          </a:xfrm>
          <a:prstGeom prst="rect">
            <a:avLst/>
          </a:prstGeom>
          <a:noFill/>
        </p:spPr>
        <p:txBody>
          <a:bodyPr wrap="square">
            <a:spAutoFit/>
          </a:bodyPr>
          <a:lstStyle/>
          <a:p>
            <a:r>
              <a:rPr lang="en-US" dirty="0"/>
              <a:t>The complexity analysis of this algorithm can be observed as O(n, k).</a:t>
            </a:r>
            <a:endParaRPr lang="en-IN" dirty="0"/>
          </a:p>
        </p:txBody>
      </p:sp>
    </p:spTree>
    <p:extLst>
      <p:ext uri="{BB962C8B-B14F-4D97-AF65-F5344CB8AC3E}">
        <p14:creationId xmlns:p14="http://schemas.microsoft.com/office/powerpoint/2010/main" xmlns="" val="367118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47D227-3B76-45AA-AD85-4CFEA5CEF46E}"/>
              </a:ext>
            </a:extLst>
          </p:cNvPr>
          <p:cNvSpPr>
            <a:spLocks noGrp="1"/>
          </p:cNvSpPr>
          <p:nvPr>
            <p:ph type="title"/>
          </p:nvPr>
        </p:nvSpPr>
        <p:spPr/>
        <p:txBody>
          <a:bodyPr/>
          <a:lstStyle/>
          <a:p>
            <a:r>
              <a:rPr lang="en-US" dirty="0"/>
              <a:t>Pascal Triangle</a:t>
            </a:r>
            <a:endParaRPr lang="en-IN" dirty="0"/>
          </a:p>
        </p:txBody>
      </p:sp>
      <p:pic>
        <p:nvPicPr>
          <p:cNvPr id="4" name="Content Placeholder 3">
            <a:extLst>
              <a:ext uri="{FF2B5EF4-FFF2-40B4-BE49-F238E27FC236}">
                <a16:creationId xmlns:a16="http://schemas.microsoft.com/office/drawing/2014/main" xmlns="" id="{52D95F16-EDE7-47DA-B430-474057ECBBDD}"/>
              </a:ext>
            </a:extLst>
          </p:cNvPr>
          <p:cNvPicPr>
            <a:picLocks noGrp="1" noChangeAspect="1"/>
          </p:cNvPicPr>
          <p:nvPr>
            <p:ph idx="1"/>
          </p:nvPr>
        </p:nvPicPr>
        <p:blipFill>
          <a:blip r:embed="rId2" cstate="print"/>
          <a:stretch>
            <a:fillRect/>
          </a:stretch>
        </p:blipFill>
        <p:spPr>
          <a:xfrm>
            <a:off x="2403749" y="2157950"/>
            <a:ext cx="7449589" cy="3686689"/>
          </a:xfrm>
          <a:prstGeom prst="rect">
            <a:avLst/>
          </a:prstGeom>
        </p:spPr>
      </p:pic>
    </p:spTree>
    <p:extLst>
      <p:ext uri="{BB962C8B-B14F-4D97-AF65-F5344CB8AC3E}">
        <p14:creationId xmlns:p14="http://schemas.microsoft.com/office/powerpoint/2010/main" xmlns="" val="3220745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49000CDD-C96C-4F03-A10B-404D036AD5E0}"/>
                  </a:ext>
                </a:extLst>
              </p:cNvPr>
              <p:cNvSpPr>
                <a:spLocks noGrp="1"/>
              </p:cNvSpPr>
              <p:nvPr>
                <p:ph idx="1"/>
              </p:nvPr>
            </p:nvSpPr>
            <p:spPr>
              <a:xfrm>
                <a:off x="838200" y="344557"/>
                <a:ext cx="10515600" cy="5832406"/>
              </a:xfrm>
            </p:spPr>
            <p:txBody>
              <a:bodyPr>
                <a:normAutofit/>
              </a:bodyPr>
              <a:lstStyle/>
              <a:p>
                <a:r>
                  <a:rPr lang="en-US" dirty="0"/>
                  <a:t>Compute the binomial coefficient value of C[2,1]using the dynamic programming approach.</a:t>
                </a:r>
              </a:p>
              <a:p>
                <a:r>
                  <a:rPr lang="en-US" dirty="0"/>
                  <a:t>Init Row 0:</a:t>
                </a:r>
              </a:p>
              <a:p>
                <a:r>
                  <a:rPr lang="en-US" dirty="0"/>
                  <a:t>Row 0 is computed by setting C[0, 0] = 1. This is required as a start-up of the algorithm as by convention C(0, 0) = 1.</a:t>
                </a:r>
              </a:p>
              <a:p>
                <a:r>
                  <a:rPr lang="en-US" dirty="0"/>
                  <a:t>Compute the first row:</a:t>
                </a:r>
              </a:p>
              <a:p>
                <a:pPr marL="0" indent="0">
                  <a:buNone/>
                </a:pPr>
                <a:r>
                  <a:rPr lang="en-US" dirty="0"/>
                  <a:t>	C[1, 0] = 1; C[1, 1] = 1</a:t>
                </a:r>
              </a:p>
              <a:p>
                <a:r>
                  <a:rPr lang="en-US" dirty="0"/>
                  <a:t>Using row 1, row 2 is computed as follows:</a:t>
                </a:r>
              </a:p>
              <a:p>
                <a:r>
                  <a:rPr lang="en-US" dirty="0"/>
                  <a:t>Compute the second row:</a:t>
                </a:r>
              </a:p>
              <a:p>
                <a:pPr marL="0" indent="0">
                  <a:buNone/>
                </a:pPr>
                <a:r>
                  <a:rPr lang="en-US" dirty="0"/>
                  <a:t>	C[2, 0] = 1; C[2, 1] = C[1, 0] + C[1, 1] = 1 + 1 = 2; C[2, 2] = 1</a:t>
                </a:r>
              </a:p>
              <a:p>
                <a:r>
                  <a:rPr lang="en-US" dirty="0"/>
                  <a:t>Compute the third row.</a:t>
                </a:r>
              </a:p>
              <a:p>
                <a:pPr marL="0" indent="0">
                  <a:buNone/>
                </a:pPr>
                <a:r>
                  <a:rPr lang="en-US" dirty="0"/>
                  <a:t>	C[3, 1] = C[2, 0] + C[2, 1] = 1 + 2 = 3</a:t>
                </a:r>
              </a:p>
              <a:p>
                <a:pPr marL="0" indent="0">
                  <a:buNone/>
                </a:pPr>
                <a:r>
                  <a:rPr lang="en-US" dirty="0"/>
                  <a:t>	C[3, 2] = C[2, 1] + C[2, 2] = 2 + 1 = 3</a:t>
                </a:r>
              </a:p>
              <a:p>
                <a:r>
                  <a:rPr lang="en-US" dirty="0"/>
                  <a:t>As the problem is about the computation of C[3, 2], it can be seen that the binomial coefficient value of C[2, 1] is 2 and tallies with the conventional result </a:t>
                </a:r>
                <a14:m>
                  <m:oMath xmlns:m="http://schemas.openxmlformats.org/officeDocument/2006/math">
                    <m:f>
                      <m:fPr>
                        <m:ctrlPr>
                          <a:rPr lang="en-IN" i="1" smtClean="0">
                            <a:solidFill>
                              <a:srgbClr val="0F0F0F"/>
                            </a:solidFill>
                            <a:effectLst/>
                            <a:latin typeface="Cambria Math" panose="02040503050406030204" pitchFamily="18" charset="0"/>
                            <a:cs typeface="Times New Roman" panose="02020603050405020304" pitchFamily="18" charset="0"/>
                          </a:rPr>
                        </m:ctrlPr>
                      </m:fPr>
                      <m:num>
                        <m:r>
                          <a:rPr lang="en-US" b="0" i="1" smtClean="0">
                            <a:solidFill>
                              <a:srgbClr val="0F0F0F"/>
                            </a:solidFill>
                            <a:effectLst/>
                            <a:latin typeface="Cambria Math" panose="02040503050406030204" pitchFamily="18" charset="0"/>
                            <a:cs typeface="Times New Roman" panose="02020603050405020304" pitchFamily="18" charset="0"/>
                          </a:rPr>
                          <m:t>3</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1!1!</m:t>
                        </m:r>
                      </m:den>
                    </m:f>
                  </m:oMath>
                </a14:m>
                <a:r>
                  <a:rPr lang="en-US" dirty="0">
                    <a:solidFill>
                      <a:srgbClr val="0F0F0F"/>
                    </a:solidFill>
                    <a:effectLst/>
                    <a:ea typeface="Times New Roman" panose="02020603050405020304" pitchFamily="18" charset="0"/>
                  </a:rPr>
                  <a:t>=6/2=3</a:t>
                </a:r>
                <a:endParaRPr lang="en-US" dirty="0"/>
              </a:p>
            </p:txBody>
          </p:sp>
        </mc:Choice>
        <mc:Fallback>
          <p:sp>
            <p:nvSpPr>
              <p:cNvPr id="3" name="Content Placeholder 2">
                <a:extLst>
                  <a:ext uri="{FF2B5EF4-FFF2-40B4-BE49-F238E27FC236}">
                    <a16:creationId xmlns:a16="http://schemas.microsoft.com/office/drawing/2014/main" xmlns="" xmlns:a14="http://schemas.microsoft.com/office/drawing/2010/main" id="{49000CDD-C96C-4F03-A10B-404D036AD5E0}"/>
                  </a:ext>
                </a:extLst>
              </p:cNvPr>
              <p:cNvSpPr>
                <a:spLocks noGrp="1" noRot="1" noChangeAspect="1" noMove="1" noResize="1" noEditPoints="1" noAdjustHandles="1" noChangeArrowheads="1" noChangeShapeType="1" noTextEdit="1"/>
              </p:cNvSpPr>
              <p:nvPr>
                <p:ph idx="1"/>
              </p:nvPr>
            </p:nvSpPr>
            <p:spPr>
              <a:xfrm>
                <a:off x="838202" y="344557"/>
                <a:ext cx="10515600" cy="5832406"/>
              </a:xfrm>
              <a:blipFill>
                <a:blip r:embed="rId2" cstate="print"/>
                <a:stretch>
                  <a:fillRect l="-1217" t="-1046" r="-40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C2580494-05B2-427A-A95A-0335AA17F2EB}"/>
              </a:ext>
            </a:extLst>
          </p:cNvPr>
          <p:cNvPicPr>
            <a:picLocks noChangeAspect="1"/>
          </p:cNvPicPr>
          <p:nvPr/>
        </p:nvPicPr>
        <p:blipFill>
          <a:blip r:embed="rId3" cstate="print"/>
          <a:stretch>
            <a:fillRect/>
          </a:stretch>
        </p:blipFill>
        <p:spPr>
          <a:xfrm>
            <a:off x="7845285" y="1696278"/>
            <a:ext cx="4157870" cy="1732722"/>
          </a:xfrm>
          <a:prstGeom prst="rect">
            <a:avLst/>
          </a:prstGeom>
        </p:spPr>
      </p:pic>
    </p:spTree>
    <p:extLst>
      <p:ext uri="{BB962C8B-B14F-4D97-AF65-F5344CB8AC3E}">
        <p14:creationId xmlns:p14="http://schemas.microsoft.com/office/powerpoint/2010/main" xmlns="" val="2232331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2A4363-EC70-48B1-B06D-D6AE50B56CDD}"/>
              </a:ext>
            </a:extLst>
          </p:cNvPr>
          <p:cNvSpPr>
            <a:spLocks noGrp="1"/>
          </p:cNvSpPr>
          <p:nvPr>
            <p:ph type="title"/>
          </p:nvPr>
        </p:nvSpPr>
        <p:spPr/>
        <p:txBody>
          <a:bodyPr/>
          <a:lstStyle/>
          <a:p>
            <a:r>
              <a:rPr lang="en-US" dirty="0"/>
              <a:t>MULTISTAGE GRAPH PROBLEM (stagecoach problem)</a:t>
            </a:r>
            <a:endParaRPr lang="en-IN" dirty="0"/>
          </a:p>
        </p:txBody>
      </p:sp>
      <p:sp>
        <p:nvSpPr>
          <p:cNvPr id="3" name="Content Placeholder 2">
            <a:extLst>
              <a:ext uri="{FF2B5EF4-FFF2-40B4-BE49-F238E27FC236}">
                <a16:creationId xmlns:a16="http://schemas.microsoft.com/office/drawing/2014/main" xmlns="" id="{2F446779-A40C-477F-8067-C6982630AE50}"/>
              </a:ext>
            </a:extLst>
          </p:cNvPr>
          <p:cNvSpPr>
            <a:spLocks noGrp="1"/>
          </p:cNvSpPr>
          <p:nvPr>
            <p:ph sz="half" idx="1"/>
          </p:nvPr>
        </p:nvSpPr>
        <p:spPr>
          <a:xfrm>
            <a:off x="838202" y="1825625"/>
            <a:ext cx="3627781" cy="4351338"/>
          </a:xfrm>
        </p:spPr>
        <p:txBody>
          <a:bodyPr>
            <a:normAutofit/>
          </a:bodyPr>
          <a:lstStyle/>
          <a:p>
            <a:pPr algn="just"/>
            <a:r>
              <a:rPr lang="en-US" dirty="0"/>
              <a:t>The multistage problem is a problem of finding the shortest path from the source to the destination. Every edge connects two nodes from two partitions. The initial node is called a source (No indegree), and the last node is called a sink (as there is no outdegree).</a:t>
            </a:r>
          </a:p>
        </p:txBody>
      </p:sp>
      <p:pic>
        <p:nvPicPr>
          <p:cNvPr id="6" name="Content Placeholder 5">
            <a:extLst>
              <a:ext uri="{FF2B5EF4-FFF2-40B4-BE49-F238E27FC236}">
                <a16:creationId xmlns:a16="http://schemas.microsoft.com/office/drawing/2014/main" xmlns="" id="{8594D1A8-C2CF-4FC6-8E61-019C927E05B4}"/>
              </a:ext>
            </a:extLst>
          </p:cNvPr>
          <p:cNvPicPr>
            <a:picLocks noGrp="1" noChangeAspect="1"/>
          </p:cNvPicPr>
          <p:nvPr>
            <p:ph sz="half" idx="2"/>
          </p:nvPr>
        </p:nvPicPr>
        <p:blipFill>
          <a:blip r:embed="rId2" cstate="print"/>
          <a:stretch>
            <a:fillRect/>
          </a:stretch>
        </p:blipFill>
        <p:spPr>
          <a:xfrm>
            <a:off x="4465985" y="1690688"/>
            <a:ext cx="7606747" cy="4802187"/>
          </a:xfrm>
          <a:prstGeom prst="rect">
            <a:avLst/>
          </a:prstGeom>
        </p:spPr>
      </p:pic>
    </p:spTree>
    <p:extLst>
      <p:ext uri="{BB962C8B-B14F-4D97-AF65-F5344CB8AC3E}">
        <p14:creationId xmlns:p14="http://schemas.microsoft.com/office/powerpoint/2010/main" xmlns="" val="3725200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4D36B4DF-D643-4ED5-B84F-474F1DEB7C2E}"/>
              </a:ext>
            </a:extLst>
          </p:cNvPr>
          <p:cNvSpPr>
            <a:spLocks noGrp="1"/>
          </p:cNvSpPr>
          <p:nvPr>
            <p:ph type="title"/>
          </p:nvPr>
        </p:nvSpPr>
        <p:spPr/>
        <p:txBody>
          <a:bodyPr/>
          <a:lstStyle/>
          <a:p>
            <a:r>
              <a:rPr lang="en-US" dirty="0"/>
              <a:t>Forward computation procedure</a:t>
            </a:r>
            <a:endParaRPr lang="en-IN" dirty="0"/>
          </a:p>
        </p:txBody>
      </p:sp>
      <p:sp>
        <p:nvSpPr>
          <p:cNvPr id="6" name="Content Placeholder 5">
            <a:extLst>
              <a:ext uri="{FF2B5EF4-FFF2-40B4-BE49-F238E27FC236}">
                <a16:creationId xmlns:a16="http://schemas.microsoft.com/office/drawing/2014/main" xmlns="" id="{A9BCF82F-43C9-4865-A6D4-B73E09954F18}"/>
              </a:ext>
            </a:extLst>
          </p:cNvPr>
          <p:cNvSpPr>
            <a:spLocks noGrp="1"/>
          </p:cNvSpPr>
          <p:nvPr>
            <p:ph idx="1"/>
          </p:nvPr>
        </p:nvSpPr>
        <p:spPr/>
        <p:txBody>
          <a:bodyPr>
            <a:normAutofit/>
          </a:bodyPr>
          <a:lstStyle/>
          <a:p>
            <a:r>
              <a:rPr lang="en-US" b="1" dirty="0"/>
              <a:t>Step 1: </a:t>
            </a:r>
            <a:r>
              <a:rPr lang="en-US" dirty="0"/>
              <a:t>Read directed graph G = &lt;V, E&gt; with k stages.</a:t>
            </a:r>
          </a:p>
          <a:p>
            <a:r>
              <a:rPr lang="en-US" b="1" dirty="0"/>
              <a:t>Step 2: </a:t>
            </a:r>
            <a:r>
              <a:rPr lang="en-US" dirty="0"/>
              <a:t>Let n be the number of nodes and </a:t>
            </a:r>
            <a:r>
              <a:rPr lang="en-US" dirty="0" err="1"/>
              <a:t>dist</a:t>
            </a:r>
            <a:r>
              <a:rPr lang="en-US" dirty="0"/>
              <a:t>[1… k] be the distance array.</a:t>
            </a:r>
          </a:p>
          <a:p>
            <a:r>
              <a:rPr lang="en-US" b="1" dirty="0"/>
              <a:t>Step 3: </a:t>
            </a:r>
            <a:r>
              <a:rPr lang="en-US" dirty="0"/>
              <a:t>Set the initial cost to zero.</a:t>
            </a:r>
          </a:p>
          <a:p>
            <a:r>
              <a:rPr lang="en-US" b="1" dirty="0"/>
              <a:t>Step 4: </a:t>
            </a:r>
            <a:r>
              <a:rPr lang="en-US" dirty="0"/>
              <a:t>Loop index </a:t>
            </a:r>
            <a:r>
              <a:rPr lang="en-US" dirty="0" err="1"/>
              <a:t>i</a:t>
            </a:r>
            <a:r>
              <a:rPr lang="en-US" dirty="0"/>
              <a:t> from (n − 1) to 1.</a:t>
            </a:r>
          </a:p>
          <a:p>
            <a:pPr lvl="1"/>
            <a:r>
              <a:rPr lang="en-US" b="1" dirty="0"/>
              <a:t>4a:</a:t>
            </a:r>
            <a:r>
              <a:rPr lang="en-US" dirty="0"/>
              <a:t> Find a vertex v from the next stage such that the edge connecting the current stage and the next stage is minimum (j, v) + cost(v) is minimum.</a:t>
            </a:r>
          </a:p>
          <a:p>
            <a:pPr lvl="1"/>
            <a:r>
              <a:rPr lang="en-US" b="1" dirty="0"/>
              <a:t>4b:</a:t>
            </a:r>
            <a:r>
              <a:rPr lang="en-US" dirty="0"/>
              <a:t> Update cost and store v in another array </a:t>
            </a:r>
            <a:r>
              <a:rPr lang="en-US" dirty="0" err="1"/>
              <a:t>dist</a:t>
            </a:r>
            <a:r>
              <a:rPr lang="en-US" dirty="0"/>
              <a:t>[].</a:t>
            </a:r>
          </a:p>
          <a:p>
            <a:r>
              <a:rPr lang="en-US" b="1" dirty="0"/>
              <a:t>Step 5:</a:t>
            </a:r>
            <a:r>
              <a:rPr lang="en-US" dirty="0"/>
              <a:t> Return cost.</a:t>
            </a:r>
          </a:p>
          <a:p>
            <a:r>
              <a:rPr lang="en-US" b="1" dirty="0"/>
              <a:t>Step 6:</a:t>
            </a:r>
            <a:r>
              <a:rPr lang="en-US" dirty="0"/>
              <a:t> End.</a:t>
            </a:r>
          </a:p>
          <a:p>
            <a:r>
              <a:rPr lang="en-US" dirty="0"/>
              <a:t>The shortest path can finally be obtained or reconstructed by tracking the distance array</a:t>
            </a:r>
            <a:endParaRPr lang="en-IN" dirty="0"/>
          </a:p>
        </p:txBody>
      </p:sp>
    </p:spTree>
    <p:extLst>
      <p:ext uri="{BB962C8B-B14F-4D97-AF65-F5344CB8AC3E}">
        <p14:creationId xmlns:p14="http://schemas.microsoft.com/office/powerpoint/2010/main" xmlns="" val="3108703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693B94-D1D3-4B7C-A080-96B19B1AA8B4}"/>
              </a:ext>
            </a:extLst>
          </p:cNvPr>
          <p:cNvSpPr>
            <a:spLocks noGrp="1"/>
          </p:cNvSpPr>
          <p:nvPr>
            <p:ph type="title"/>
          </p:nvPr>
        </p:nvSpPr>
        <p:spPr/>
        <p:txBody>
          <a:bodyPr/>
          <a:lstStyle/>
          <a:p>
            <a:r>
              <a:rPr lang="en-US" dirty="0"/>
              <a:t>MULTISTAGE GRAPH Algorithm</a:t>
            </a:r>
            <a:endParaRPr lang="en-IN" dirty="0"/>
          </a:p>
        </p:txBody>
      </p:sp>
      <p:pic>
        <p:nvPicPr>
          <p:cNvPr id="4" name="Content Placeholder 3">
            <a:extLst>
              <a:ext uri="{FF2B5EF4-FFF2-40B4-BE49-F238E27FC236}">
                <a16:creationId xmlns:a16="http://schemas.microsoft.com/office/drawing/2014/main" xmlns="" id="{17897F5B-1DD2-4058-98BC-1EEB84B78BC4}"/>
              </a:ext>
            </a:extLst>
          </p:cNvPr>
          <p:cNvPicPr>
            <a:picLocks noGrp="1" noChangeAspect="1"/>
          </p:cNvPicPr>
          <p:nvPr>
            <p:ph idx="1"/>
          </p:nvPr>
        </p:nvPicPr>
        <p:blipFill>
          <a:blip r:embed="rId2" cstate="print"/>
          <a:stretch>
            <a:fillRect/>
          </a:stretch>
        </p:blipFill>
        <p:spPr>
          <a:xfrm>
            <a:off x="885099" y="1794658"/>
            <a:ext cx="10478962" cy="2133898"/>
          </a:xfrm>
          <a:prstGeom prst="rect">
            <a:avLst/>
          </a:prstGeom>
        </p:spPr>
      </p:pic>
      <p:pic>
        <p:nvPicPr>
          <p:cNvPr id="5" name="Picture 4">
            <a:extLst>
              <a:ext uri="{FF2B5EF4-FFF2-40B4-BE49-F238E27FC236}">
                <a16:creationId xmlns:a16="http://schemas.microsoft.com/office/drawing/2014/main" xmlns="" id="{D7CAAD15-0C4D-4CF2-8640-B46BA6CFB09A}"/>
              </a:ext>
            </a:extLst>
          </p:cNvPr>
          <p:cNvPicPr>
            <a:picLocks noChangeAspect="1"/>
          </p:cNvPicPr>
          <p:nvPr/>
        </p:nvPicPr>
        <p:blipFill>
          <a:blip r:embed="rId3" cstate="print"/>
          <a:stretch>
            <a:fillRect/>
          </a:stretch>
        </p:blipFill>
        <p:spPr>
          <a:xfrm>
            <a:off x="864705" y="3928556"/>
            <a:ext cx="10421804" cy="1343212"/>
          </a:xfrm>
          <a:prstGeom prst="rect">
            <a:avLst/>
          </a:prstGeom>
        </p:spPr>
      </p:pic>
    </p:spTree>
    <p:extLst>
      <p:ext uri="{BB962C8B-B14F-4D97-AF65-F5344CB8AC3E}">
        <p14:creationId xmlns:p14="http://schemas.microsoft.com/office/powerpoint/2010/main" xmlns="" val="2996352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C5CD08-1BBE-49B1-84CE-782C11B6C883}"/>
              </a:ext>
            </a:extLst>
          </p:cNvPr>
          <p:cNvSpPr>
            <a:spLocks noGrp="1"/>
          </p:cNvSpPr>
          <p:nvPr>
            <p:ph type="title"/>
          </p:nvPr>
        </p:nvSpPr>
        <p:spPr/>
        <p:txBody>
          <a:bodyPr/>
          <a:lstStyle/>
          <a:p>
            <a:r>
              <a:rPr lang="en-US" dirty="0"/>
              <a:t>MULTISTAGE GRAPH Algorithm</a:t>
            </a:r>
            <a:endParaRPr lang="en-IN" dirty="0"/>
          </a:p>
        </p:txBody>
      </p:sp>
      <p:pic>
        <p:nvPicPr>
          <p:cNvPr id="4" name="Content Placeholder 3">
            <a:extLst>
              <a:ext uri="{FF2B5EF4-FFF2-40B4-BE49-F238E27FC236}">
                <a16:creationId xmlns:a16="http://schemas.microsoft.com/office/drawing/2014/main" xmlns="" id="{32FE30C1-45CD-4A83-8F58-4AA633008D89}"/>
              </a:ext>
            </a:extLst>
          </p:cNvPr>
          <p:cNvPicPr>
            <a:picLocks noGrp="1" noChangeAspect="1"/>
          </p:cNvPicPr>
          <p:nvPr>
            <p:ph idx="1"/>
          </p:nvPr>
        </p:nvPicPr>
        <p:blipFill>
          <a:blip r:embed="rId2" cstate="print"/>
          <a:stretch>
            <a:fillRect/>
          </a:stretch>
        </p:blipFill>
        <p:spPr>
          <a:xfrm>
            <a:off x="851757" y="1868557"/>
            <a:ext cx="10488489" cy="3580739"/>
          </a:xfrm>
          <a:prstGeom prst="rect">
            <a:avLst/>
          </a:prstGeom>
        </p:spPr>
      </p:pic>
    </p:spTree>
    <p:extLst>
      <p:ext uri="{BB962C8B-B14F-4D97-AF65-F5344CB8AC3E}">
        <p14:creationId xmlns:p14="http://schemas.microsoft.com/office/powerpoint/2010/main" xmlns="" val="846349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C72B62D-7137-4692-9F08-1F252A61E4B3}"/>
              </a:ext>
            </a:extLst>
          </p:cNvPr>
          <p:cNvSpPr>
            <a:spLocks noGrp="1"/>
          </p:cNvSpPr>
          <p:nvPr>
            <p:ph sz="half" idx="1"/>
          </p:nvPr>
        </p:nvSpPr>
        <p:spPr>
          <a:xfrm>
            <a:off x="755819" y="328992"/>
            <a:ext cx="7409945" cy="4351338"/>
          </a:xfrm>
        </p:spPr>
        <p:txBody>
          <a:bodyPr/>
          <a:lstStyle/>
          <a:p>
            <a:r>
              <a:rPr lang="en-US" dirty="0">
                <a:solidFill>
                  <a:srgbClr val="FF0000"/>
                </a:solidFill>
              </a:rPr>
              <a:t>Consider the graph shown in Fig. 13.7. Find the shortest path from the source to the sink using the forward approach of dynamic programming.</a:t>
            </a:r>
          </a:p>
          <a:p>
            <a:endParaRPr lang="en-IN" dirty="0">
              <a:solidFill>
                <a:srgbClr val="FF0000"/>
              </a:solidFill>
            </a:endParaRPr>
          </a:p>
        </p:txBody>
      </p:sp>
      <p:pic>
        <p:nvPicPr>
          <p:cNvPr id="13" name="Content Placeholder 9">
            <a:extLst>
              <a:ext uri="{FF2B5EF4-FFF2-40B4-BE49-F238E27FC236}">
                <a16:creationId xmlns:a16="http://schemas.microsoft.com/office/drawing/2014/main" xmlns="" id="{3FF4F040-2F51-4D32-8D38-581392A4EF80}"/>
              </a:ext>
            </a:extLst>
          </p:cNvPr>
          <p:cNvPicPr>
            <a:picLocks noGrp="1" noChangeAspect="1"/>
          </p:cNvPicPr>
          <p:nvPr>
            <p:ph sz="half" idx="2"/>
          </p:nvPr>
        </p:nvPicPr>
        <p:blipFill>
          <a:blip r:embed="rId2" cstate="print"/>
          <a:stretch>
            <a:fillRect/>
          </a:stretch>
        </p:blipFill>
        <p:spPr>
          <a:xfrm>
            <a:off x="8522582" y="2223421"/>
            <a:ext cx="3516475" cy="2950552"/>
          </a:xfrm>
          <a:prstGeom prst="rect">
            <a:avLst/>
          </a:prstGeom>
        </p:spPr>
      </p:pic>
      <p:pic>
        <p:nvPicPr>
          <p:cNvPr id="9" name="Picture 8">
            <a:extLst>
              <a:ext uri="{FF2B5EF4-FFF2-40B4-BE49-F238E27FC236}">
                <a16:creationId xmlns:a16="http://schemas.microsoft.com/office/drawing/2014/main" xmlns="" id="{35622EF2-54AE-48EC-9996-9DD6491C499B}"/>
              </a:ext>
            </a:extLst>
          </p:cNvPr>
          <p:cNvPicPr>
            <a:picLocks noChangeAspect="1"/>
          </p:cNvPicPr>
          <p:nvPr/>
        </p:nvPicPr>
        <p:blipFill>
          <a:blip r:embed="rId3" cstate="print"/>
          <a:stretch>
            <a:fillRect/>
          </a:stretch>
        </p:blipFill>
        <p:spPr>
          <a:xfrm>
            <a:off x="755820" y="1728408"/>
            <a:ext cx="7859529" cy="4890052"/>
          </a:xfrm>
          <a:prstGeom prst="rect">
            <a:avLst/>
          </a:prstGeom>
        </p:spPr>
      </p:pic>
    </p:spTree>
    <p:extLst>
      <p:ext uri="{BB962C8B-B14F-4D97-AF65-F5344CB8AC3E}">
        <p14:creationId xmlns:p14="http://schemas.microsoft.com/office/powerpoint/2010/main" xmlns="" val="3076283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72CED1-397F-4263-957F-DB28AED1F254}"/>
              </a:ext>
            </a:extLst>
          </p:cNvPr>
          <p:cNvSpPr>
            <a:spLocks noGrp="1"/>
          </p:cNvSpPr>
          <p:nvPr>
            <p:ph type="title"/>
          </p:nvPr>
        </p:nvSpPr>
        <p:spPr/>
        <p:txBody>
          <a:bodyPr/>
          <a:lstStyle/>
          <a:p>
            <a:r>
              <a:rPr lang="en-US" dirty="0"/>
              <a:t>Backward computation procedure	</a:t>
            </a:r>
            <a:endParaRPr lang="en-IN" dirty="0"/>
          </a:p>
        </p:txBody>
      </p:sp>
      <p:sp>
        <p:nvSpPr>
          <p:cNvPr id="3" name="Content Placeholder 2">
            <a:extLst>
              <a:ext uri="{FF2B5EF4-FFF2-40B4-BE49-F238E27FC236}">
                <a16:creationId xmlns:a16="http://schemas.microsoft.com/office/drawing/2014/main" xmlns="" id="{EC0B11A3-77FA-4406-83F4-C24164EBEB7A}"/>
              </a:ext>
            </a:extLst>
          </p:cNvPr>
          <p:cNvSpPr>
            <a:spLocks noGrp="1"/>
          </p:cNvSpPr>
          <p:nvPr>
            <p:ph idx="1"/>
          </p:nvPr>
        </p:nvSpPr>
        <p:spPr>
          <a:xfrm>
            <a:off x="838202" y="1690688"/>
            <a:ext cx="10515600" cy="4486275"/>
          </a:xfrm>
        </p:spPr>
        <p:txBody>
          <a:bodyPr/>
          <a:lstStyle/>
          <a:p>
            <a:r>
              <a:rPr lang="en-US" dirty="0">
                <a:solidFill>
                  <a:srgbClr val="FF0000"/>
                </a:solidFill>
              </a:rPr>
              <a:t>Consider the graph shown in Fig. 13.8. Find the shortest path from the source to the sink using the backward approach of dynamic programming.</a:t>
            </a:r>
          </a:p>
          <a:p>
            <a:r>
              <a:rPr lang="en-US" dirty="0"/>
              <a:t>Unlike the forward approach, the computation starts from stage 1 to stage 5. The cost of the edges that connect Stage 2 to Stage 1 is calculated. </a:t>
            </a:r>
          </a:p>
          <a:p>
            <a:endParaRPr lang="en-IN" dirty="0"/>
          </a:p>
        </p:txBody>
      </p:sp>
      <p:pic>
        <p:nvPicPr>
          <p:cNvPr id="4" name="Picture 3">
            <a:extLst>
              <a:ext uri="{FF2B5EF4-FFF2-40B4-BE49-F238E27FC236}">
                <a16:creationId xmlns:a16="http://schemas.microsoft.com/office/drawing/2014/main" xmlns="" id="{9D0AE6C3-4210-434B-9385-68AA0FDC8EEF}"/>
              </a:ext>
            </a:extLst>
          </p:cNvPr>
          <p:cNvPicPr>
            <a:picLocks noChangeAspect="1"/>
          </p:cNvPicPr>
          <p:nvPr/>
        </p:nvPicPr>
        <p:blipFill>
          <a:blip r:embed="rId2" cstate="print"/>
          <a:stretch>
            <a:fillRect/>
          </a:stretch>
        </p:blipFill>
        <p:spPr>
          <a:xfrm>
            <a:off x="4227145" y="3814556"/>
            <a:ext cx="4930108" cy="2903089"/>
          </a:xfrm>
          <a:prstGeom prst="rect">
            <a:avLst/>
          </a:prstGeom>
        </p:spPr>
      </p:pic>
    </p:spTree>
    <p:extLst>
      <p:ext uri="{BB962C8B-B14F-4D97-AF65-F5344CB8AC3E}">
        <p14:creationId xmlns:p14="http://schemas.microsoft.com/office/powerpoint/2010/main" xmlns="" val="2837476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2218CD3D-F26A-4946-A615-060503294650}"/>
              </a:ext>
            </a:extLst>
          </p:cNvPr>
          <p:cNvPicPr>
            <a:picLocks noGrp="1" noChangeAspect="1"/>
          </p:cNvPicPr>
          <p:nvPr>
            <p:ph idx="1"/>
          </p:nvPr>
        </p:nvPicPr>
        <p:blipFill>
          <a:blip r:embed="rId2" cstate="print"/>
          <a:stretch>
            <a:fillRect/>
          </a:stretch>
        </p:blipFill>
        <p:spPr>
          <a:xfrm>
            <a:off x="212036" y="79512"/>
            <a:ext cx="11529390" cy="6427304"/>
          </a:xfrm>
          <a:prstGeom prst="rect">
            <a:avLst/>
          </a:prstGeom>
        </p:spPr>
      </p:pic>
      <p:pic>
        <p:nvPicPr>
          <p:cNvPr id="5" name="Picture 4">
            <a:extLst>
              <a:ext uri="{FF2B5EF4-FFF2-40B4-BE49-F238E27FC236}">
                <a16:creationId xmlns:a16="http://schemas.microsoft.com/office/drawing/2014/main" xmlns="" id="{B64269F9-A8C0-4D6A-89DA-75777F0F98BD}"/>
              </a:ext>
            </a:extLst>
          </p:cNvPr>
          <p:cNvPicPr>
            <a:picLocks noChangeAspect="1"/>
          </p:cNvPicPr>
          <p:nvPr/>
        </p:nvPicPr>
        <p:blipFill>
          <a:blip r:embed="rId3" cstate="print"/>
          <a:stretch>
            <a:fillRect/>
          </a:stretch>
        </p:blipFill>
        <p:spPr>
          <a:xfrm>
            <a:off x="8123583" y="2184538"/>
            <a:ext cx="3856382" cy="2639254"/>
          </a:xfrm>
          <a:prstGeom prst="rect">
            <a:avLst/>
          </a:prstGeom>
        </p:spPr>
      </p:pic>
    </p:spTree>
    <p:extLst>
      <p:ext uri="{BB962C8B-B14F-4D97-AF65-F5344CB8AC3E}">
        <p14:creationId xmlns:p14="http://schemas.microsoft.com/office/powerpoint/2010/main" xmlns="" val="42663677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79435F-DE07-4655-AE44-282F27CA7DC6}"/>
              </a:ext>
            </a:extLst>
          </p:cNvPr>
          <p:cNvSpPr>
            <a:spLocks noGrp="1"/>
          </p:cNvSpPr>
          <p:nvPr>
            <p:ph type="title"/>
          </p:nvPr>
        </p:nvSpPr>
        <p:spPr/>
        <p:txBody>
          <a:bodyPr/>
          <a:lstStyle/>
          <a:p>
            <a:r>
              <a:rPr lang="en-US" dirty="0"/>
              <a:t>TRANSITIVE CLOSURE AND WARSHELL ALGORITHM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F5943FF0-6209-4BA2-873D-A0964D07D9B3}"/>
                  </a:ext>
                </a:extLst>
              </p:cNvPr>
              <p:cNvSpPr>
                <a:spLocks noGrp="1"/>
              </p:cNvSpPr>
              <p:nvPr>
                <p:ph idx="1"/>
              </p:nvPr>
            </p:nvSpPr>
            <p:spPr/>
            <p:txBody>
              <a:bodyPr>
                <a:normAutofit/>
              </a:bodyPr>
              <a:lstStyle/>
              <a:p>
                <a:r>
                  <a:rPr lang="en-IN" b="1" dirty="0"/>
                  <a:t>Step 1:</a:t>
                </a:r>
                <a:r>
                  <a:rPr lang="en-IN" dirty="0"/>
                  <a:t> Read weighted graph </a:t>
                </a:r>
                <a14:m>
                  <m:oMath xmlns:m="http://schemas.openxmlformats.org/officeDocument/2006/math">
                    <m:r>
                      <a:rPr lang="en-IN" i="1" dirty="0" smtClean="0">
                        <a:latin typeface="Cambria Math" panose="02040503050406030204" pitchFamily="18" charset="0"/>
                      </a:rPr>
                      <m:t>𝐺</m:t>
                    </m:r>
                    <m:r>
                      <a:rPr lang="en-IN" i="1" dirty="0" smtClean="0">
                        <a:latin typeface="Cambria Math" panose="02040503050406030204" pitchFamily="18" charset="0"/>
                      </a:rPr>
                      <m:t> = &lt;</m:t>
                    </m:r>
                    <m:r>
                      <a:rPr lang="en-IN" i="1" dirty="0" smtClean="0">
                        <a:latin typeface="Cambria Math" panose="02040503050406030204" pitchFamily="18" charset="0"/>
                      </a:rPr>
                      <m:t>𝑉</m:t>
                    </m:r>
                    <m:r>
                      <a:rPr lang="en-IN" i="1" dirty="0" smtClean="0">
                        <a:latin typeface="Cambria Math" panose="02040503050406030204" pitchFamily="18" charset="0"/>
                      </a:rPr>
                      <m:t>, </m:t>
                    </m:r>
                    <m:r>
                      <a:rPr lang="en-IN" i="1" dirty="0" smtClean="0">
                        <a:latin typeface="Cambria Math" panose="02040503050406030204" pitchFamily="18" charset="0"/>
                      </a:rPr>
                      <m:t>𝐸</m:t>
                    </m:r>
                    <m:r>
                      <a:rPr lang="en-IN" i="1" dirty="0" smtClean="0">
                        <a:latin typeface="Cambria Math" panose="02040503050406030204" pitchFamily="18" charset="0"/>
                      </a:rPr>
                      <m:t>&gt;.</m:t>
                    </m:r>
                  </m:oMath>
                </a14:m>
                <a:endParaRPr lang="en-IN" dirty="0"/>
              </a:p>
              <a:p>
                <a:r>
                  <a:rPr lang="en-IN" b="1" dirty="0"/>
                  <a:t>Step 2: </a:t>
                </a:r>
                <a:r>
                  <a:rPr lang="en-IN" dirty="0"/>
                  <a:t>Initialize P[</a:t>
                </a:r>
                <a:r>
                  <a:rPr lang="en-IN" dirty="0" err="1"/>
                  <a:t>i</a:t>
                </a:r>
                <a:r>
                  <a:rPr lang="en-IN" dirty="0"/>
                  <a:t>, j] with the adjacency matrix of G.</a:t>
                </a:r>
              </a:p>
              <a:p>
                <a:r>
                  <a:rPr lang="en-IN" b="1" dirty="0"/>
                  <a:t>Step 3:</a:t>
                </a:r>
                <a:r>
                  <a:rPr lang="en-IN" dirty="0"/>
                  <a:t> Recursively compute for k = 1, 2, …, n.</a:t>
                </a:r>
              </a:p>
              <a:p>
                <a:pPr lvl="1"/>
                <a:r>
                  <a:rPr lang="en-IN" b="1" dirty="0"/>
                  <a:t> 3a: </a:t>
                </a:r>
                <a14:m>
                  <m:oMath xmlns:m="http://schemas.openxmlformats.org/officeDocument/2006/math">
                    <m:d>
                      <m:dPr>
                        <m:ctrlPr>
                          <a:rPr lang="en-IN" i="1" smtClean="0">
                            <a:latin typeface="Cambria Math" panose="02040503050406030204" pitchFamily="18" charset="0"/>
                          </a:rPr>
                        </m:ctrlPr>
                      </m:dPr>
                      <m:e>
                        <m:sSubSup>
                          <m:sSubSupPr>
                            <m:ctrlPr>
                              <a:rPr lang="en-IN"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𝑖𝑗</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r>
                          <m:rPr>
                            <m:nor/>
                          </m:rPr>
                          <a:rPr lang="en-IN" dirty="0"/>
                          <m:t> </m:t>
                        </m:r>
                        <m:sSubSup>
                          <m:sSubSupPr>
                            <m:ctrlPr>
                              <a:rPr lang="en-IN"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𝑖𝑗</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r>
                          <a:rPr lang="en-US" b="0" i="1" smtClean="0">
                            <a:latin typeface="Cambria Math" panose="02040503050406030204" pitchFamily="18" charset="0"/>
                            <a:ea typeface="Cambria Math" panose="02040503050406030204" pitchFamily="18" charset="0"/>
                          </a:rPr>
                          <m:t>∨</m:t>
                        </m:r>
                        <m:d>
                          <m:dPr>
                            <m:ctrlPr>
                              <a:rPr lang="en-US" i="1" smtClean="0">
                                <a:latin typeface="Cambria Math" panose="02040503050406030204" pitchFamily="18" charset="0"/>
                                <a:ea typeface="Cambria Math" panose="02040503050406030204" pitchFamily="18" charset="0"/>
                              </a:rPr>
                            </m:ctrlPr>
                          </m:dPr>
                          <m:e>
                            <m:sSubSup>
                              <m:sSubSupPr>
                                <m:ctrlPr>
                                  <a:rPr lang="en-IN"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𝑖𝑘</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r>
                              <a:rPr lang="en-US" b="0" i="1" smtClean="0">
                                <a:latin typeface="Cambria Math" panose="02040503050406030204" pitchFamily="18" charset="0"/>
                                <a:ea typeface="Cambria Math" panose="02040503050406030204" pitchFamily="18" charset="0"/>
                              </a:rPr>
                              <m:t>∧</m:t>
                            </m:r>
                            <m:sSubSup>
                              <m:sSubSupPr>
                                <m:ctrlPr>
                                  <a:rPr lang="en-IN"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𝑘𝑗</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e>
                        </m:d>
                      </m:e>
                    </m:d>
                  </m:oMath>
                </a14:m>
                <a:endParaRPr lang="en-IN" dirty="0"/>
              </a:p>
              <a:p>
                <a:r>
                  <a:rPr lang="en-IN" b="1" dirty="0"/>
                  <a:t>Step 4:</a:t>
                </a:r>
                <a:r>
                  <a:rPr lang="en-IN" dirty="0"/>
                  <a:t> Return path matrix P.</a:t>
                </a:r>
              </a:p>
              <a:p>
                <a:r>
                  <a:rPr lang="en-IN" b="1" dirty="0"/>
                  <a:t>Step 5:</a:t>
                </a:r>
                <a:r>
                  <a:rPr lang="en-IN" dirty="0"/>
                  <a:t> End.</a:t>
                </a:r>
              </a:p>
            </p:txBody>
          </p:sp>
        </mc:Choice>
        <mc:Fallback>
          <p:sp>
            <p:nvSpPr>
              <p:cNvPr id="3" name="Content Placeholder 2">
                <a:extLst>
                  <a:ext uri="{FF2B5EF4-FFF2-40B4-BE49-F238E27FC236}">
                    <a16:creationId xmlns:a16="http://schemas.microsoft.com/office/drawing/2014/main" xmlns="" xmlns:a14="http://schemas.microsoft.com/office/drawing/2010/main" id="{F5943FF0-6209-4BA2-873D-A0964D07D9B3}"/>
                  </a:ext>
                </a:extLst>
              </p:cNvPr>
              <p:cNvSpPr>
                <a:spLocks noGrp="1" noRot="1" noChangeAspect="1" noMove="1" noResize="1" noEditPoints="1" noAdjustHandles="1" noChangeArrowheads="1" noChangeShapeType="1" noTextEdit="1"/>
              </p:cNvSpPr>
              <p:nvPr>
                <p:ph idx="1"/>
              </p:nvPr>
            </p:nvSpPr>
            <p:spPr>
              <a:blipFill>
                <a:blip r:embed="rId2" cstate="print"/>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xmlns="" val="2988427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CCF40C-48B3-4DD1-A23A-F084D7C75E80}"/>
              </a:ext>
            </a:extLst>
          </p:cNvPr>
          <p:cNvSpPr>
            <a:spLocks noGrp="1"/>
          </p:cNvSpPr>
          <p:nvPr>
            <p:ph type="title"/>
          </p:nvPr>
        </p:nvSpPr>
        <p:spPr/>
        <p:txBody>
          <a:bodyPr/>
          <a:lstStyle/>
          <a:p>
            <a:r>
              <a:rPr lang="en-US" dirty="0" err="1"/>
              <a:t>Warshall</a:t>
            </a:r>
            <a:r>
              <a:rPr lang="en-US" dirty="0"/>
              <a:t> Algorithm</a:t>
            </a:r>
            <a:endParaRPr lang="en-IN" dirty="0"/>
          </a:p>
        </p:txBody>
      </p:sp>
      <p:pic>
        <p:nvPicPr>
          <p:cNvPr id="5" name="Content Placeholder 4">
            <a:extLst>
              <a:ext uri="{FF2B5EF4-FFF2-40B4-BE49-F238E27FC236}">
                <a16:creationId xmlns:a16="http://schemas.microsoft.com/office/drawing/2014/main" xmlns="" id="{833C5732-ECA0-471D-A72A-9BB7162E28E3}"/>
              </a:ext>
            </a:extLst>
          </p:cNvPr>
          <p:cNvPicPr>
            <a:picLocks noGrp="1" noChangeAspect="1"/>
          </p:cNvPicPr>
          <p:nvPr>
            <p:ph idx="1"/>
          </p:nvPr>
        </p:nvPicPr>
        <p:blipFill>
          <a:blip r:embed="rId2" cstate="print"/>
          <a:stretch>
            <a:fillRect/>
          </a:stretch>
        </p:blipFill>
        <p:spPr>
          <a:xfrm>
            <a:off x="912878" y="1943607"/>
            <a:ext cx="10431332" cy="4115374"/>
          </a:xfrm>
        </p:spPr>
      </p:pic>
    </p:spTree>
    <p:extLst>
      <p:ext uri="{BB962C8B-B14F-4D97-AF65-F5344CB8AC3E}">
        <p14:creationId xmlns:p14="http://schemas.microsoft.com/office/powerpoint/2010/main" xmlns="" val="4001625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00604D-8204-4578-9E1F-A5369D0A6EEC}"/>
              </a:ext>
            </a:extLst>
          </p:cNvPr>
          <p:cNvSpPr>
            <a:spLocks noGrp="1"/>
          </p:cNvSpPr>
          <p:nvPr>
            <p:ph type="title"/>
          </p:nvPr>
        </p:nvSpPr>
        <p:spPr/>
        <p:txBody>
          <a:bodyPr/>
          <a:lstStyle/>
          <a:p>
            <a:r>
              <a:rPr lang="en-US" dirty="0"/>
              <a:t>Floyd-</a:t>
            </a:r>
            <a:r>
              <a:rPr lang="en-US" dirty="0" err="1"/>
              <a:t>Warshall</a:t>
            </a:r>
            <a:r>
              <a:rPr lang="en-US" dirty="0"/>
              <a:t> all-pairs shortest algorithm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19B18DDF-1758-4687-89D1-0B4DFC99F33A}"/>
                  </a:ext>
                </a:extLst>
              </p:cNvPr>
              <p:cNvSpPr>
                <a:spLocks noGrp="1"/>
              </p:cNvSpPr>
              <p:nvPr>
                <p:ph idx="1"/>
              </p:nvPr>
            </p:nvSpPr>
            <p:spPr/>
            <p:txBody>
              <a:bodyPr>
                <a:normAutofit/>
              </a:bodyPr>
              <a:lstStyle/>
              <a:p>
                <a:r>
                  <a:rPr lang="en-US" dirty="0"/>
                  <a:t>The Floyd–</a:t>
                </a:r>
                <a:r>
                  <a:rPr lang="en-US" dirty="0" err="1"/>
                  <a:t>Warshall</a:t>
                </a:r>
                <a:r>
                  <a:rPr lang="en-US" dirty="0"/>
                  <a:t> algorithm finds the shortest simple path from node s to node t. The input for the algorithm is an adjacency matrix of the graph G. The cost(</a:t>
                </a:r>
                <a:r>
                  <a:rPr lang="en-US" dirty="0" err="1"/>
                  <a:t>i</a:t>
                </a:r>
                <a:r>
                  <a:rPr lang="en-US" dirty="0"/>
                  <a:t>, j) is computed as follows</a:t>
                </a:r>
              </a:p>
              <a:p>
                <a:r>
                  <a:rPr lang="en-US" dirty="0"/>
                  <a:t>Step 1: Read weighted graph G = &lt;V, E&gt;.</a:t>
                </a:r>
              </a:p>
              <a:p>
                <a:r>
                  <a:rPr lang="en-US" dirty="0"/>
                  <a:t>Step 2: Initialize D[</a:t>
                </a:r>
                <a:r>
                  <a:rPr lang="en-US" dirty="0" err="1"/>
                  <a:t>i</a:t>
                </a:r>
                <a:r>
                  <a:rPr lang="en-US" dirty="0"/>
                  <a:t>, j] as follows: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𝐶𝑜𝑠𝑡</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𝑒𝑑𝑔𝑒</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𝑒𝑑𝑔𝑒</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e>
                          </m:eqArr>
                        </m:e>
                      </m:d>
                    </m:oMath>
                  </m:oMathPara>
                </a14:m>
                <a:endParaRPr lang="en-US" dirty="0"/>
              </a:p>
              <a:p>
                <a:r>
                  <a:rPr lang="en-US" dirty="0"/>
                  <a:t>Step 3: For intermediate nodes k,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r>
                  <a:rPr lang="en-US" dirty="0"/>
                  <a:t> recursively compute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𝑚𝑖𝑛</m:t>
                        </m:r>
                      </m:e>
                      <m:sub>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d>
                      <m:dPr>
                        <m:begChr m:val="{"/>
                        <m:endChr m:val="}"/>
                        <m:ctrlPr>
                          <a:rPr lang="en-US" b="0"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𝑖𝑘</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𝑘𝑗</m:t>
                            </m:r>
                          </m:sub>
                        </m:sSub>
                      </m:e>
                    </m:d>
                  </m:oMath>
                </a14:m>
                <a:endParaRPr lang="en-US" dirty="0"/>
              </a:p>
              <a:p>
                <a:r>
                  <a:rPr lang="en-US" dirty="0"/>
                  <a:t>Step 4: Return matrix D.</a:t>
                </a:r>
              </a:p>
              <a:p>
                <a:r>
                  <a:rPr lang="en-US" dirty="0"/>
                  <a:t>Step 5: End.</a:t>
                </a:r>
              </a:p>
            </p:txBody>
          </p:sp>
        </mc:Choice>
        <mc:Fallback>
          <p:sp>
            <p:nvSpPr>
              <p:cNvPr id="3" name="Content Placeholder 2">
                <a:extLst>
                  <a:ext uri="{FF2B5EF4-FFF2-40B4-BE49-F238E27FC236}">
                    <a16:creationId xmlns:a16="http://schemas.microsoft.com/office/drawing/2014/main" xmlns="" xmlns:a14="http://schemas.microsoft.com/office/drawing/2010/main" id="{19B18DDF-1758-4687-89D1-0B4DFC99F33A}"/>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a:stretch>
              </a:blipFill>
            </p:spPr>
            <p:txBody>
              <a:bodyPr/>
              <a:lstStyle/>
              <a:p>
                <a:r>
                  <a:rPr lang="en-US">
                    <a:noFill/>
                  </a:rPr>
                  <a:t> </a:t>
                </a:r>
              </a:p>
            </p:txBody>
          </p:sp>
        </mc:Fallback>
      </mc:AlternateContent>
    </p:spTree>
    <p:extLst>
      <p:ext uri="{BB962C8B-B14F-4D97-AF65-F5344CB8AC3E}">
        <p14:creationId xmlns:p14="http://schemas.microsoft.com/office/powerpoint/2010/main" xmlns="" val="1939371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FD18CA-1E68-4F83-8705-9B7E20210D3D}"/>
              </a:ext>
            </a:extLst>
          </p:cNvPr>
          <p:cNvSpPr>
            <a:spLocks noGrp="1"/>
          </p:cNvSpPr>
          <p:nvPr>
            <p:ph type="title"/>
          </p:nvPr>
        </p:nvSpPr>
        <p:spPr/>
        <p:txBody>
          <a:bodyPr/>
          <a:lstStyle/>
          <a:p>
            <a:r>
              <a:rPr lang="en-US" dirty="0"/>
              <a:t>Floyd-</a:t>
            </a:r>
            <a:r>
              <a:rPr lang="en-US" dirty="0" err="1"/>
              <a:t>Warshall</a:t>
            </a:r>
            <a:r>
              <a:rPr lang="en-US" dirty="0"/>
              <a:t> all-pairs shortest algorithm</a:t>
            </a:r>
            <a:endParaRPr lang="en-IN" dirty="0"/>
          </a:p>
        </p:txBody>
      </p:sp>
      <p:pic>
        <p:nvPicPr>
          <p:cNvPr id="4" name="Content Placeholder 3">
            <a:extLst>
              <a:ext uri="{FF2B5EF4-FFF2-40B4-BE49-F238E27FC236}">
                <a16:creationId xmlns:a16="http://schemas.microsoft.com/office/drawing/2014/main" xmlns="" id="{75FBB499-81AB-46CD-9964-C64EED111C07}"/>
              </a:ext>
            </a:extLst>
          </p:cNvPr>
          <p:cNvPicPr>
            <a:picLocks noGrp="1" noChangeAspect="1"/>
          </p:cNvPicPr>
          <p:nvPr>
            <p:ph idx="1"/>
          </p:nvPr>
        </p:nvPicPr>
        <p:blipFill>
          <a:blip r:embed="rId2" cstate="print"/>
          <a:stretch>
            <a:fillRect/>
          </a:stretch>
        </p:blipFill>
        <p:spPr>
          <a:xfrm>
            <a:off x="893826" y="1967423"/>
            <a:ext cx="10469436" cy="4067743"/>
          </a:xfrm>
          <a:prstGeom prst="rect">
            <a:avLst/>
          </a:prstGeom>
        </p:spPr>
      </p:pic>
    </p:spTree>
    <p:extLst>
      <p:ext uri="{BB962C8B-B14F-4D97-AF65-F5344CB8AC3E}">
        <p14:creationId xmlns:p14="http://schemas.microsoft.com/office/powerpoint/2010/main" xmlns="" val="1237508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A58917-E98F-48A0-9BD3-06C33F9A8F4B}"/>
              </a:ext>
            </a:extLst>
          </p:cNvPr>
          <p:cNvSpPr>
            <a:spLocks noGrp="1"/>
          </p:cNvSpPr>
          <p:nvPr>
            <p:ph type="title"/>
          </p:nvPr>
        </p:nvSpPr>
        <p:spPr/>
        <p:txBody>
          <a:bodyPr/>
          <a:lstStyle/>
          <a:p>
            <a:r>
              <a:rPr lang="en-US" dirty="0"/>
              <a:t>Floyd-</a:t>
            </a:r>
            <a:r>
              <a:rPr lang="en-US" dirty="0" err="1"/>
              <a:t>Warshall</a:t>
            </a:r>
            <a:r>
              <a:rPr lang="en-US" dirty="0"/>
              <a:t> all-pairs shortest algorithm</a:t>
            </a:r>
            <a:endParaRPr lang="en-IN" dirty="0"/>
          </a:p>
        </p:txBody>
      </p:sp>
      <p:pic>
        <p:nvPicPr>
          <p:cNvPr id="4" name="Content Placeholder 3">
            <a:extLst>
              <a:ext uri="{FF2B5EF4-FFF2-40B4-BE49-F238E27FC236}">
                <a16:creationId xmlns:a16="http://schemas.microsoft.com/office/drawing/2014/main" xmlns="" id="{0AE1742B-9F98-43D4-ADEE-CD0E31DDEC3E}"/>
              </a:ext>
            </a:extLst>
          </p:cNvPr>
          <p:cNvPicPr>
            <a:picLocks noGrp="1" noChangeAspect="1"/>
          </p:cNvPicPr>
          <p:nvPr>
            <p:ph idx="1"/>
          </p:nvPr>
        </p:nvPicPr>
        <p:blipFill>
          <a:blip r:embed="rId2" cstate="print"/>
          <a:stretch>
            <a:fillRect/>
          </a:stretch>
        </p:blipFill>
        <p:spPr>
          <a:xfrm>
            <a:off x="880334" y="1690689"/>
            <a:ext cx="10431332" cy="3925319"/>
          </a:xfrm>
          <a:prstGeom prst="rect">
            <a:avLst/>
          </a:prstGeom>
        </p:spPr>
      </p:pic>
    </p:spTree>
    <p:extLst>
      <p:ext uri="{BB962C8B-B14F-4D97-AF65-F5344CB8AC3E}">
        <p14:creationId xmlns:p14="http://schemas.microsoft.com/office/powerpoint/2010/main" xmlns="" val="1196196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F33B49-38E0-4943-9646-A372507A35B6}"/>
              </a:ext>
            </a:extLst>
          </p:cNvPr>
          <p:cNvSpPr>
            <a:spLocks noGrp="1"/>
          </p:cNvSpPr>
          <p:nvPr>
            <p:ph type="title"/>
          </p:nvPr>
        </p:nvSpPr>
        <p:spPr/>
        <p:txBody>
          <a:bodyPr/>
          <a:lstStyle/>
          <a:p>
            <a:r>
              <a:rPr lang="en-US" dirty="0"/>
              <a:t>Floyd-</a:t>
            </a:r>
            <a:r>
              <a:rPr lang="en-US" dirty="0" err="1"/>
              <a:t>Warshall</a:t>
            </a:r>
            <a:r>
              <a:rPr lang="en-US" dirty="0"/>
              <a:t> all-pairs shortest algorithm</a:t>
            </a:r>
            <a:endParaRPr lang="en-IN" dirty="0"/>
          </a:p>
        </p:txBody>
      </p:sp>
      <p:pic>
        <p:nvPicPr>
          <p:cNvPr id="4" name="Content Placeholder 3">
            <a:extLst>
              <a:ext uri="{FF2B5EF4-FFF2-40B4-BE49-F238E27FC236}">
                <a16:creationId xmlns:a16="http://schemas.microsoft.com/office/drawing/2014/main" xmlns="" id="{48B9BF18-3906-4559-BB70-12DF6A8477BD}"/>
              </a:ext>
            </a:extLst>
          </p:cNvPr>
          <p:cNvPicPr>
            <a:picLocks noGrp="1" noChangeAspect="1"/>
          </p:cNvPicPr>
          <p:nvPr>
            <p:ph idx="1"/>
          </p:nvPr>
        </p:nvPicPr>
        <p:blipFill>
          <a:blip r:embed="rId2" cstate="print"/>
          <a:stretch>
            <a:fillRect/>
          </a:stretch>
        </p:blipFill>
        <p:spPr>
          <a:xfrm>
            <a:off x="838202" y="1690688"/>
            <a:ext cx="10515600" cy="3944143"/>
          </a:xfrm>
          <a:prstGeom prst="rect">
            <a:avLst/>
          </a:prstGeom>
        </p:spPr>
      </p:pic>
    </p:spTree>
    <p:extLst>
      <p:ext uri="{BB962C8B-B14F-4D97-AF65-F5344CB8AC3E}">
        <p14:creationId xmlns:p14="http://schemas.microsoft.com/office/powerpoint/2010/main" xmlns="" val="167890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75A3D08-2809-45CA-82C2-0A3C3FC53D7A}"/>
              </a:ext>
            </a:extLst>
          </p:cNvPr>
          <p:cNvSpPr>
            <a:spLocks noGrp="1"/>
          </p:cNvSpPr>
          <p:nvPr>
            <p:ph sz="half" idx="1"/>
          </p:nvPr>
        </p:nvSpPr>
        <p:spPr>
          <a:xfrm>
            <a:off x="838200" y="159027"/>
            <a:ext cx="5257801" cy="6017937"/>
          </a:xfrm>
        </p:spPr>
        <p:txBody>
          <a:bodyPr/>
          <a:lstStyle/>
          <a:p>
            <a:pPr algn="just"/>
            <a:r>
              <a:rPr lang="en-US" dirty="0">
                <a:solidFill>
                  <a:srgbClr val="FF0000"/>
                </a:solidFill>
              </a:rPr>
              <a:t>Apply the </a:t>
            </a:r>
            <a:r>
              <a:rPr lang="en-US" dirty="0" err="1">
                <a:solidFill>
                  <a:srgbClr val="FF0000"/>
                </a:solidFill>
              </a:rPr>
              <a:t>Warshall</a:t>
            </a:r>
            <a:r>
              <a:rPr lang="en-US" dirty="0">
                <a:solidFill>
                  <a:srgbClr val="FF0000"/>
                </a:solidFill>
              </a:rPr>
              <a:t> algorithm and find the transitive closure for the graph  shown in Fig. 13.10.</a:t>
            </a:r>
            <a:endParaRPr lang="en-IN" dirty="0">
              <a:solidFill>
                <a:srgbClr val="FF0000"/>
              </a:solidFill>
            </a:endParaRPr>
          </a:p>
        </p:txBody>
      </p:sp>
      <p:pic>
        <p:nvPicPr>
          <p:cNvPr id="13" name="Content Placeholder 12">
            <a:extLst>
              <a:ext uri="{FF2B5EF4-FFF2-40B4-BE49-F238E27FC236}">
                <a16:creationId xmlns:a16="http://schemas.microsoft.com/office/drawing/2014/main" xmlns="" id="{02352F0A-5462-44D9-8EA6-883717711356}"/>
              </a:ext>
            </a:extLst>
          </p:cNvPr>
          <p:cNvPicPr>
            <a:picLocks noGrp="1" noChangeAspect="1"/>
          </p:cNvPicPr>
          <p:nvPr>
            <p:ph sz="half" idx="2"/>
          </p:nvPr>
        </p:nvPicPr>
        <p:blipFill>
          <a:blip r:embed="rId2" cstate="print"/>
          <a:stretch>
            <a:fillRect/>
          </a:stretch>
        </p:blipFill>
        <p:spPr>
          <a:xfrm>
            <a:off x="6359216" y="115956"/>
            <a:ext cx="2105319" cy="2200582"/>
          </a:xfrm>
          <a:prstGeom prst="rect">
            <a:avLst/>
          </a:prstGeom>
        </p:spPr>
      </p:pic>
      <p:pic>
        <p:nvPicPr>
          <p:cNvPr id="5" name="Picture 4">
            <a:extLst>
              <a:ext uri="{FF2B5EF4-FFF2-40B4-BE49-F238E27FC236}">
                <a16:creationId xmlns:a16="http://schemas.microsoft.com/office/drawing/2014/main" xmlns="" id="{D7225801-8B97-4E09-BA61-F054274D017A}"/>
              </a:ext>
            </a:extLst>
          </p:cNvPr>
          <p:cNvPicPr>
            <a:picLocks noChangeAspect="1"/>
          </p:cNvPicPr>
          <p:nvPr/>
        </p:nvPicPr>
        <p:blipFill>
          <a:blip r:embed="rId3" cstate="print"/>
          <a:stretch>
            <a:fillRect/>
          </a:stretch>
        </p:blipFill>
        <p:spPr>
          <a:xfrm>
            <a:off x="8803952" y="349351"/>
            <a:ext cx="2934108" cy="1733792"/>
          </a:xfrm>
          <a:prstGeom prst="rect">
            <a:avLst/>
          </a:prstGeom>
        </p:spPr>
      </p:pic>
      <p:pic>
        <p:nvPicPr>
          <p:cNvPr id="6" name="Picture 5">
            <a:extLst>
              <a:ext uri="{FF2B5EF4-FFF2-40B4-BE49-F238E27FC236}">
                <a16:creationId xmlns:a16="http://schemas.microsoft.com/office/drawing/2014/main" xmlns="" id="{A30DB645-310D-4B52-A8EA-EA5277C09EAC}"/>
              </a:ext>
            </a:extLst>
          </p:cNvPr>
          <p:cNvPicPr>
            <a:picLocks noChangeAspect="1"/>
          </p:cNvPicPr>
          <p:nvPr/>
        </p:nvPicPr>
        <p:blipFill>
          <a:blip r:embed="rId4" cstate="print"/>
          <a:stretch>
            <a:fillRect/>
          </a:stretch>
        </p:blipFill>
        <p:spPr>
          <a:xfrm>
            <a:off x="453939" y="2048768"/>
            <a:ext cx="1590898" cy="1095528"/>
          </a:xfrm>
          <a:prstGeom prst="rect">
            <a:avLst/>
          </a:prstGeom>
        </p:spPr>
      </p:pic>
      <p:pic>
        <p:nvPicPr>
          <p:cNvPr id="7" name="Picture 6">
            <a:extLst>
              <a:ext uri="{FF2B5EF4-FFF2-40B4-BE49-F238E27FC236}">
                <a16:creationId xmlns:a16="http://schemas.microsoft.com/office/drawing/2014/main" xmlns="" id="{C59E2BFE-0631-4D05-87E0-EF412858B19E}"/>
              </a:ext>
            </a:extLst>
          </p:cNvPr>
          <p:cNvPicPr>
            <a:picLocks noChangeAspect="1"/>
          </p:cNvPicPr>
          <p:nvPr/>
        </p:nvPicPr>
        <p:blipFill>
          <a:blip r:embed="rId5" cstate="print"/>
          <a:stretch>
            <a:fillRect/>
          </a:stretch>
        </p:blipFill>
        <p:spPr>
          <a:xfrm>
            <a:off x="38425" y="3555488"/>
            <a:ext cx="3839111" cy="2514951"/>
          </a:xfrm>
          <a:prstGeom prst="rect">
            <a:avLst/>
          </a:prstGeom>
        </p:spPr>
      </p:pic>
      <p:pic>
        <p:nvPicPr>
          <p:cNvPr id="8" name="Picture 7">
            <a:extLst>
              <a:ext uri="{FF2B5EF4-FFF2-40B4-BE49-F238E27FC236}">
                <a16:creationId xmlns:a16="http://schemas.microsoft.com/office/drawing/2014/main" xmlns="" id="{DADE6D7A-A023-4B2B-A843-C5A8FD74BDE3}"/>
              </a:ext>
            </a:extLst>
          </p:cNvPr>
          <p:cNvPicPr>
            <a:picLocks noChangeAspect="1"/>
          </p:cNvPicPr>
          <p:nvPr/>
        </p:nvPicPr>
        <p:blipFill>
          <a:blip r:embed="rId6" cstate="print"/>
          <a:stretch>
            <a:fillRect/>
          </a:stretch>
        </p:blipFill>
        <p:spPr>
          <a:xfrm>
            <a:off x="4436659" y="2196308"/>
            <a:ext cx="1790949" cy="971686"/>
          </a:xfrm>
          <a:prstGeom prst="rect">
            <a:avLst/>
          </a:prstGeom>
        </p:spPr>
      </p:pic>
      <p:pic>
        <p:nvPicPr>
          <p:cNvPr id="14" name="Picture 13">
            <a:extLst>
              <a:ext uri="{FF2B5EF4-FFF2-40B4-BE49-F238E27FC236}">
                <a16:creationId xmlns:a16="http://schemas.microsoft.com/office/drawing/2014/main" xmlns="" id="{7092B355-EEA5-41E6-9207-DA9C18D523D1}"/>
              </a:ext>
            </a:extLst>
          </p:cNvPr>
          <p:cNvPicPr>
            <a:picLocks noChangeAspect="1"/>
          </p:cNvPicPr>
          <p:nvPr/>
        </p:nvPicPr>
        <p:blipFill>
          <a:blip r:embed="rId7" cstate="print"/>
          <a:stretch>
            <a:fillRect/>
          </a:stretch>
        </p:blipFill>
        <p:spPr>
          <a:xfrm>
            <a:off x="4009146" y="3489712"/>
            <a:ext cx="3781954" cy="2629267"/>
          </a:xfrm>
          <a:prstGeom prst="rect">
            <a:avLst/>
          </a:prstGeom>
        </p:spPr>
      </p:pic>
      <p:pic>
        <p:nvPicPr>
          <p:cNvPr id="15" name="Picture 14">
            <a:extLst>
              <a:ext uri="{FF2B5EF4-FFF2-40B4-BE49-F238E27FC236}">
                <a16:creationId xmlns:a16="http://schemas.microsoft.com/office/drawing/2014/main" xmlns="" id="{A0E37D6F-C370-4824-8C33-4929E86A7EB0}"/>
              </a:ext>
            </a:extLst>
          </p:cNvPr>
          <p:cNvPicPr>
            <a:picLocks noChangeAspect="1"/>
          </p:cNvPicPr>
          <p:nvPr/>
        </p:nvPicPr>
        <p:blipFill>
          <a:blip r:embed="rId8" cstate="print"/>
          <a:stretch>
            <a:fillRect/>
          </a:stretch>
        </p:blipFill>
        <p:spPr>
          <a:xfrm>
            <a:off x="8347361" y="2210598"/>
            <a:ext cx="1648055" cy="943107"/>
          </a:xfrm>
          <a:prstGeom prst="rect">
            <a:avLst/>
          </a:prstGeom>
        </p:spPr>
      </p:pic>
      <p:pic>
        <p:nvPicPr>
          <p:cNvPr id="16" name="Picture 15">
            <a:extLst>
              <a:ext uri="{FF2B5EF4-FFF2-40B4-BE49-F238E27FC236}">
                <a16:creationId xmlns:a16="http://schemas.microsoft.com/office/drawing/2014/main" xmlns="" id="{A288F342-B8EE-4FBF-9BD4-D59FF447C2F8}"/>
              </a:ext>
            </a:extLst>
          </p:cNvPr>
          <p:cNvPicPr>
            <a:picLocks noChangeAspect="1"/>
          </p:cNvPicPr>
          <p:nvPr/>
        </p:nvPicPr>
        <p:blipFill>
          <a:blip r:embed="rId9" cstate="print"/>
          <a:stretch>
            <a:fillRect/>
          </a:stretch>
        </p:blipFill>
        <p:spPr>
          <a:xfrm>
            <a:off x="7991865" y="3555489"/>
            <a:ext cx="3915321" cy="1971950"/>
          </a:xfrm>
          <a:prstGeom prst="rect">
            <a:avLst/>
          </a:prstGeom>
        </p:spPr>
      </p:pic>
      <p:pic>
        <p:nvPicPr>
          <p:cNvPr id="17" name="Picture 16">
            <a:extLst>
              <a:ext uri="{FF2B5EF4-FFF2-40B4-BE49-F238E27FC236}">
                <a16:creationId xmlns:a16="http://schemas.microsoft.com/office/drawing/2014/main" xmlns="" id="{E369AA2C-1B7D-4A48-A1BC-7290633609BA}"/>
              </a:ext>
            </a:extLst>
          </p:cNvPr>
          <p:cNvPicPr>
            <a:picLocks noChangeAspect="1"/>
          </p:cNvPicPr>
          <p:nvPr/>
        </p:nvPicPr>
        <p:blipFill>
          <a:blip r:embed="rId10" cstate="print"/>
          <a:stretch>
            <a:fillRect/>
          </a:stretch>
        </p:blipFill>
        <p:spPr>
          <a:xfrm>
            <a:off x="8818149" y="5762270"/>
            <a:ext cx="1476581" cy="924054"/>
          </a:xfrm>
          <a:prstGeom prst="rect">
            <a:avLst/>
          </a:prstGeom>
        </p:spPr>
      </p:pic>
      <p:sp>
        <p:nvSpPr>
          <p:cNvPr id="25" name="Arrow: Down 24">
            <a:extLst>
              <a:ext uri="{FF2B5EF4-FFF2-40B4-BE49-F238E27FC236}">
                <a16:creationId xmlns:a16="http://schemas.microsoft.com/office/drawing/2014/main" xmlns="" id="{48E8D927-9752-40C3-B579-DAB845677A13}"/>
              </a:ext>
            </a:extLst>
          </p:cNvPr>
          <p:cNvSpPr/>
          <p:nvPr/>
        </p:nvSpPr>
        <p:spPr>
          <a:xfrm>
            <a:off x="1303059" y="3130810"/>
            <a:ext cx="281737" cy="367851"/>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6" name="Arrow: Down 25">
            <a:extLst>
              <a:ext uri="{FF2B5EF4-FFF2-40B4-BE49-F238E27FC236}">
                <a16:creationId xmlns:a16="http://schemas.microsoft.com/office/drawing/2014/main" xmlns="" id="{43448FA6-2367-4294-9AAC-D23E58100361}"/>
              </a:ext>
            </a:extLst>
          </p:cNvPr>
          <p:cNvSpPr/>
          <p:nvPr/>
        </p:nvSpPr>
        <p:spPr>
          <a:xfrm>
            <a:off x="5434255" y="3167362"/>
            <a:ext cx="281737" cy="367851"/>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7" name="Arrow: Down 26">
            <a:extLst>
              <a:ext uri="{FF2B5EF4-FFF2-40B4-BE49-F238E27FC236}">
                <a16:creationId xmlns:a16="http://schemas.microsoft.com/office/drawing/2014/main" xmlns="" id="{7B07BA45-67C9-4535-A3E1-8A8407394505}"/>
              </a:ext>
            </a:extLst>
          </p:cNvPr>
          <p:cNvSpPr/>
          <p:nvPr/>
        </p:nvSpPr>
        <p:spPr>
          <a:xfrm>
            <a:off x="9392351" y="3199376"/>
            <a:ext cx="281737" cy="367851"/>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8" name="Arrow: Right 27">
            <a:extLst>
              <a:ext uri="{FF2B5EF4-FFF2-40B4-BE49-F238E27FC236}">
                <a16:creationId xmlns:a16="http://schemas.microsoft.com/office/drawing/2014/main" xmlns="" id="{7A911B60-D74C-49E9-8B5C-532A6A63EED8}"/>
              </a:ext>
            </a:extLst>
          </p:cNvPr>
          <p:cNvSpPr/>
          <p:nvPr/>
        </p:nvSpPr>
        <p:spPr>
          <a:xfrm>
            <a:off x="2406244" y="2410554"/>
            <a:ext cx="1645721" cy="37195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9" name="Arrow: Right 28">
            <a:extLst>
              <a:ext uri="{FF2B5EF4-FFF2-40B4-BE49-F238E27FC236}">
                <a16:creationId xmlns:a16="http://schemas.microsoft.com/office/drawing/2014/main" xmlns="" id="{D80EF3AD-5999-40FC-AB1C-FD3C9E41E40E}"/>
              </a:ext>
            </a:extLst>
          </p:cNvPr>
          <p:cNvSpPr/>
          <p:nvPr/>
        </p:nvSpPr>
        <p:spPr>
          <a:xfrm>
            <a:off x="6589015" y="2486673"/>
            <a:ext cx="1645721" cy="37195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0" name="Rectangle 29">
            <a:extLst>
              <a:ext uri="{FF2B5EF4-FFF2-40B4-BE49-F238E27FC236}">
                <a16:creationId xmlns:a16="http://schemas.microsoft.com/office/drawing/2014/main" xmlns="" id="{B319A0AA-D0B6-498C-9DA8-5CC789C78DC9}"/>
              </a:ext>
            </a:extLst>
          </p:cNvPr>
          <p:cNvSpPr/>
          <p:nvPr/>
        </p:nvSpPr>
        <p:spPr>
          <a:xfrm>
            <a:off x="8693429" y="5632174"/>
            <a:ext cx="1868556" cy="113421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1" name="Arrow: Right 30">
            <a:extLst>
              <a:ext uri="{FF2B5EF4-FFF2-40B4-BE49-F238E27FC236}">
                <a16:creationId xmlns:a16="http://schemas.microsoft.com/office/drawing/2014/main" xmlns="" id="{02697D89-67D5-478D-BA54-495FD29C62E1}"/>
              </a:ext>
            </a:extLst>
          </p:cNvPr>
          <p:cNvSpPr/>
          <p:nvPr/>
        </p:nvSpPr>
        <p:spPr>
          <a:xfrm>
            <a:off x="7962850" y="6013304"/>
            <a:ext cx="588398" cy="37195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274184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02B740E3-6683-49A7-93C2-AE8F2C3DC3C2}"/>
              </a:ext>
            </a:extLst>
          </p:cNvPr>
          <p:cNvSpPr>
            <a:spLocks noGrp="1"/>
          </p:cNvSpPr>
          <p:nvPr>
            <p:ph idx="1"/>
          </p:nvPr>
        </p:nvSpPr>
        <p:spPr>
          <a:xfrm>
            <a:off x="838202" y="318053"/>
            <a:ext cx="10515600" cy="5858911"/>
          </a:xfrm>
        </p:spPr>
        <p:txBody>
          <a:bodyPr/>
          <a:lstStyle/>
          <a:p>
            <a:r>
              <a:rPr lang="en-US" dirty="0">
                <a:solidFill>
                  <a:srgbClr val="FF0000"/>
                </a:solidFill>
              </a:rPr>
              <a:t>Consider the graph shown in Fig. 13.11 and find the shortest path using the  Floyd–</a:t>
            </a:r>
            <a:r>
              <a:rPr lang="en-US" dirty="0" err="1">
                <a:solidFill>
                  <a:srgbClr val="FF0000"/>
                </a:solidFill>
              </a:rPr>
              <a:t>Warshall</a:t>
            </a:r>
            <a:r>
              <a:rPr lang="en-US" dirty="0">
                <a:solidFill>
                  <a:srgbClr val="FF0000"/>
                </a:solidFill>
              </a:rPr>
              <a:t> algorithm.</a:t>
            </a:r>
          </a:p>
          <a:p>
            <a:endParaRPr lang="en-IN" dirty="0"/>
          </a:p>
        </p:txBody>
      </p:sp>
      <p:pic>
        <p:nvPicPr>
          <p:cNvPr id="7" name="Picture 6">
            <a:extLst>
              <a:ext uri="{FF2B5EF4-FFF2-40B4-BE49-F238E27FC236}">
                <a16:creationId xmlns:a16="http://schemas.microsoft.com/office/drawing/2014/main" xmlns="" id="{3A5EDB5C-76E3-4620-916A-1EF648C10545}"/>
              </a:ext>
            </a:extLst>
          </p:cNvPr>
          <p:cNvPicPr>
            <a:picLocks noChangeAspect="1"/>
          </p:cNvPicPr>
          <p:nvPr/>
        </p:nvPicPr>
        <p:blipFill>
          <a:blip r:embed="rId2" cstate="print"/>
          <a:stretch>
            <a:fillRect/>
          </a:stretch>
        </p:blipFill>
        <p:spPr>
          <a:xfrm>
            <a:off x="9363560" y="962851"/>
            <a:ext cx="2467319" cy="2657846"/>
          </a:xfrm>
          <a:prstGeom prst="rect">
            <a:avLst/>
          </a:prstGeom>
        </p:spPr>
      </p:pic>
      <p:pic>
        <p:nvPicPr>
          <p:cNvPr id="8" name="Picture 7">
            <a:extLst>
              <a:ext uri="{FF2B5EF4-FFF2-40B4-BE49-F238E27FC236}">
                <a16:creationId xmlns:a16="http://schemas.microsoft.com/office/drawing/2014/main" xmlns="" id="{4F63C475-9B04-428F-BE56-2CBF4C8F9FCA}"/>
              </a:ext>
            </a:extLst>
          </p:cNvPr>
          <p:cNvPicPr>
            <a:picLocks noChangeAspect="1"/>
          </p:cNvPicPr>
          <p:nvPr/>
        </p:nvPicPr>
        <p:blipFill>
          <a:blip r:embed="rId3" cstate="print"/>
          <a:stretch>
            <a:fillRect/>
          </a:stretch>
        </p:blipFill>
        <p:spPr>
          <a:xfrm>
            <a:off x="2590312" y="1280507"/>
            <a:ext cx="1514686" cy="962159"/>
          </a:xfrm>
          <a:prstGeom prst="rect">
            <a:avLst/>
          </a:prstGeom>
        </p:spPr>
      </p:pic>
      <p:pic>
        <p:nvPicPr>
          <p:cNvPr id="9" name="Picture 8">
            <a:extLst>
              <a:ext uri="{FF2B5EF4-FFF2-40B4-BE49-F238E27FC236}">
                <a16:creationId xmlns:a16="http://schemas.microsoft.com/office/drawing/2014/main" xmlns="" id="{F81EC039-7E63-4046-8608-CE104462C7DB}"/>
              </a:ext>
            </a:extLst>
          </p:cNvPr>
          <p:cNvPicPr>
            <a:picLocks noChangeAspect="1"/>
          </p:cNvPicPr>
          <p:nvPr/>
        </p:nvPicPr>
        <p:blipFill>
          <a:blip r:embed="rId4" cstate="print"/>
          <a:stretch>
            <a:fillRect/>
          </a:stretch>
        </p:blipFill>
        <p:spPr>
          <a:xfrm>
            <a:off x="647675" y="2914086"/>
            <a:ext cx="6144482" cy="666843"/>
          </a:xfrm>
          <a:prstGeom prst="rect">
            <a:avLst/>
          </a:prstGeom>
        </p:spPr>
      </p:pic>
      <p:pic>
        <p:nvPicPr>
          <p:cNvPr id="10" name="Picture 9">
            <a:extLst>
              <a:ext uri="{FF2B5EF4-FFF2-40B4-BE49-F238E27FC236}">
                <a16:creationId xmlns:a16="http://schemas.microsoft.com/office/drawing/2014/main" xmlns="" id="{6ECF8D74-7D06-4FCA-926C-BC8FACCEC3BA}"/>
              </a:ext>
            </a:extLst>
          </p:cNvPr>
          <p:cNvPicPr>
            <a:picLocks noChangeAspect="1"/>
          </p:cNvPicPr>
          <p:nvPr/>
        </p:nvPicPr>
        <p:blipFill>
          <a:blip r:embed="rId5" cstate="print"/>
          <a:stretch>
            <a:fillRect/>
          </a:stretch>
        </p:blipFill>
        <p:spPr>
          <a:xfrm>
            <a:off x="6982684" y="2837900"/>
            <a:ext cx="1886213" cy="962159"/>
          </a:xfrm>
          <a:prstGeom prst="rect">
            <a:avLst/>
          </a:prstGeom>
        </p:spPr>
      </p:pic>
      <p:pic>
        <p:nvPicPr>
          <p:cNvPr id="11" name="Picture 10">
            <a:extLst>
              <a:ext uri="{FF2B5EF4-FFF2-40B4-BE49-F238E27FC236}">
                <a16:creationId xmlns:a16="http://schemas.microsoft.com/office/drawing/2014/main" xmlns="" id="{CC13BBD0-6A92-4078-8F15-024B4F095CE2}"/>
              </a:ext>
            </a:extLst>
          </p:cNvPr>
          <p:cNvPicPr>
            <a:picLocks noChangeAspect="1"/>
          </p:cNvPicPr>
          <p:nvPr/>
        </p:nvPicPr>
        <p:blipFill>
          <a:blip r:embed="rId6" cstate="print"/>
          <a:stretch>
            <a:fillRect/>
          </a:stretch>
        </p:blipFill>
        <p:spPr>
          <a:xfrm>
            <a:off x="647673" y="4252348"/>
            <a:ext cx="6087324" cy="657317"/>
          </a:xfrm>
          <a:prstGeom prst="rect">
            <a:avLst/>
          </a:prstGeom>
        </p:spPr>
      </p:pic>
      <p:pic>
        <p:nvPicPr>
          <p:cNvPr id="12" name="Picture 11">
            <a:extLst>
              <a:ext uri="{FF2B5EF4-FFF2-40B4-BE49-F238E27FC236}">
                <a16:creationId xmlns:a16="http://schemas.microsoft.com/office/drawing/2014/main" xmlns="" id="{F00FC0E6-9026-4D1E-8685-280E3820F728}"/>
              </a:ext>
            </a:extLst>
          </p:cNvPr>
          <p:cNvPicPr>
            <a:picLocks noChangeAspect="1"/>
          </p:cNvPicPr>
          <p:nvPr/>
        </p:nvPicPr>
        <p:blipFill>
          <a:blip r:embed="rId7" cstate="print"/>
          <a:stretch>
            <a:fillRect/>
          </a:stretch>
        </p:blipFill>
        <p:spPr>
          <a:xfrm>
            <a:off x="7091503" y="4124330"/>
            <a:ext cx="1886213" cy="962159"/>
          </a:xfrm>
          <a:prstGeom prst="rect">
            <a:avLst/>
          </a:prstGeom>
        </p:spPr>
      </p:pic>
      <p:pic>
        <p:nvPicPr>
          <p:cNvPr id="13" name="Picture 12">
            <a:extLst>
              <a:ext uri="{FF2B5EF4-FFF2-40B4-BE49-F238E27FC236}">
                <a16:creationId xmlns:a16="http://schemas.microsoft.com/office/drawing/2014/main" xmlns="" id="{01D596DB-23E2-4FE6-8E7B-025A4E4D53C0}"/>
              </a:ext>
            </a:extLst>
          </p:cNvPr>
          <p:cNvPicPr>
            <a:picLocks noChangeAspect="1"/>
          </p:cNvPicPr>
          <p:nvPr/>
        </p:nvPicPr>
        <p:blipFill>
          <a:blip r:embed="rId8" cstate="print"/>
          <a:stretch>
            <a:fillRect/>
          </a:stretch>
        </p:blipFill>
        <p:spPr>
          <a:xfrm>
            <a:off x="647675" y="5441931"/>
            <a:ext cx="6087324" cy="666843"/>
          </a:xfrm>
          <a:prstGeom prst="rect">
            <a:avLst/>
          </a:prstGeom>
        </p:spPr>
      </p:pic>
      <p:pic>
        <p:nvPicPr>
          <p:cNvPr id="14" name="Picture 13">
            <a:extLst>
              <a:ext uri="{FF2B5EF4-FFF2-40B4-BE49-F238E27FC236}">
                <a16:creationId xmlns:a16="http://schemas.microsoft.com/office/drawing/2014/main" xmlns="" id="{B5A72F21-84BF-45C0-BAB6-1E5A5DFBE7CB}"/>
              </a:ext>
            </a:extLst>
          </p:cNvPr>
          <p:cNvPicPr>
            <a:picLocks noChangeAspect="1"/>
          </p:cNvPicPr>
          <p:nvPr/>
        </p:nvPicPr>
        <p:blipFill>
          <a:blip r:embed="rId9" cstate="print"/>
          <a:stretch>
            <a:fillRect/>
          </a:stretch>
        </p:blipFill>
        <p:spPr>
          <a:xfrm>
            <a:off x="7186766" y="5265693"/>
            <a:ext cx="1790949" cy="1019317"/>
          </a:xfrm>
          <a:prstGeom prst="rect">
            <a:avLst/>
          </a:prstGeom>
        </p:spPr>
      </p:pic>
    </p:spTree>
    <p:extLst>
      <p:ext uri="{BB962C8B-B14F-4D97-AF65-F5344CB8AC3E}">
        <p14:creationId xmlns:p14="http://schemas.microsoft.com/office/powerpoint/2010/main" xmlns="" val="205432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1A14CE-8DAA-4DF2-81C2-030207E566F0}"/>
              </a:ext>
            </a:extLst>
          </p:cNvPr>
          <p:cNvSpPr>
            <a:spLocks noGrp="1"/>
          </p:cNvSpPr>
          <p:nvPr>
            <p:ph type="title"/>
          </p:nvPr>
        </p:nvSpPr>
        <p:spPr/>
        <p:txBody>
          <a:bodyPr/>
          <a:lstStyle/>
          <a:p>
            <a:r>
              <a:rPr lang="en-US" dirty="0"/>
              <a:t>Bellman-Ford Algorithm</a:t>
            </a:r>
            <a:endParaRPr lang="en-IN" dirty="0"/>
          </a:p>
        </p:txBody>
      </p:sp>
      <p:pic>
        <p:nvPicPr>
          <p:cNvPr id="4" name="Content Placeholder 3">
            <a:extLst>
              <a:ext uri="{FF2B5EF4-FFF2-40B4-BE49-F238E27FC236}">
                <a16:creationId xmlns:a16="http://schemas.microsoft.com/office/drawing/2014/main" xmlns="" id="{5D19A55B-D71E-4233-915A-D4FE37D4FE26}"/>
              </a:ext>
            </a:extLst>
          </p:cNvPr>
          <p:cNvPicPr>
            <a:picLocks noGrp="1" noChangeAspect="1"/>
          </p:cNvPicPr>
          <p:nvPr>
            <p:ph idx="1"/>
          </p:nvPr>
        </p:nvPicPr>
        <p:blipFill>
          <a:blip r:embed="rId2" cstate="print"/>
          <a:stretch>
            <a:fillRect/>
          </a:stretch>
        </p:blipFill>
        <p:spPr>
          <a:xfrm>
            <a:off x="936694" y="2010291"/>
            <a:ext cx="10383700" cy="3982006"/>
          </a:xfrm>
          <a:prstGeom prst="rect">
            <a:avLst/>
          </a:prstGeom>
        </p:spPr>
      </p:pic>
    </p:spTree>
    <p:extLst>
      <p:ext uri="{BB962C8B-B14F-4D97-AF65-F5344CB8AC3E}">
        <p14:creationId xmlns:p14="http://schemas.microsoft.com/office/powerpoint/2010/main" xmlns="" val="231861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E1493A-D0C7-45D8-9643-E3EA5CF016A0}"/>
              </a:ext>
            </a:extLst>
          </p:cNvPr>
          <p:cNvSpPr>
            <a:spLocks noGrp="1"/>
          </p:cNvSpPr>
          <p:nvPr>
            <p:ph type="title"/>
          </p:nvPr>
        </p:nvSpPr>
        <p:spPr/>
        <p:txBody>
          <a:bodyPr/>
          <a:lstStyle/>
          <a:p>
            <a:r>
              <a:rPr lang="en-US" dirty="0"/>
              <a:t>Bellman-Ford Algorithm</a:t>
            </a:r>
            <a:endParaRPr lang="en-IN" dirty="0"/>
          </a:p>
        </p:txBody>
      </p:sp>
      <p:pic>
        <p:nvPicPr>
          <p:cNvPr id="4" name="Content Placeholder 3">
            <a:extLst>
              <a:ext uri="{FF2B5EF4-FFF2-40B4-BE49-F238E27FC236}">
                <a16:creationId xmlns:a16="http://schemas.microsoft.com/office/drawing/2014/main" xmlns="" id="{6208F4E2-5D80-47DB-A759-9C60DB8E37F5}"/>
              </a:ext>
            </a:extLst>
          </p:cNvPr>
          <p:cNvPicPr>
            <a:picLocks noGrp="1" noChangeAspect="1"/>
          </p:cNvPicPr>
          <p:nvPr>
            <p:ph idx="1"/>
          </p:nvPr>
        </p:nvPicPr>
        <p:blipFill>
          <a:blip r:embed="rId2" cstate="print"/>
          <a:stretch>
            <a:fillRect/>
          </a:stretch>
        </p:blipFill>
        <p:spPr>
          <a:xfrm>
            <a:off x="1728769" y="1825625"/>
            <a:ext cx="8799550" cy="4351338"/>
          </a:xfrm>
          <a:prstGeom prst="rect">
            <a:avLst/>
          </a:prstGeom>
        </p:spPr>
      </p:pic>
    </p:spTree>
    <p:extLst>
      <p:ext uri="{BB962C8B-B14F-4D97-AF65-F5344CB8AC3E}">
        <p14:creationId xmlns:p14="http://schemas.microsoft.com/office/powerpoint/2010/main" xmlns="" val="4313031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67C9DD-AE70-4BBE-B401-50D7360933A8}"/>
              </a:ext>
            </a:extLst>
          </p:cNvPr>
          <p:cNvSpPr>
            <a:spLocks noGrp="1"/>
          </p:cNvSpPr>
          <p:nvPr>
            <p:ph type="title"/>
          </p:nvPr>
        </p:nvSpPr>
        <p:spPr/>
        <p:txBody>
          <a:bodyPr/>
          <a:lstStyle/>
          <a:p>
            <a:r>
              <a:rPr lang="en-US" dirty="0"/>
              <a:t>Bellman-Ford Algorithm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07ED573C-472E-4BC6-AAF5-257E8C93A329}"/>
                  </a:ext>
                </a:extLst>
              </p:cNvPr>
              <p:cNvSpPr>
                <a:spLocks noGrp="1"/>
              </p:cNvSpPr>
              <p:nvPr>
                <p:ph idx="1"/>
              </p:nvPr>
            </p:nvSpPr>
            <p:spPr/>
            <p:txBody>
              <a:bodyPr>
                <a:normAutofit/>
              </a:bodyPr>
              <a:lstStyle/>
              <a:p>
                <a:r>
                  <a:rPr lang="en-US" dirty="0"/>
                  <a:t>Step 1: Choose the source vertex and label it ‘0’.</a:t>
                </a:r>
              </a:p>
              <a:p>
                <a:r>
                  <a:rPr lang="en-US" dirty="0"/>
                  <a:t>Step 2:Label all vertices except the source as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a:t>
                </a:r>
              </a:p>
              <a:p>
                <a:r>
                  <a:rPr lang="en-US" dirty="0"/>
                  <a:t>Step 3: Repeat n – 1 times, where n is the number of vertices.</a:t>
                </a:r>
              </a:p>
              <a:p>
                <a:r>
                  <a:rPr lang="en-US" dirty="0"/>
                  <a:t> 3a: If the label of v is larger than that of u + cost of the edge (u, v) then relax on edge.</a:t>
                </a:r>
              </a:p>
              <a:p>
                <a:r>
                  <a:rPr lang="en-US" dirty="0"/>
                  <a:t> 3b: Update the label of v as the label of u + cost of the edge (u, v).</a:t>
                </a:r>
              </a:p>
              <a:p>
                <a:r>
                  <a:rPr lang="en-US" dirty="0"/>
                  <a:t>Step 4: Check the presence of any negative edge cycle by repeating the iteration and carrying out the procedure if any </a:t>
                </a:r>
              </a:p>
              <a:p>
                <a:r>
                  <a:rPr lang="en-US" dirty="0"/>
                  <a:t>edges still relax. If so, report the presence of a negative weight cycle.</a:t>
                </a:r>
              </a:p>
              <a:p>
                <a:r>
                  <a:rPr lang="en-US" dirty="0"/>
                  <a:t>Step 5: Exit</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07ED573C-472E-4BC6-AAF5-257E8C93A329}"/>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a:stretch>
              </a:blipFill>
            </p:spPr>
            <p:txBody>
              <a:bodyPr/>
              <a:lstStyle/>
              <a:p>
                <a:r>
                  <a:rPr lang="en-US">
                    <a:noFill/>
                  </a:rPr>
                  <a:t> </a:t>
                </a:r>
              </a:p>
            </p:txBody>
          </p:sp>
        </mc:Fallback>
      </mc:AlternateContent>
    </p:spTree>
    <p:extLst>
      <p:ext uri="{BB962C8B-B14F-4D97-AF65-F5344CB8AC3E}">
        <p14:creationId xmlns:p14="http://schemas.microsoft.com/office/powerpoint/2010/main" xmlns="" val="2186168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58D268-1BBB-4C3A-8BB8-C9B2F1BB965D}"/>
              </a:ext>
            </a:extLst>
          </p:cNvPr>
          <p:cNvSpPr>
            <a:spLocks noGrp="1"/>
          </p:cNvSpPr>
          <p:nvPr>
            <p:ph type="title"/>
          </p:nvPr>
        </p:nvSpPr>
        <p:spPr/>
        <p:txBody>
          <a:bodyPr/>
          <a:lstStyle/>
          <a:p>
            <a:r>
              <a:rPr lang="en-US" dirty="0"/>
              <a:t>Bellman-Ford Algorithm</a:t>
            </a:r>
            <a:endParaRPr lang="en-IN" dirty="0"/>
          </a:p>
        </p:txBody>
      </p:sp>
      <p:pic>
        <p:nvPicPr>
          <p:cNvPr id="4" name="Content Placeholder 3">
            <a:extLst>
              <a:ext uri="{FF2B5EF4-FFF2-40B4-BE49-F238E27FC236}">
                <a16:creationId xmlns:a16="http://schemas.microsoft.com/office/drawing/2014/main" xmlns="" id="{96EAB7C4-2F6B-416A-9232-856A1A09C0FB}"/>
              </a:ext>
            </a:extLst>
          </p:cNvPr>
          <p:cNvPicPr>
            <a:picLocks noGrp="1" noChangeAspect="1"/>
          </p:cNvPicPr>
          <p:nvPr>
            <p:ph idx="1"/>
          </p:nvPr>
        </p:nvPicPr>
        <p:blipFill>
          <a:blip r:embed="rId2" cstate="print"/>
          <a:stretch>
            <a:fillRect/>
          </a:stretch>
        </p:blipFill>
        <p:spPr>
          <a:xfrm>
            <a:off x="1112292" y="1825625"/>
            <a:ext cx="10032503" cy="4351338"/>
          </a:xfrm>
          <a:prstGeom prst="rect">
            <a:avLst/>
          </a:prstGeom>
        </p:spPr>
      </p:pic>
    </p:spTree>
    <p:extLst>
      <p:ext uri="{BB962C8B-B14F-4D97-AF65-F5344CB8AC3E}">
        <p14:creationId xmlns:p14="http://schemas.microsoft.com/office/powerpoint/2010/main" xmlns="" val="2299400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86444D-DAAC-4199-940D-28CD5FCFC92A}"/>
              </a:ext>
            </a:extLst>
          </p:cNvPr>
          <p:cNvSpPr>
            <a:spLocks noGrp="1"/>
          </p:cNvSpPr>
          <p:nvPr>
            <p:ph idx="1"/>
          </p:nvPr>
        </p:nvSpPr>
        <p:spPr>
          <a:xfrm>
            <a:off x="838202" y="331305"/>
            <a:ext cx="10515600" cy="5845659"/>
          </a:xfrm>
        </p:spPr>
        <p:txBody>
          <a:bodyPr/>
          <a:lstStyle/>
          <a:p>
            <a:r>
              <a:rPr lang="en-US" dirty="0">
                <a:solidFill>
                  <a:srgbClr val="FF0000"/>
                </a:solidFill>
              </a:rPr>
              <a:t>Apply the Bellman–Ford algorithm to the graph shown in Fig. 13.14.</a:t>
            </a:r>
            <a:endParaRPr lang="en-IN" dirty="0">
              <a:solidFill>
                <a:srgbClr val="FF0000"/>
              </a:solidFill>
            </a:endParaRPr>
          </a:p>
        </p:txBody>
      </p:sp>
      <p:pic>
        <p:nvPicPr>
          <p:cNvPr id="4" name="Picture 3">
            <a:extLst>
              <a:ext uri="{FF2B5EF4-FFF2-40B4-BE49-F238E27FC236}">
                <a16:creationId xmlns:a16="http://schemas.microsoft.com/office/drawing/2014/main" xmlns="" id="{B90EC715-B46D-4EC6-B5BE-0932EE3E7E12}"/>
              </a:ext>
            </a:extLst>
          </p:cNvPr>
          <p:cNvPicPr>
            <a:picLocks noChangeAspect="1"/>
          </p:cNvPicPr>
          <p:nvPr/>
        </p:nvPicPr>
        <p:blipFill>
          <a:blip r:embed="rId2" cstate="print"/>
          <a:stretch>
            <a:fillRect/>
          </a:stretch>
        </p:blipFill>
        <p:spPr>
          <a:xfrm>
            <a:off x="9400786" y="722915"/>
            <a:ext cx="2791214" cy="2248214"/>
          </a:xfrm>
          <a:prstGeom prst="rect">
            <a:avLst/>
          </a:prstGeom>
        </p:spPr>
      </p:pic>
      <p:pic>
        <p:nvPicPr>
          <p:cNvPr id="5" name="Picture 4">
            <a:extLst>
              <a:ext uri="{FF2B5EF4-FFF2-40B4-BE49-F238E27FC236}">
                <a16:creationId xmlns:a16="http://schemas.microsoft.com/office/drawing/2014/main" xmlns="" id="{2A0024E2-B8CC-4AA0-A10C-77AE350AA578}"/>
              </a:ext>
            </a:extLst>
          </p:cNvPr>
          <p:cNvPicPr>
            <a:picLocks noChangeAspect="1"/>
          </p:cNvPicPr>
          <p:nvPr/>
        </p:nvPicPr>
        <p:blipFill>
          <a:blip r:embed="rId3" cstate="print"/>
          <a:stretch>
            <a:fillRect/>
          </a:stretch>
        </p:blipFill>
        <p:spPr>
          <a:xfrm>
            <a:off x="272240" y="1158295"/>
            <a:ext cx="5001323" cy="1228896"/>
          </a:xfrm>
          <a:prstGeom prst="rect">
            <a:avLst/>
          </a:prstGeom>
        </p:spPr>
      </p:pic>
      <p:pic>
        <p:nvPicPr>
          <p:cNvPr id="6" name="Picture 5">
            <a:extLst>
              <a:ext uri="{FF2B5EF4-FFF2-40B4-BE49-F238E27FC236}">
                <a16:creationId xmlns:a16="http://schemas.microsoft.com/office/drawing/2014/main" xmlns="" id="{18241337-D715-473B-99C6-B842279E4130}"/>
              </a:ext>
            </a:extLst>
          </p:cNvPr>
          <p:cNvPicPr>
            <a:picLocks noChangeAspect="1"/>
          </p:cNvPicPr>
          <p:nvPr/>
        </p:nvPicPr>
        <p:blipFill>
          <a:blip r:embed="rId4" cstate="print"/>
          <a:stretch>
            <a:fillRect/>
          </a:stretch>
        </p:blipFill>
        <p:spPr>
          <a:xfrm>
            <a:off x="5382883" y="862977"/>
            <a:ext cx="3219899" cy="2637114"/>
          </a:xfrm>
          <a:prstGeom prst="rect">
            <a:avLst/>
          </a:prstGeom>
        </p:spPr>
      </p:pic>
      <p:pic>
        <p:nvPicPr>
          <p:cNvPr id="7" name="Picture 6">
            <a:extLst>
              <a:ext uri="{FF2B5EF4-FFF2-40B4-BE49-F238E27FC236}">
                <a16:creationId xmlns:a16="http://schemas.microsoft.com/office/drawing/2014/main" xmlns="" id="{4BF11075-35A2-46CC-8543-DC7BFB569C9D}"/>
              </a:ext>
            </a:extLst>
          </p:cNvPr>
          <p:cNvPicPr>
            <a:picLocks noChangeAspect="1"/>
          </p:cNvPicPr>
          <p:nvPr/>
        </p:nvPicPr>
        <p:blipFill>
          <a:blip r:embed="rId5" cstate="print"/>
          <a:stretch>
            <a:fillRect/>
          </a:stretch>
        </p:blipFill>
        <p:spPr>
          <a:xfrm>
            <a:off x="328156" y="2682510"/>
            <a:ext cx="4648850" cy="1514686"/>
          </a:xfrm>
          <a:prstGeom prst="rect">
            <a:avLst/>
          </a:prstGeom>
        </p:spPr>
      </p:pic>
      <p:pic>
        <p:nvPicPr>
          <p:cNvPr id="8" name="Picture 7">
            <a:extLst>
              <a:ext uri="{FF2B5EF4-FFF2-40B4-BE49-F238E27FC236}">
                <a16:creationId xmlns:a16="http://schemas.microsoft.com/office/drawing/2014/main" xmlns="" id="{7CBDF4CD-AFEA-464B-80B4-2FBAC1F50E2D}"/>
              </a:ext>
            </a:extLst>
          </p:cNvPr>
          <p:cNvPicPr>
            <a:picLocks noChangeAspect="1"/>
          </p:cNvPicPr>
          <p:nvPr/>
        </p:nvPicPr>
        <p:blipFill>
          <a:blip r:embed="rId6" cstate="print"/>
          <a:stretch>
            <a:fillRect/>
          </a:stretch>
        </p:blipFill>
        <p:spPr>
          <a:xfrm>
            <a:off x="475815" y="4499391"/>
            <a:ext cx="4353532" cy="1495634"/>
          </a:xfrm>
          <a:prstGeom prst="rect">
            <a:avLst/>
          </a:prstGeom>
        </p:spPr>
      </p:pic>
      <p:sp>
        <p:nvSpPr>
          <p:cNvPr id="9" name="Content Placeholder 2">
            <a:extLst>
              <a:ext uri="{FF2B5EF4-FFF2-40B4-BE49-F238E27FC236}">
                <a16:creationId xmlns:a16="http://schemas.microsoft.com/office/drawing/2014/main" xmlns="" id="{93FE23D3-FF81-4E92-91B4-FD93E782534B}"/>
              </a:ext>
            </a:extLst>
          </p:cNvPr>
          <p:cNvSpPr txBox="1">
            <a:spLocks/>
          </p:cNvSpPr>
          <p:nvPr/>
        </p:nvSpPr>
        <p:spPr>
          <a:xfrm>
            <a:off x="838202" y="862977"/>
            <a:ext cx="10515600" cy="52742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p:txBody>
      </p:sp>
      <p:pic>
        <p:nvPicPr>
          <p:cNvPr id="10" name="Picture 9">
            <a:extLst>
              <a:ext uri="{FF2B5EF4-FFF2-40B4-BE49-F238E27FC236}">
                <a16:creationId xmlns:a16="http://schemas.microsoft.com/office/drawing/2014/main" xmlns="" id="{14777464-D847-4C8B-A6B8-3D8D525CCC85}"/>
              </a:ext>
            </a:extLst>
          </p:cNvPr>
          <p:cNvPicPr>
            <a:picLocks noChangeAspect="1"/>
          </p:cNvPicPr>
          <p:nvPr/>
        </p:nvPicPr>
        <p:blipFill>
          <a:blip r:embed="rId7" cstate="print"/>
          <a:stretch>
            <a:fillRect/>
          </a:stretch>
        </p:blipFill>
        <p:spPr>
          <a:xfrm>
            <a:off x="5876549" y="3869270"/>
            <a:ext cx="2972215" cy="2848373"/>
          </a:xfrm>
          <a:prstGeom prst="rect">
            <a:avLst/>
          </a:prstGeom>
        </p:spPr>
      </p:pic>
      <p:sp>
        <p:nvSpPr>
          <p:cNvPr id="11" name="Arrow: Right 10">
            <a:extLst>
              <a:ext uri="{FF2B5EF4-FFF2-40B4-BE49-F238E27FC236}">
                <a16:creationId xmlns:a16="http://schemas.microsoft.com/office/drawing/2014/main" xmlns="" id="{042345A4-3584-4141-8FEB-04B8E840EF15}"/>
              </a:ext>
            </a:extLst>
          </p:cNvPr>
          <p:cNvSpPr/>
          <p:nvPr/>
        </p:nvSpPr>
        <p:spPr>
          <a:xfrm>
            <a:off x="4911169" y="4943865"/>
            <a:ext cx="840699" cy="7478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36391940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5FB93E5B-FAB5-4ABF-AB2A-53D004617B16}"/>
              </a:ext>
            </a:extLst>
          </p:cNvPr>
          <p:cNvPicPr>
            <a:picLocks noChangeAspect="1"/>
          </p:cNvPicPr>
          <p:nvPr/>
        </p:nvPicPr>
        <p:blipFill>
          <a:blip r:embed="rId2" cstate="print"/>
          <a:stretch>
            <a:fillRect/>
          </a:stretch>
        </p:blipFill>
        <p:spPr>
          <a:xfrm>
            <a:off x="726922" y="444255"/>
            <a:ext cx="4191586" cy="1543265"/>
          </a:xfrm>
          <a:prstGeom prst="rect">
            <a:avLst/>
          </a:prstGeom>
        </p:spPr>
      </p:pic>
      <p:pic>
        <p:nvPicPr>
          <p:cNvPr id="5" name="Picture 4">
            <a:extLst>
              <a:ext uri="{FF2B5EF4-FFF2-40B4-BE49-F238E27FC236}">
                <a16:creationId xmlns:a16="http://schemas.microsoft.com/office/drawing/2014/main" xmlns="" id="{C2A93DA0-9DB8-43C4-9355-6DE7D142C10A}"/>
              </a:ext>
            </a:extLst>
          </p:cNvPr>
          <p:cNvPicPr>
            <a:picLocks noChangeAspect="1"/>
          </p:cNvPicPr>
          <p:nvPr/>
        </p:nvPicPr>
        <p:blipFill>
          <a:blip r:embed="rId3" cstate="print"/>
          <a:stretch>
            <a:fillRect/>
          </a:stretch>
        </p:blipFill>
        <p:spPr>
          <a:xfrm>
            <a:off x="6537450" y="848140"/>
            <a:ext cx="3172268" cy="2791215"/>
          </a:xfrm>
          <a:prstGeom prst="rect">
            <a:avLst/>
          </a:prstGeom>
        </p:spPr>
      </p:pic>
      <p:pic>
        <p:nvPicPr>
          <p:cNvPr id="6" name="Picture 5">
            <a:extLst>
              <a:ext uri="{FF2B5EF4-FFF2-40B4-BE49-F238E27FC236}">
                <a16:creationId xmlns:a16="http://schemas.microsoft.com/office/drawing/2014/main" xmlns="" id="{E85738C5-4568-4B02-8D9B-B8B15D441AD4}"/>
              </a:ext>
            </a:extLst>
          </p:cNvPr>
          <p:cNvPicPr>
            <a:picLocks noChangeAspect="1"/>
          </p:cNvPicPr>
          <p:nvPr/>
        </p:nvPicPr>
        <p:blipFill>
          <a:blip r:embed="rId4" cstate="print"/>
          <a:stretch>
            <a:fillRect/>
          </a:stretch>
        </p:blipFill>
        <p:spPr>
          <a:xfrm>
            <a:off x="853642" y="2337241"/>
            <a:ext cx="4229691" cy="1600423"/>
          </a:xfrm>
          <a:prstGeom prst="rect">
            <a:avLst/>
          </a:prstGeom>
        </p:spPr>
      </p:pic>
      <p:sp>
        <p:nvSpPr>
          <p:cNvPr id="7" name="Arrow: Right 6">
            <a:extLst>
              <a:ext uri="{FF2B5EF4-FFF2-40B4-BE49-F238E27FC236}">
                <a16:creationId xmlns:a16="http://schemas.microsoft.com/office/drawing/2014/main" xmlns="" id="{6EF3F806-F98A-4364-B6BA-E518BCD1822B}"/>
              </a:ext>
            </a:extLst>
          </p:cNvPr>
          <p:cNvSpPr/>
          <p:nvPr/>
        </p:nvSpPr>
        <p:spPr>
          <a:xfrm rot="790142">
            <a:off x="5266225" y="1218180"/>
            <a:ext cx="1214356" cy="63941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Arrow: Right 7">
            <a:extLst>
              <a:ext uri="{FF2B5EF4-FFF2-40B4-BE49-F238E27FC236}">
                <a16:creationId xmlns:a16="http://schemas.microsoft.com/office/drawing/2014/main" xmlns="" id="{FCB2A3E3-5914-4FFA-A36D-5C95A3F5F3F3}"/>
              </a:ext>
            </a:extLst>
          </p:cNvPr>
          <p:cNvSpPr/>
          <p:nvPr/>
        </p:nvSpPr>
        <p:spPr>
          <a:xfrm rot="19615558">
            <a:off x="5338450" y="2616789"/>
            <a:ext cx="1214356" cy="63941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9" name="Picture 8">
            <a:extLst>
              <a:ext uri="{FF2B5EF4-FFF2-40B4-BE49-F238E27FC236}">
                <a16:creationId xmlns:a16="http://schemas.microsoft.com/office/drawing/2014/main" xmlns="" id="{C897C839-2BE8-429C-B9E5-30D168E5C747}"/>
              </a:ext>
            </a:extLst>
          </p:cNvPr>
          <p:cNvPicPr>
            <a:picLocks noChangeAspect="1"/>
          </p:cNvPicPr>
          <p:nvPr/>
        </p:nvPicPr>
        <p:blipFill>
          <a:blip r:embed="rId5" cstate="print"/>
          <a:stretch>
            <a:fillRect/>
          </a:stretch>
        </p:blipFill>
        <p:spPr>
          <a:xfrm>
            <a:off x="4440468" y="4064502"/>
            <a:ext cx="3010320" cy="2724530"/>
          </a:xfrm>
          <a:prstGeom prst="rect">
            <a:avLst/>
          </a:prstGeom>
        </p:spPr>
      </p:pic>
    </p:spTree>
    <p:extLst>
      <p:ext uri="{BB962C8B-B14F-4D97-AF65-F5344CB8AC3E}">
        <p14:creationId xmlns:p14="http://schemas.microsoft.com/office/powerpoint/2010/main" xmlns="" val="34439004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064388-DFAF-457A-83E0-FDA1EC6E4753}"/>
              </a:ext>
            </a:extLst>
          </p:cNvPr>
          <p:cNvSpPr>
            <a:spLocks noGrp="1"/>
          </p:cNvSpPr>
          <p:nvPr>
            <p:ph type="title"/>
          </p:nvPr>
        </p:nvSpPr>
        <p:spPr/>
        <p:txBody>
          <a:bodyPr/>
          <a:lstStyle/>
          <a:p>
            <a:r>
              <a:rPr lang="en-US" dirty="0"/>
              <a:t>Travelling salesman problem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3DE70175-40A4-4AB8-BE9B-0F1B889A5250}"/>
                  </a:ext>
                </a:extLst>
              </p:cNvPr>
              <p:cNvSpPr>
                <a:spLocks noGrp="1"/>
              </p:cNvSpPr>
              <p:nvPr>
                <p:ph idx="1"/>
              </p:nvPr>
            </p:nvSpPr>
            <p:spPr>
              <a:xfrm>
                <a:off x="838199" y="1825624"/>
                <a:ext cx="10995991" cy="4893227"/>
              </a:xfrm>
            </p:spPr>
            <p:txBody>
              <a:bodyPr>
                <a:normAutofit fontScale="62500" lnSpcReduction="20000"/>
              </a:bodyPr>
              <a:lstStyle/>
              <a:p>
                <a:r>
                  <a:rPr lang="en-US" dirty="0"/>
                  <a:t>Step 1: Read weighted graph G = &lt;V, E&gt;.</a:t>
                </a:r>
              </a:p>
              <a:p>
                <a:r>
                  <a:rPr lang="en-US" dirty="0"/>
                  <a:t>Step 2: Initialize d[</a:t>
                </a:r>
                <a:r>
                  <a:rPr lang="en-US" dirty="0" err="1"/>
                  <a:t>i</a:t>
                </a:r>
                <a:r>
                  <a:rPr lang="en-US" dirty="0"/>
                  <a:t>, j] as follows:</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𝑑</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𝑒𝑑𝑔𝑒</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𝑒𝑑𝑔𝑒</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e>
                          </m:eqArr>
                        </m:e>
                      </m:d>
                    </m:oMath>
                  </m:oMathPara>
                </a14:m>
                <a:endParaRPr lang="en-IN" dirty="0"/>
              </a:p>
              <a:p>
                <a:r>
                  <a:rPr lang="en-US" dirty="0"/>
                  <a:t>Step 3: Compute a function g(</a:t>
                </a:r>
                <a:r>
                  <a:rPr lang="en-US" dirty="0" err="1"/>
                  <a:t>i</a:t>
                </a:r>
                <a:r>
                  <a:rPr lang="en-US" dirty="0"/>
                  <a:t>, S), a function that gives the length of the shortest path starting from vertex </a:t>
                </a:r>
                <a:r>
                  <a:rPr lang="en-US" dirty="0" err="1"/>
                  <a:t>i</a:t>
                </a:r>
                <a:r>
                  <a:rPr lang="en-US" dirty="0"/>
                  <a:t>, traversing through all the vertices in set S, and terminating at vertex </a:t>
                </a:r>
                <a:r>
                  <a:rPr lang="en-US" dirty="0" err="1"/>
                  <a:t>i</a:t>
                </a:r>
                <a:r>
                  <a:rPr lang="en-US" dirty="0"/>
                  <a:t> as follows:</a:t>
                </a:r>
              </a:p>
              <a:p>
                <a:pPr marL="0" indent="0">
                  <a:buNone/>
                </a:pPr>
                <a:r>
                  <a:rPr lang="en-US" dirty="0"/>
                  <a:t> 	3a: </a:t>
                </a:r>
                <a14:m>
                  <m:oMath xmlns:m="http://schemas.openxmlformats.org/officeDocument/2006/math">
                    <m:r>
                      <a:rPr lang="en-US" b="0" i="1" smtClean="0">
                        <a:latin typeface="Cambria Math" panose="02040503050406030204" pitchFamily="18" charset="0"/>
                      </a:rPr>
                      <m:t>𝑐𝑜𝑠𝑡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e>
                    </m:d>
                    <m:r>
                      <a:rPr lang="en-US" b="0" i="1" smtClean="0">
                        <a:latin typeface="Cambria Math" panose="02040503050406030204" pitchFamily="18" charset="0"/>
                      </a:rPr>
                      <m:t>=</m:t>
                    </m:r>
                    <m:r>
                      <a:rPr lang="en-US" b="0" i="1" smtClean="0">
                        <a:latin typeface="Cambria Math" panose="02040503050406030204" pitchFamily="18" charset="0"/>
                      </a:rPr>
                      <m:t>𝑑</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e>
                    </m:d>
                    <m:r>
                      <a:rPr lang="en-US" b="0" i="1" smtClean="0">
                        <a:latin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endParaRPr lang="en-US" dirty="0"/>
              </a:p>
              <a:p>
                <a:pPr marL="0" indent="0">
                  <a:buNone/>
                </a:pPr>
                <a:r>
                  <a:rPr lang="en-US" dirty="0"/>
                  <a:t>	3b: For |S| = 2 to n − 1, where,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 1∉</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 </m:t>
                    </m:r>
                  </m:oMath>
                </a14:m>
                <a:r>
                  <a:rPr lang="en-US" dirty="0"/>
                  <a:t> compute recursively 	</a:t>
                </a:r>
                <a14:m>
                  <m:oMath xmlns:m="http://schemas.openxmlformats.org/officeDocument/2006/math">
                    <m:r>
                      <a:rPr lang="en-US" i="1" dirty="0" smtClean="0">
                        <a:latin typeface="Cambria Math" panose="02040503050406030204" pitchFamily="18" charset="0"/>
                      </a:rPr>
                      <m:t>𝑐𝑜𝑠𝑡</m:t>
                    </m:r>
                    <m:r>
                      <a:rPr lang="en-US" i="1" dirty="0" smtClean="0">
                        <a:latin typeface="Cambria Math" panose="02040503050406030204" pitchFamily="18" charset="0"/>
                      </a:rPr>
                      <m:t>(</m:t>
                    </m:r>
                    <m:r>
                      <a:rPr lang="en-US" i="1" dirty="0" err="1" smtClean="0">
                        <a:latin typeface="Cambria Math" panose="02040503050406030204" pitchFamily="18" charset="0"/>
                      </a:rPr>
                      <m:t>𝑆</m:t>
                    </m:r>
                    <m:r>
                      <a:rPr lang="en-US" i="1" dirty="0" err="1"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𝑚𝑖𝑛</m:t>
                        </m:r>
                      </m:e>
                      <m:sub>
                        <m:r>
                          <a:rPr lang="en-US" b="0" i="1" dirty="0" smtClean="0">
                            <a:latin typeface="Cambria Math" panose="02040503050406030204" pitchFamily="18" charset="0"/>
                          </a:rPr>
                          <m:t>𝑗</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𝑆</m:t>
                        </m:r>
                      </m:sub>
                    </m:sSub>
                    <m:r>
                      <a:rPr lang="en-US" i="1" dirty="0" smtClean="0">
                        <a:latin typeface="Cambria Math" panose="02040503050406030204" pitchFamily="18" charset="0"/>
                      </a:rPr>
                      <m:t>{</m:t>
                    </m:r>
                    <m:r>
                      <a:rPr lang="en-US" i="1" dirty="0" smtClean="0">
                        <a:latin typeface="Cambria Math" panose="02040503050406030204" pitchFamily="18" charset="0"/>
                      </a:rPr>
                      <m:t>𝑐𝑜𝑠𝑡</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 </m:t>
                    </m:r>
                    <m:r>
                      <a:rPr lang="en-US" i="1" dirty="0" smtClean="0">
                        <a:latin typeface="Cambria Math" panose="02040503050406030204" pitchFamily="18" charset="0"/>
                      </a:rPr>
                      <m:t>𝑗</m:t>
                    </m:r>
                    <m:r>
                      <a:rPr lang="en-US" i="1" dirty="0" smtClean="0">
                        <a:latin typeface="Cambria Math" panose="02040503050406030204" pitchFamily="18" charset="0"/>
                      </a:rPr>
                      <m:t>], </m:t>
                    </m:r>
                    <m:r>
                      <a:rPr lang="en-US" i="1" dirty="0" smtClean="0">
                        <a:latin typeface="Cambria Math" panose="02040503050406030204" pitchFamily="18" charset="0"/>
                      </a:rPr>
                      <m:t>𝑆</m:t>
                    </m:r>
                    <m:r>
                      <a:rPr lang="en-US" i="1" dirty="0" smtClean="0">
                        <a:latin typeface="Cambria Math" panose="02040503050406030204" pitchFamily="18" charset="0"/>
                      </a:rPr>
                      <m:t> − {</m:t>
                    </m:r>
                    <m:r>
                      <a:rPr lang="en-US" i="1" dirty="0" smtClean="0">
                        <a:latin typeface="Cambria Math" panose="02040503050406030204" pitchFamily="18" charset="0"/>
                      </a:rPr>
                      <m:t>𝑗</m:t>
                    </m:r>
                    <m:r>
                      <a:rPr lang="en-US" i="1" dirty="0" smtClean="0">
                        <a:latin typeface="Cambria Math" panose="02040503050406030204" pitchFamily="18" charset="0"/>
                      </a:rPr>
                      <m:t>}}</m:t>
                    </m:r>
                  </m:oMath>
                </a14:m>
                <a:r>
                  <a:rPr lang="en-US" dirty="0"/>
                  <a:t> and store the value.</a:t>
                </a:r>
              </a:p>
              <a:p>
                <a:r>
                  <a:rPr lang="en-US" dirty="0"/>
                  <a:t>Step 4: Compute the minimum cost of the travelling salesperson tour as follows: Compute </a:t>
                </a:r>
                <a:endParaRPr lang="en-US" b="0" i="0" dirty="0">
                  <a:latin typeface="Cambria Math" panose="02040503050406030204" pitchFamily="18" charset="0"/>
                </a:endParaRPr>
              </a:p>
              <a:p>
                <a:pPr marL="0" indent="0">
                  <a:buNone/>
                </a:pPr>
                <a14:m>
                  <m:oMath xmlns:m="http://schemas.openxmlformats.org/officeDocument/2006/math">
                    <m:r>
                      <m:rPr>
                        <m:sty m:val="p"/>
                      </m:rPr>
                      <a:rPr lang="en-US" b="0" i="0" dirty="0" smtClean="0">
                        <a:latin typeface="Cambria Math" panose="02040503050406030204" pitchFamily="18" charset="0"/>
                      </a:rPr>
                      <m:t>cost</m:t>
                    </m:r>
                    <m:d>
                      <m:dPr>
                        <m:ctrlPr>
                          <a:rPr lang="en-US" b="0" i="1" dirty="0" smtClean="0">
                            <a:latin typeface="Cambria Math" panose="02040503050406030204" pitchFamily="18" charset="0"/>
                          </a:rPr>
                        </m:ctrlPr>
                      </m:dPr>
                      <m:e>
                        <m:r>
                          <a:rPr lang="en-US" b="0" i="0" dirty="0" smtClean="0">
                            <a:latin typeface="Cambria Math" panose="02040503050406030204" pitchFamily="18" charset="0"/>
                          </a:rPr>
                          <m:t>1,</m:t>
                        </m:r>
                        <m:r>
                          <m:rPr>
                            <m:sty m:val="p"/>
                          </m:rPr>
                          <a:rPr lang="en-US" b="0" i="0" dirty="0" smtClean="0">
                            <a:latin typeface="Cambria Math" panose="02040503050406030204" pitchFamily="18" charset="0"/>
                          </a:rPr>
                          <m:t>v</m:t>
                        </m:r>
                        <m:r>
                          <a:rPr lang="en-US" b="0" i="0"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𝑚𝑖𝑛</m:t>
                    </m:r>
                    <m:r>
                      <a:rPr lang="en-US" b="0" i="1" dirty="0" smtClean="0">
                        <a:latin typeface="Cambria Math" panose="02040503050406030204" pitchFamily="18" charset="0"/>
                      </a:rPr>
                      <m:t>2≤</m:t>
                    </m:r>
                    <m:r>
                      <a:rPr lang="en-US" b="0" i="1" dirty="0" smtClean="0">
                        <a:latin typeface="Cambria Math" panose="02040503050406030204" pitchFamily="18" charset="0"/>
                        <a:ea typeface="Cambria Math" panose="02040503050406030204" pitchFamily="18" charset="0"/>
                      </a:rPr>
                      <m:t>𝑖</m:t>
                    </m:r>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m:t>
                    </m:r>
                    <m:r>
                      <a:rPr lang="en-US" i="1" dirty="0" smtClean="0">
                        <a:latin typeface="Cambria Math" panose="02040503050406030204" pitchFamily="18" charset="0"/>
                      </a:rPr>
                      <m:t>𝑑</m:t>
                    </m:r>
                    <m:r>
                      <a:rPr lang="en-US" i="1" dirty="0" smtClean="0">
                        <a:latin typeface="Cambria Math" panose="02040503050406030204" pitchFamily="18" charset="0"/>
                      </a:rPr>
                      <m:t>[1, </m:t>
                    </m:r>
                    <m:r>
                      <a:rPr lang="en-US" i="1" dirty="0" smtClean="0">
                        <a:latin typeface="Cambria Math" panose="02040503050406030204" pitchFamily="18" charset="0"/>
                      </a:rPr>
                      <m:t>𝑘</m:t>
                    </m:r>
                    <m:r>
                      <a:rPr lang="en-US" i="1" dirty="0" smtClean="0">
                        <a:latin typeface="Cambria Math" panose="02040503050406030204" pitchFamily="18" charset="0"/>
                      </a:rPr>
                      <m:t>] + </m:t>
                    </m:r>
                    <m:r>
                      <a:rPr lang="en-US" i="1" dirty="0" smtClean="0">
                        <a:latin typeface="Cambria Math" panose="02040503050406030204" pitchFamily="18" charset="0"/>
                      </a:rPr>
                      <m:t>𝑐𝑜𝑠𝑡</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 − {1, </m:t>
                    </m:r>
                    <m:r>
                      <a:rPr lang="en-US" i="1" dirty="0" smtClean="0">
                        <a:latin typeface="Cambria Math" panose="02040503050406030204" pitchFamily="18" charset="0"/>
                      </a:rPr>
                      <m:t>𝑘</m:t>
                    </m:r>
                    <m:r>
                      <a:rPr lang="en-US" i="1" dirty="0" smtClean="0">
                        <a:latin typeface="Cambria Math" panose="02040503050406030204" pitchFamily="18" charset="0"/>
                      </a:rPr>
                      <m:t>}} </m:t>
                    </m:r>
                    <m:r>
                      <a:rPr lang="en-US" i="1" dirty="0" smtClean="0">
                        <a:latin typeface="Cambria Math" panose="02040503050406030204" pitchFamily="18" charset="0"/>
                      </a:rPr>
                      <m:t>𝑢𝑠𝑖𝑛𝑔</m:t>
                    </m:r>
                    <m:r>
                      <a:rPr lang="en-US" i="1" dirty="0" smtClean="0">
                        <a:latin typeface="Cambria Math" panose="02040503050406030204" pitchFamily="18" charset="0"/>
                      </a:rPr>
                      <m:t> </m:t>
                    </m:r>
                    <m:r>
                      <a:rPr lang="en-US" i="1" dirty="0" smtClean="0">
                        <a:latin typeface="Cambria Math" panose="02040503050406030204" pitchFamily="18" charset="0"/>
                      </a:rPr>
                      <m:t>𝑔</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 </m:t>
                    </m:r>
                    <m:r>
                      <a:rPr lang="en-US" i="1" dirty="0" smtClean="0">
                        <a:latin typeface="Cambria Math" panose="02040503050406030204" pitchFamily="18" charset="0"/>
                      </a:rPr>
                      <m:t>𝑆</m:t>
                    </m:r>
                    <m:r>
                      <a:rPr lang="en-US" i="1" dirty="0" smtClean="0">
                        <a:latin typeface="Cambria Math" panose="02040503050406030204" pitchFamily="18" charset="0"/>
                      </a:rPr>
                      <m:t>) </m:t>
                    </m:r>
                  </m:oMath>
                </a14:m>
                <a:r>
                  <a:rPr lang="en-US" dirty="0"/>
                  <a:t>computed in Step 3.</a:t>
                </a:r>
              </a:p>
              <a:p>
                <a:r>
                  <a:rPr lang="en-US" dirty="0"/>
                  <a:t>Step 5: Return the value of Step 4.</a:t>
                </a:r>
              </a:p>
              <a:p>
                <a:r>
                  <a:rPr lang="en-US" dirty="0"/>
                  <a:t>Step 6: End.</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3DE70175-40A4-4AB8-BE9B-0F1B889A5250}"/>
                  </a:ext>
                </a:extLst>
              </p:cNvPr>
              <p:cNvSpPr>
                <a:spLocks noGrp="1" noRot="1" noChangeAspect="1" noMove="1" noResize="1" noEditPoints="1" noAdjustHandles="1" noChangeArrowheads="1" noChangeShapeType="1" noTextEdit="1"/>
              </p:cNvSpPr>
              <p:nvPr>
                <p:ph idx="1"/>
              </p:nvPr>
            </p:nvSpPr>
            <p:spPr>
              <a:xfrm>
                <a:off x="838200" y="1825625"/>
                <a:ext cx="10995991" cy="4893227"/>
              </a:xfrm>
              <a:blipFill>
                <a:blip r:embed="rId2" cstate="print"/>
                <a:stretch>
                  <a:fillRect l="-665" t="-1245"/>
                </a:stretch>
              </a:blipFill>
            </p:spPr>
            <p:txBody>
              <a:bodyPr/>
              <a:lstStyle/>
              <a:p>
                <a:r>
                  <a:rPr lang="en-US">
                    <a:noFill/>
                  </a:rPr>
                  <a:t> </a:t>
                </a:r>
              </a:p>
            </p:txBody>
          </p:sp>
        </mc:Fallback>
      </mc:AlternateContent>
    </p:spTree>
    <p:extLst>
      <p:ext uri="{BB962C8B-B14F-4D97-AF65-F5344CB8AC3E}">
        <p14:creationId xmlns:p14="http://schemas.microsoft.com/office/powerpoint/2010/main" xmlns="" val="1383599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4DCDAC-18C7-47BB-8879-387E54788A7C}"/>
              </a:ext>
            </a:extLst>
          </p:cNvPr>
          <p:cNvSpPr>
            <a:spLocks noGrp="1"/>
          </p:cNvSpPr>
          <p:nvPr>
            <p:ph type="title"/>
          </p:nvPr>
        </p:nvSpPr>
        <p:spPr/>
        <p:txBody>
          <a:bodyPr/>
          <a:lstStyle/>
          <a:p>
            <a:r>
              <a:rPr lang="en-US" dirty="0"/>
              <a:t>Travelling salesman problem</a:t>
            </a:r>
            <a:endParaRPr lang="en-IN" dirty="0"/>
          </a:p>
        </p:txBody>
      </p:sp>
      <p:sp>
        <p:nvSpPr>
          <p:cNvPr id="3" name="Content Placeholder 2">
            <a:extLst>
              <a:ext uri="{FF2B5EF4-FFF2-40B4-BE49-F238E27FC236}">
                <a16:creationId xmlns:a16="http://schemas.microsoft.com/office/drawing/2014/main" xmlns="" id="{F3484D44-0191-44CB-9FAE-6561911414F5}"/>
              </a:ext>
            </a:extLst>
          </p:cNvPr>
          <p:cNvSpPr>
            <a:spLocks noGrp="1"/>
          </p:cNvSpPr>
          <p:nvPr>
            <p:ph idx="1"/>
          </p:nvPr>
        </p:nvSpPr>
        <p:spPr>
          <a:xfrm>
            <a:off x="838202" y="1509487"/>
            <a:ext cx="10515600" cy="4983389"/>
          </a:xfrm>
        </p:spPr>
        <p:txBody>
          <a:bodyPr>
            <a:normAutofit/>
          </a:bodyPr>
          <a:lstStyle/>
          <a:p>
            <a:r>
              <a:rPr lang="en-US" dirty="0">
                <a:solidFill>
                  <a:srgbClr val="FF0000"/>
                </a:solidFill>
              </a:rPr>
              <a:t>Solve the TSP for the graph shown in Fig. 13.17 using dynamic programming.</a:t>
            </a:r>
          </a:p>
          <a:p>
            <a:r>
              <a:rPr lang="en-US" sz="2400" dirty="0">
                <a:solidFill>
                  <a:srgbClr val="000000"/>
                </a:solidFill>
                <a:effectLst/>
                <a:ea typeface="Times New Roman" panose="02020603050405020304" pitchFamily="18" charset="0"/>
                <a:cs typeface="Times New Roman" panose="02020603050405020304" pitchFamily="18" charset="0"/>
              </a:rPr>
              <a:t>cost(2, ∅) = d[2, 1] = 2;</a:t>
            </a:r>
            <a:r>
              <a:rPr lang="en-US"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cost(3, ∅) = d[3, 1] = 4;</a:t>
            </a:r>
            <a:r>
              <a:rPr lang="en-US"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cost(4, ∅) = d[4, 1] = 6</a:t>
            </a:r>
            <a:endParaRPr lang="en-IN" sz="2400" dirty="0">
              <a:effectLst/>
              <a:ea typeface="Times New Roman" panose="02020603050405020304" pitchFamily="18" charset="0"/>
              <a:cs typeface="Times New Roman" panose="02020603050405020304" pitchFamily="18" charset="0"/>
            </a:endParaRPr>
          </a:p>
          <a:p>
            <a:pPr>
              <a:lnSpc>
                <a:spcPct val="115000"/>
              </a:lnSpc>
              <a:spcAft>
                <a:spcPts val="1000"/>
              </a:spcAft>
            </a:pPr>
            <a:r>
              <a:rPr lang="en-US" sz="2400" dirty="0">
                <a:solidFill>
                  <a:srgbClr val="000000"/>
                </a:solidFill>
                <a:effectLst/>
                <a:ea typeface="Times New Roman" panose="02020603050405020304" pitchFamily="18" charset="0"/>
                <a:cs typeface="Times New Roman" panose="02020603050405020304" pitchFamily="18" charset="0"/>
              </a:rPr>
              <a:t> This indicates the distance from vertices 2, 3, and 4 to vertex 1. When |S| = 1, cost(</a:t>
            </a:r>
            <a:r>
              <a:rPr lang="en-US" sz="2400" dirty="0" err="1">
                <a:solidFill>
                  <a:srgbClr val="000000"/>
                </a:solidFill>
                <a:effectLst/>
                <a:ea typeface="Times New Roman" panose="02020603050405020304" pitchFamily="18" charset="0"/>
                <a:cs typeface="Times New Roman" panose="02020603050405020304" pitchFamily="18" charset="0"/>
              </a:rPr>
              <a:t>i</a:t>
            </a:r>
            <a:r>
              <a:rPr lang="en-US" sz="2400" dirty="0">
                <a:solidFill>
                  <a:srgbClr val="000000"/>
                </a:solidFill>
                <a:effectLst/>
                <a:ea typeface="Times New Roman" panose="02020603050405020304" pitchFamily="18" charset="0"/>
                <a:cs typeface="Times New Roman" panose="02020603050405020304" pitchFamily="18" charset="0"/>
              </a:rPr>
              <a:t>, j)</a:t>
            </a:r>
            <a:r>
              <a:rPr lang="en-US"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function can be solved using the recursive function as follows:</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cost(2,{3}) = d[2, 3] + cost(3, ∅)=5+4=9</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cost(2,{4}) = d[2, 4] + cost(4, ∅) = 7 + 6 = 13</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cost(3,{2}) = d[3, 2] + cost(2, ∅)</a:t>
            </a:r>
            <a:r>
              <a:rPr lang="en-IN"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=3+2=5</a:t>
            </a: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cost(3,{4}) = d[3, 4] + cost(4, ∅)</a:t>
            </a:r>
            <a:r>
              <a:rPr lang="en-IN"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 8 + 6 = 14</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cost(4,{2}) = d[4, 2] + cost(2, ∅)</a:t>
            </a:r>
            <a:r>
              <a:rPr lang="en-IN"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=5+2=7</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400" dirty="0">
                <a:solidFill>
                  <a:srgbClr val="000000"/>
                </a:solidFill>
                <a:effectLst/>
                <a:ea typeface="Times New Roman" panose="02020603050405020304" pitchFamily="18" charset="0"/>
                <a:cs typeface="Times New Roman" panose="02020603050405020304" pitchFamily="18" charset="0"/>
              </a:rPr>
              <a:t>cost(4,{3}) = d[4, 3] + cost(3, ∅)</a:t>
            </a:r>
            <a:r>
              <a:rPr lang="en-IN" sz="2400" dirty="0">
                <a:effectLst/>
                <a:ea typeface="Times New Roman" panose="02020603050405020304" pitchFamily="18" charset="0"/>
                <a:cs typeface="Times New Roman" panose="02020603050405020304" pitchFamily="18" charset="0"/>
              </a:rPr>
              <a:t> </a:t>
            </a:r>
            <a:r>
              <a:rPr lang="en-US" sz="2400" dirty="0">
                <a:solidFill>
                  <a:srgbClr val="000000"/>
                </a:solidFill>
                <a:effectLst/>
                <a:ea typeface="Times New Roman" panose="02020603050405020304" pitchFamily="18" charset="0"/>
                <a:cs typeface="Times New Roman" panose="02020603050405020304" pitchFamily="18" charset="0"/>
              </a:rPr>
              <a:t>= 9 + 4 = 13</a:t>
            </a:r>
            <a:endParaRPr lang="en-IN" sz="24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endParaRPr lang="en-US" dirty="0"/>
          </a:p>
          <a:p>
            <a:endParaRPr lang="en-US" dirty="0"/>
          </a:p>
          <a:p>
            <a:endParaRPr lang="en-IN" dirty="0"/>
          </a:p>
        </p:txBody>
      </p:sp>
      <p:pic>
        <p:nvPicPr>
          <p:cNvPr id="4" name="Picture 3">
            <a:extLst>
              <a:ext uri="{FF2B5EF4-FFF2-40B4-BE49-F238E27FC236}">
                <a16:creationId xmlns:a16="http://schemas.microsoft.com/office/drawing/2014/main" xmlns="" id="{A9A5FF38-CBF1-4A34-82B8-2BC62764BFB4}"/>
              </a:ext>
            </a:extLst>
          </p:cNvPr>
          <p:cNvPicPr/>
          <p:nvPr/>
        </p:nvPicPr>
        <p:blipFill>
          <a:blip r:embed="rId2" cstate="print"/>
          <a:stretch>
            <a:fillRect/>
          </a:stretch>
        </p:blipFill>
        <p:spPr>
          <a:xfrm>
            <a:off x="7089480" y="2835049"/>
            <a:ext cx="3524251" cy="3128790"/>
          </a:xfrm>
          <a:prstGeom prst="rect">
            <a:avLst/>
          </a:prstGeom>
        </p:spPr>
      </p:pic>
    </p:spTree>
    <p:extLst>
      <p:ext uri="{BB962C8B-B14F-4D97-AF65-F5344CB8AC3E}">
        <p14:creationId xmlns:p14="http://schemas.microsoft.com/office/powerpoint/2010/main" xmlns="" val="3982966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9DC13B2-E937-4213-B420-390EC02BEE04}"/>
              </a:ext>
            </a:extLst>
          </p:cNvPr>
          <p:cNvSpPr>
            <a:spLocks noGrp="1"/>
          </p:cNvSpPr>
          <p:nvPr>
            <p:ph idx="1"/>
          </p:nvPr>
        </p:nvSpPr>
        <p:spPr>
          <a:xfrm>
            <a:off x="188686" y="304800"/>
            <a:ext cx="11785600" cy="6342743"/>
          </a:xfrm>
        </p:spPr>
        <p:txBody>
          <a:bodyPr>
            <a:noAutofit/>
          </a:bodyPr>
          <a:lstStyle/>
          <a:p>
            <a:pPr>
              <a:lnSpc>
                <a:spcPct val="115000"/>
              </a:lnSpc>
              <a:spcAft>
                <a:spcPts val="1000"/>
              </a:spcAft>
            </a:pPr>
            <a:r>
              <a:rPr lang="en-US" sz="2000" dirty="0">
                <a:effectLst/>
                <a:ea typeface="Times New Roman" panose="02020603050405020304" pitchFamily="18" charset="0"/>
                <a:cs typeface="Times New Roman" panose="02020603050405020304" pitchFamily="18" charset="0"/>
              </a:rPr>
              <a:t>Now, cost(S, </a:t>
            </a:r>
            <a:r>
              <a:rPr lang="en-US" sz="2000" dirty="0" err="1">
                <a:effectLst/>
                <a:ea typeface="Times New Roman" panose="02020603050405020304" pitchFamily="18" charset="0"/>
                <a:cs typeface="Times New Roman" panose="02020603050405020304" pitchFamily="18" charset="0"/>
              </a:rPr>
              <a:t>i</a:t>
            </a:r>
            <a:r>
              <a:rPr lang="en-US" sz="2000" dirty="0">
                <a:effectLst/>
                <a:ea typeface="Times New Roman" panose="02020603050405020304" pitchFamily="18" charset="0"/>
                <a:cs typeface="Times New Roman" panose="02020603050405020304" pitchFamily="18" charset="0"/>
              </a:rPr>
              <a:t>) is computed with |S| = 2, </a:t>
            </a:r>
            <a:r>
              <a:rPr lang="en-US" sz="2000" dirty="0" err="1">
                <a:effectLst/>
                <a:ea typeface="Times New Roman" panose="02020603050405020304" pitchFamily="18" charset="0"/>
                <a:cs typeface="Times New Roman" panose="02020603050405020304" pitchFamily="18" charset="0"/>
              </a:rPr>
              <a:t>i</a:t>
            </a:r>
            <a:r>
              <a:rPr lang="en-US" sz="2000" dirty="0">
                <a:effectLst/>
                <a:ea typeface="Times New Roman" panose="02020603050405020304" pitchFamily="18" charset="0"/>
                <a:cs typeface="Times New Roman" panose="02020603050405020304" pitchFamily="18" charset="0"/>
              </a:rPr>
              <a:t> ≠ 1, 1 ∉S, </a:t>
            </a:r>
            <a:r>
              <a:rPr lang="en-US" sz="2000" dirty="0" err="1">
                <a:effectLst/>
                <a:ea typeface="Times New Roman" panose="02020603050405020304" pitchFamily="18" charset="0"/>
                <a:cs typeface="Times New Roman" panose="02020603050405020304" pitchFamily="18" charset="0"/>
              </a:rPr>
              <a:t>i</a:t>
            </a:r>
            <a:r>
              <a:rPr lang="en-US" sz="2000" dirty="0">
                <a:effectLst/>
                <a:ea typeface="Times New Roman" panose="02020603050405020304" pitchFamily="18" charset="0"/>
                <a:cs typeface="Times New Roman" panose="02020603050405020304" pitchFamily="18" charset="0"/>
              </a:rPr>
              <a:t> ∉n, that is, set S involves two intermediate nodes.</a:t>
            </a:r>
            <a:endParaRPr lang="en-IN" sz="2000" dirty="0">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000" b="1" dirty="0">
                <a:solidFill>
                  <a:srgbClr val="000000"/>
                </a:solidFill>
                <a:effectLst/>
                <a:ea typeface="Times New Roman" panose="02020603050405020304" pitchFamily="18" charset="0"/>
                <a:cs typeface="Times New Roman" panose="02020603050405020304" pitchFamily="18" charset="0"/>
              </a:rPr>
              <a:t>cost(2,{3,4}) = min{d[2, 3] + cost(3, {4}), d[2, 4] + cost(4, {3})}</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min{5 + 14 , 7 + 13}</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min{19, 20} = 19</a:t>
            </a:r>
            <a:endParaRPr lang="en-IN" sz="2000" b="1"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000" b="1" dirty="0">
                <a:solidFill>
                  <a:srgbClr val="000000"/>
                </a:solidFill>
                <a:effectLst/>
                <a:ea typeface="Times New Roman" panose="02020603050405020304" pitchFamily="18" charset="0"/>
                <a:cs typeface="Times New Roman" panose="02020603050405020304" pitchFamily="18" charset="0"/>
              </a:rPr>
              <a:t>cost(3,{2,4}) = min{d[3, 2] + cost(2, {4}), </a:t>
            </a:r>
            <a:r>
              <a:rPr lang="en-US" sz="2000" b="1" dirty="0" err="1">
                <a:solidFill>
                  <a:srgbClr val="000000"/>
                </a:solidFill>
                <a:effectLst/>
                <a:ea typeface="Times New Roman" panose="02020603050405020304" pitchFamily="18" charset="0"/>
                <a:cs typeface="Times New Roman" panose="02020603050405020304" pitchFamily="18" charset="0"/>
              </a:rPr>
              <a:t>dist</a:t>
            </a:r>
            <a:r>
              <a:rPr lang="en-US" sz="2000" b="1" dirty="0">
                <a:solidFill>
                  <a:srgbClr val="000000"/>
                </a:solidFill>
                <a:effectLst/>
                <a:ea typeface="Times New Roman" panose="02020603050405020304" pitchFamily="18" charset="0"/>
                <a:cs typeface="Times New Roman" panose="02020603050405020304" pitchFamily="18" charset="0"/>
              </a:rPr>
              <a:t>[3, 4]+cost(4, {2})}</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min{3 + 13, 8 + 7}</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min{16, 15} = 15</a:t>
            </a:r>
            <a:endParaRPr lang="en-IN" sz="2000" b="1"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sz="2000" b="1" dirty="0">
                <a:solidFill>
                  <a:srgbClr val="000000"/>
                </a:solidFill>
                <a:effectLst/>
                <a:ea typeface="Times New Roman" panose="02020603050405020304" pitchFamily="18" charset="0"/>
                <a:cs typeface="Times New Roman" panose="02020603050405020304" pitchFamily="18" charset="0"/>
              </a:rPr>
              <a:t>cost(4,{2,3}) = min{d[4, 2] + cost(2, {3}), d[4, 3] + cost(3, {2})}</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min{5 + 9, 9 + 5}</a:t>
            </a:r>
            <a:r>
              <a:rPr lang="en-IN" sz="2000" b="1" dirty="0">
                <a:effectLst/>
                <a:ea typeface="Times New Roman" panose="02020603050405020304" pitchFamily="18" charset="0"/>
                <a:cs typeface="Times New Roman" panose="02020603050405020304" pitchFamily="18" charset="0"/>
              </a:rPr>
              <a:t> </a:t>
            </a:r>
            <a:r>
              <a:rPr lang="en-US" sz="2000" b="1" dirty="0">
                <a:solidFill>
                  <a:srgbClr val="000000"/>
                </a:solidFill>
                <a:effectLst/>
                <a:ea typeface="Times New Roman" panose="02020603050405020304" pitchFamily="18" charset="0"/>
                <a:cs typeface="Times New Roman" panose="02020603050405020304" pitchFamily="18" charset="0"/>
              </a:rPr>
              <a:t>= min{14, 14} = 14</a:t>
            </a:r>
          </a:p>
          <a:p>
            <a:pPr>
              <a:lnSpc>
                <a:spcPct val="115000"/>
              </a:lnSpc>
              <a:spcAft>
                <a:spcPts val="1000"/>
              </a:spcAft>
            </a:pPr>
            <a:r>
              <a:rPr lang="en-US" sz="2000" dirty="0">
                <a:effectLst/>
                <a:ea typeface="Times New Roman" panose="02020603050405020304" pitchFamily="18" charset="0"/>
                <a:cs typeface="Times New Roman" panose="02020603050405020304" pitchFamily="18" charset="0"/>
              </a:rPr>
              <a:t>Finally, the total cost of the tour is calculated, which involves three intermediate nodes, that is, |S| = 3. As |S| = n − 1, where n is the number of nodes, the process terminates.</a:t>
            </a:r>
          </a:p>
          <a:p>
            <a:pPr>
              <a:lnSpc>
                <a:spcPct val="115000"/>
              </a:lnSpc>
              <a:spcAft>
                <a:spcPts val="1000"/>
              </a:spcAft>
            </a:pPr>
            <a:r>
              <a:rPr lang="en-US" sz="2000" dirty="0">
                <a:effectLst/>
                <a:ea typeface="Times New Roman" panose="02020603050405020304" pitchFamily="18" charset="0"/>
                <a:cs typeface="Times New Roman" panose="02020603050405020304" pitchFamily="18" charset="0"/>
              </a:rPr>
              <a:t>Finally, using the equation, cost(1, v − {1}) = 〖min〗_(2≤i≤k) {</a:t>
            </a:r>
            <a:r>
              <a:rPr lang="en-US" sz="2000" dirty="0" err="1">
                <a:effectLst/>
                <a:ea typeface="Times New Roman" panose="02020603050405020304" pitchFamily="18" charset="0"/>
                <a:cs typeface="Times New Roman" panose="02020603050405020304" pitchFamily="18" charset="0"/>
              </a:rPr>
              <a:t>dist</a:t>
            </a:r>
            <a:r>
              <a:rPr lang="en-US" sz="2000" dirty="0">
                <a:effectLst/>
                <a:ea typeface="Times New Roman" panose="02020603050405020304" pitchFamily="18" charset="0"/>
                <a:cs typeface="Times New Roman" panose="02020603050405020304" pitchFamily="18" charset="0"/>
              </a:rPr>
              <a:t>[1, k] + cost(k, v − {1, k}}, cost of the tour [cost(1, {2, 3, 4})] is computed as follows:</a:t>
            </a:r>
          </a:p>
          <a:p>
            <a:pPr marL="0" indent="0">
              <a:lnSpc>
                <a:spcPct val="115000"/>
              </a:lnSpc>
              <a:spcAft>
                <a:spcPts val="1000"/>
              </a:spcAft>
              <a:buNone/>
            </a:pPr>
            <a:r>
              <a:rPr lang="en-US" sz="2000" b="1" dirty="0">
                <a:effectLst/>
                <a:ea typeface="Times New Roman" panose="02020603050405020304" pitchFamily="18" charset="0"/>
                <a:cs typeface="Times New Roman" panose="02020603050405020304" pitchFamily="18" charset="0"/>
              </a:rPr>
              <a:t>cost(1,{2, 3, 4}) = min{d[1, 2] + cost(2,{3, 4}), d[1, 3] + cost(3, {2, 4}),d[1, 4] + cost(4, {2, 3})} = min{5 + 19, 3 + 15, 10 + 14} = min {24,18, 24}  = 18</a:t>
            </a:r>
          </a:p>
          <a:p>
            <a:pPr marL="0" indent="0">
              <a:lnSpc>
                <a:spcPct val="115000"/>
              </a:lnSpc>
              <a:spcAft>
                <a:spcPts val="1000"/>
              </a:spcAft>
              <a:buNone/>
            </a:pPr>
            <a:r>
              <a:rPr lang="en-US" sz="2000" dirty="0">
                <a:effectLst/>
                <a:ea typeface="Times New Roman" panose="02020603050405020304" pitchFamily="18" charset="0"/>
                <a:cs typeface="Times New Roman" panose="02020603050405020304" pitchFamily="18" charset="0"/>
              </a:rPr>
              <a:t>Hence, the minimum cost tour is 18. Therefore, P(1, {2, 3, 4}) = 3, as the minimum cost obtained is only 18. Thus, the tour goes from 1→3. It can be seen that C(3, {2, 4}) is minimum and the successor of node 3 is 4. </a:t>
            </a:r>
            <a:r>
              <a:rPr lang="en-US" sz="2000" dirty="0">
                <a:solidFill>
                  <a:srgbClr val="000000"/>
                </a:solidFill>
                <a:effectLst/>
                <a:ea typeface="Times New Roman" panose="02020603050405020304" pitchFamily="18" charset="0"/>
                <a:cs typeface="Times New Roman" panose="02020603050405020304" pitchFamily="18" charset="0"/>
              </a:rPr>
              <a:t>Hence, the path is 1 → 3 → 4, and the final TSP tour is given as 1 → 3 → 4 → 2 → 1.</a:t>
            </a:r>
            <a:endParaRPr lang="en-US" sz="2000"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xmlns="" val="19028158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40406D-B983-4E88-A423-9C010CAB641F}"/>
              </a:ext>
            </a:extLst>
          </p:cNvPr>
          <p:cNvSpPr>
            <a:spLocks noGrp="1"/>
          </p:cNvSpPr>
          <p:nvPr>
            <p:ph type="title"/>
          </p:nvPr>
        </p:nvSpPr>
        <p:spPr/>
        <p:txBody>
          <a:bodyPr/>
          <a:lstStyle/>
          <a:p>
            <a:r>
              <a:rPr lang="en-US" dirty="0"/>
              <a:t>Chain Matrix Multiplication</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AE5B2068-8E89-47F2-825C-4BC46691935D}"/>
                  </a:ext>
                </a:extLst>
              </p:cNvPr>
              <p:cNvSpPr>
                <a:spLocks noGrp="1"/>
              </p:cNvSpPr>
              <p:nvPr>
                <p:ph idx="1"/>
              </p:nvPr>
            </p:nvSpPr>
            <p:spPr/>
            <p:txBody>
              <a:bodyPr>
                <a:normAutofit/>
              </a:bodyPr>
              <a:lstStyle/>
              <a:p>
                <a:r>
                  <a:rPr lang="en-US" dirty="0"/>
                  <a:t>Step 1: Read n chain of matrices </a:t>
                </a:r>
                <a14:m>
                  <m:oMath xmlns:m="http://schemas.openxmlformats.org/officeDocument/2006/math">
                    <m:r>
                      <a:rPr lang="en-US" i="1" dirty="0" smtClean="0">
                        <a:latin typeface="Cambria Math" panose="02040503050406030204" pitchFamily="18" charset="0"/>
                      </a:rPr>
                      <m:t>&lt;</m:t>
                    </m:r>
                    <m:r>
                      <a:rPr lang="en-US" i="1" dirty="0" smtClean="0">
                        <a:latin typeface="Cambria Math" panose="02040503050406030204" pitchFamily="18" charset="0"/>
                      </a:rPr>
                      <m:t>𝐴</m:t>
                    </m:r>
                    <m:r>
                      <a:rPr lang="en-US" i="1" baseline="-25000"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𝐴</m:t>
                    </m:r>
                    <m:r>
                      <a:rPr lang="en-US" i="1" baseline="-25000" dirty="0" smtClean="0">
                        <a:latin typeface="Cambria Math" panose="02040503050406030204" pitchFamily="18" charset="0"/>
                      </a:rPr>
                      <m:t>2</m:t>
                    </m:r>
                    <m:r>
                      <a:rPr lang="en-US" i="1" dirty="0" smtClean="0">
                        <a:latin typeface="Cambria Math" panose="02040503050406030204" pitchFamily="18" charset="0"/>
                      </a:rPr>
                      <m:t>, …, </m:t>
                    </m:r>
                    <m:r>
                      <a:rPr lang="en-US" i="1" dirty="0" smtClean="0">
                        <a:latin typeface="Cambria Math" panose="02040503050406030204" pitchFamily="18" charset="0"/>
                      </a:rPr>
                      <m:t>𝐴𝑛</m:t>
                    </m:r>
                    <m:r>
                      <a:rPr lang="en-US" i="1" dirty="0" smtClean="0">
                        <a:latin typeface="Cambria Math" panose="02040503050406030204" pitchFamily="18" charset="0"/>
                      </a:rPr>
                      <m:t>&gt; </m:t>
                    </m:r>
                  </m:oMath>
                </a14:m>
                <a:r>
                  <a:rPr lang="en-US" dirty="0"/>
                  <a:t>with dimensions </a:t>
                </a:r>
                <a14:m>
                  <m:oMath xmlns:m="http://schemas.openxmlformats.org/officeDocument/2006/math">
                    <m:r>
                      <a:rPr lang="en-US" i="1" dirty="0" smtClean="0">
                        <a:latin typeface="Cambria Math" panose="02040503050406030204" pitchFamily="18" charset="0"/>
                      </a:rPr>
                      <m:t>𝑝</m:t>
                    </m:r>
                    <m:r>
                      <a:rPr lang="en-US" i="1" baseline="-25000"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baseline="-25000" dirty="0" smtClean="0">
                        <a:latin typeface="Cambria Math" panose="02040503050406030204" pitchFamily="18" charset="0"/>
                      </a:rPr>
                      <m:t>1</m:t>
                    </m:r>
                    <m:r>
                      <a:rPr lang="en-US" i="1" dirty="0" smtClean="0">
                        <a:latin typeface="Cambria Math" panose="02040503050406030204" pitchFamily="18" charset="0"/>
                      </a:rPr>
                      <m:t>, …, </m:t>
                    </m:r>
                    <m:r>
                      <a:rPr lang="en-US" i="1" dirty="0" err="1" smtClean="0">
                        <a:latin typeface="Cambria Math" panose="02040503050406030204" pitchFamily="18" charset="0"/>
                      </a:rPr>
                      <m:t>𝑝</m:t>
                    </m:r>
                    <m:r>
                      <a:rPr lang="en-US" i="1" baseline="-25000" dirty="0" err="1" smtClean="0">
                        <a:latin typeface="Cambria Math" panose="02040503050406030204" pitchFamily="18" charset="0"/>
                      </a:rPr>
                      <m:t>𝑛</m:t>
                    </m:r>
                    <m:r>
                      <a:rPr lang="en-US" i="1" dirty="0" smtClean="0">
                        <a:latin typeface="Cambria Math" panose="02040503050406030204" pitchFamily="18" charset="0"/>
                      </a:rPr>
                      <m:t>.</m:t>
                    </m:r>
                  </m:oMath>
                </a14:m>
                <a:endParaRPr lang="en-IN" dirty="0"/>
              </a:p>
              <a:p>
                <a:r>
                  <a:rPr lang="en-US" dirty="0"/>
                  <a:t>Step 2: Let </a:t>
                </a:r>
                <a:r>
                  <a:rPr lang="en-US" dirty="0" err="1"/>
                  <a:t>i</a:t>
                </a:r>
                <a:r>
                  <a:rPr lang="en-US" dirty="0"/>
                  <a:t> and j represent the start and end matrices, and let M[</a:t>
                </a:r>
                <a:r>
                  <a:rPr lang="en-US" dirty="0" err="1"/>
                  <a:t>i</a:t>
                </a:r>
                <a:r>
                  <a:rPr lang="en-US" dirty="0"/>
                  <a:t>, j] represent the minimum matrix multiplication required to compute </a:t>
                </a:r>
                <a14:m>
                  <m:oMath xmlns:m="http://schemas.openxmlformats.org/officeDocument/2006/math">
                    <m:r>
                      <a:rPr lang="en-US" i="1" dirty="0" smtClean="0">
                        <a:latin typeface="Cambria Math" panose="02040503050406030204" pitchFamily="18" charset="0"/>
                      </a:rPr>
                      <m:t>𝐴</m:t>
                    </m:r>
                    <m:r>
                      <a:rPr lang="en-US" i="1" baseline="-25000" dirty="0" err="1" smtClean="0">
                        <a:latin typeface="Cambria Math" panose="02040503050406030204" pitchFamily="18" charset="0"/>
                      </a:rPr>
                      <m:t>𝑖</m:t>
                    </m:r>
                    <m:r>
                      <a:rPr lang="en-US" i="1" baseline="-25000" dirty="0" err="1" smtClean="0">
                        <a:latin typeface="Cambria Math" panose="02040503050406030204" pitchFamily="18" charset="0"/>
                      </a:rPr>
                      <m:t>,</m:t>
                    </m:r>
                    <m:r>
                      <a:rPr lang="en-US" i="1" baseline="-25000" dirty="0" err="1" smtClean="0">
                        <a:latin typeface="Cambria Math" panose="02040503050406030204" pitchFamily="18" charset="0"/>
                      </a:rPr>
                      <m:t>𝑗</m:t>
                    </m:r>
                  </m:oMath>
                </a14:m>
                <a:r>
                  <a:rPr lang="en-US" dirty="0"/>
                  <a:t>.</a:t>
                </a:r>
              </a:p>
              <a:p>
                <a:r>
                  <a:rPr lang="en-US" dirty="0"/>
                  <a:t>Step 3: Compute recursively.</a:t>
                </a:r>
              </a:p>
              <a:p>
                <a:pPr marL="0" indent="0">
                  <a:buNone/>
                </a:pPr>
                <a:r>
                  <a:rPr lang="en-US" dirty="0"/>
                  <a:t> 	3a: If (</a:t>
                </a:r>
                <a:r>
                  <a:rPr lang="en-US" dirty="0" err="1"/>
                  <a:t>i</a:t>
                </a:r>
                <a:r>
                  <a:rPr lang="en-US" dirty="0"/>
                  <a:t> = j), then M[</a:t>
                </a:r>
                <a:r>
                  <a:rPr lang="en-US" dirty="0" err="1"/>
                  <a:t>i</a:t>
                </a:r>
                <a:r>
                  <a:rPr lang="en-US" dirty="0"/>
                  <a:t>, j] = 0</a:t>
                </a:r>
              </a:p>
              <a:p>
                <a:pPr marL="0" indent="0">
                  <a:buNone/>
                </a:pPr>
                <a:r>
                  <a:rPr lang="en-US" dirty="0"/>
                  <a:t>	else</a:t>
                </a:r>
              </a:p>
              <a:p>
                <a:pPr marL="0" indent="0">
                  <a:buNone/>
                </a:pPr>
                <a:r>
                  <a:rPr lang="en-US" dirty="0"/>
                  <a:t>	if (</a:t>
                </a:r>
                <a:r>
                  <a:rPr lang="en-US" dirty="0" err="1"/>
                  <a:t>i</a:t>
                </a:r>
                <a:r>
                  <a:rPr lang="en-US" dirty="0"/>
                  <a:t> &lt; j), then</a:t>
                </a:r>
              </a:p>
              <a:p>
                <a:pPr marL="0" indent="0">
                  <a:buNone/>
                </a:pPr>
                <a:r>
                  <a:rPr lang="en-IN" dirty="0"/>
                  <a:t>split the matrix A</a:t>
                </a:r>
                <a:r>
                  <a:rPr lang="en-IN" baseline="-25000" dirty="0"/>
                  <a:t>1…n</a:t>
                </a:r>
                <a:r>
                  <a:rPr lang="en-IN" dirty="0"/>
                  <a:t> as A</a:t>
                </a:r>
                <a:r>
                  <a:rPr lang="en-IN" baseline="-25000" dirty="0"/>
                  <a:t>1…n </a:t>
                </a:r>
                <a:r>
                  <a:rPr lang="en-IN" dirty="0"/>
                  <a:t>= A</a:t>
                </a:r>
                <a:r>
                  <a:rPr lang="en-IN" baseline="-25000" dirty="0"/>
                  <a:t>1…k </a:t>
                </a:r>
                <a:r>
                  <a:rPr lang="en-IN" dirty="0"/>
                  <a:t>× A</a:t>
                </a:r>
                <a:r>
                  <a:rPr lang="en-IN" baseline="-25000" dirty="0"/>
                  <a:t>k+1…n, </a:t>
                </a:r>
                <a:r>
                  <a:rPr lang="en-IN" dirty="0"/>
                  <a:t>Where, 1</a:t>
                </a:r>
                <a14:m>
                  <m:oMath xmlns:m="http://schemas.openxmlformats.org/officeDocument/2006/math">
                    <m:r>
                      <a:rPr lang="en-I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oMath>
                </a14:m>
                <a:endParaRPr lang="en-IN" dirty="0"/>
              </a:p>
              <a:p>
                <a:pPr marL="0" indent="0">
                  <a:buNone/>
                </a:pPr>
                <a:r>
                  <a:rPr lang="en-IN" dirty="0"/>
                  <a:t> compute </a:t>
                </a:r>
                <a14:m>
                  <m:oMath xmlns:m="http://schemas.openxmlformats.org/officeDocument/2006/math">
                    <m:r>
                      <a:rPr lang="en-IN" i="1" dirty="0" smtClean="0">
                        <a:latin typeface="Cambria Math" panose="02040503050406030204" pitchFamily="18" charset="0"/>
                      </a:rPr>
                      <m:t>𝑀</m:t>
                    </m:r>
                    <m:r>
                      <a:rPr lang="en-IN" i="1" dirty="0" smtClean="0">
                        <a:latin typeface="Cambria Math" panose="02040503050406030204" pitchFamily="18" charset="0"/>
                      </a:rPr>
                      <m:t>[</m:t>
                    </m:r>
                    <m:r>
                      <a:rPr lang="en-IN" i="1" dirty="0" err="1" smtClean="0">
                        <a:latin typeface="Cambria Math" panose="02040503050406030204" pitchFamily="18" charset="0"/>
                      </a:rPr>
                      <m:t>𝑖</m:t>
                    </m:r>
                    <m:r>
                      <a:rPr lang="en-IN" i="1" dirty="0" smtClean="0">
                        <a:latin typeface="Cambria Math" panose="02040503050406030204" pitchFamily="18" charset="0"/>
                      </a:rPr>
                      <m:t>, </m:t>
                    </m:r>
                    <m:r>
                      <a:rPr lang="en-IN" i="1" dirty="0" smtClean="0">
                        <a:latin typeface="Cambria Math" panose="02040503050406030204" pitchFamily="18" charset="0"/>
                      </a:rPr>
                      <m:t>𝑗</m:t>
                    </m:r>
                    <m:r>
                      <a:rPr lang="en-IN" i="1" dirty="0" smtClean="0">
                        <a:latin typeface="Cambria Math" panose="02040503050406030204" pitchFamily="18" charset="0"/>
                      </a:rPr>
                      <m:t>] = </m:t>
                    </m:r>
                    <m:sSub>
                      <m:sSubPr>
                        <m:ctrlPr>
                          <a:rPr lang="en-IN" i="1" dirty="0" smtClean="0">
                            <a:latin typeface="Cambria Math" panose="02040503050406030204" pitchFamily="18" charset="0"/>
                          </a:rPr>
                        </m:ctrlPr>
                      </m:sSubPr>
                      <m:e>
                        <m:r>
                          <a:rPr lang="en-US" b="0" i="1" dirty="0" smtClean="0">
                            <a:latin typeface="Cambria Math" panose="02040503050406030204" pitchFamily="18" charset="0"/>
                          </a:rPr>
                          <m:t>𝑚𝑖𝑛</m:t>
                        </m:r>
                      </m:e>
                      <m:sub>
                        <m:r>
                          <a:rPr lang="en-US" b="0" i="1" dirty="0" smtClean="0">
                            <a:latin typeface="Cambria Math" panose="02040503050406030204" pitchFamily="18" charset="0"/>
                          </a:rPr>
                          <m:t>𝑗</m:t>
                        </m:r>
                        <m:r>
                          <a:rPr lang="en-US" b="0" i="1" dirty="0" smtClean="0">
                            <a:latin typeface="Cambria Math" panose="02040503050406030204" pitchFamily="18" charset="0"/>
                          </a:rPr>
                          <m:t>−1</m:t>
                        </m:r>
                      </m:sub>
                    </m:sSub>
                    <m:r>
                      <a:rPr lang="en-IN" i="1" dirty="0" smtClean="0">
                        <a:latin typeface="Cambria Math" panose="02040503050406030204" pitchFamily="18" charset="0"/>
                      </a:rPr>
                      <m:t>{</m:t>
                    </m:r>
                    <m:r>
                      <a:rPr lang="en-IN" i="1" dirty="0" smtClean="0">
                        <a:latin typeface="Cambria Math" panose="02040503050406030204" pitchFamily="18" charset="0"/>
                      </a:rPr>
                      <m:t>𝑀</m:t>
                    </m:r>
                    <m:r>
                      <a:rPr lang="en-IN" i="1" dirty="0" smtClean="0">
                        <a:latin typeface="Cambria Math" panose="02040503050406030204" pitchFamily="18" charset="0"/>
                      </a:rPr>
                      <m:t>[</m:t>
                    </m:r>
                    <m:r>
                      <a:rPr lang="en-IN" i="1" dirty="0" err="1" smtClean="0">
                        <a:latin typeface="Cambria Math" panose="02040503050406030204" pitchFamily="18" charset="0"/>
                      </a:rPr>
                      <m:t>𝑖</m:t>
                    </m:r>
                    <m:r>
                      <a:rPr lang="en-IN" i="1" dirty="0" smtClean="0">
                        <a:latin typeface="Cambria Math" panose="02040503050406030204" pitchFamily="18" charset="0"/>
                      </a:rPr>
                      <m:t>, </m:t>
                    </m:r>
                    <m:r>
                      <a:rPr lang="en-IN" i="1" dirty="0" smtClean="0">
                        <a:latin typeface="Cambria Math" panose="02040503050406030204" pitchFamily="18" charset="0"/>
                      </a:rPr>
                      <m:t>𝑘</m:t>
                    </m:r>
                    <m:r>
                      <a:rPr lang="en-IN" i="1" dirty="0" smtClean="0">
                        <a:latin typeface="Cambria Math" panose="02040503050406030204" pitchFamily="18" charset="0"/>
                      </a:rPr>
                      <m:t>] + </m:t>
                    </m:r>
                    <m:r>
                      <a:rPr lang="en-IN" i="1" dirty="0" smtClean="0">
                        <a:latin typeface="Cambria Math" panose="02040503050406030204" pitchFamily="18" charset="0"/>
                      </a:rPr>
                      <m:t>𝑀</m:t>
                    </m:r>
                    <m:r>
                      <a:rPr lang="en-IN" i="1" dirty="0" smtClean="0">
                        <a:latin typeface="Cambria Math" panose="02040503050406030204" pitchFamily="18" charset="0"/>
                      </a:rPr>
                      <m:t>[</m:t>
                    </m:r>
                    <m:r>
                      <a:rPr lang="en-IN" i="1" dirty="0" smtClean="0">
                        <a:latin typeface="Cambria Math" panose="02040503050406030204" pitchFamily="18" charset="0"/>
                      </a:rPr>
                      <m:t>𝑘</m:t>
                    </m:r>
                    <m:r>
                      <a:rPr lang="en-IN" i="1" dirty="0" smtClean="0">
                        <a:latin typeface="Cambria Math" panose="02040503050406030204" pitchFamily="18" charset="0"/>
                      </a:rPr>
                      <m:t> + 1, </m:t>
                    </m:r>
                    <m:r>
                      <a:rPr lang="en-IN" i="1" dirty="0" smtClean="0">
                        <a:latin typeface="Cambria Math" panose="02040503050406030204" pitchFamily="18" charset="0"/>
                      </a:rPr>
                      <m:t>𝑗</m:t>
                    </m:r>
                    <m:r>
                      <a:rPr lang="en-IN" i="1" dirty="0" smtClean="0">
                        <a:latin typeface="Cambria Math" panose="02040503050406030204" pitchFamily="18" charset="0"/>
                      </a:rPr>
                      <m:t>] + </m:t>
                    </m:r>
                    <m:sSub>
                      <m:sSubPr>
                        <m:ctrlPr>
                          <a:rPr lang="en-IN"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𝑖</m:t>
                        </m:r>
                        <m:r>
                          <a:rPr lang="en-US" b="0" i="1" dirty="0" smtClean="0">
                            <a:latin typeface="Cambria Math" panose="02040503050406030204" pitchFamily="18" charset="0"/>
                          </a:rPr>
                          <m:t>−1</m:t>
                        </m:r>
                      </m:sub>
                    </m:sSub>
                    <m:r>
                      <a:rPr lang="en-IN" i="1" dirty="0" smtClean="0">
                        <a:latin typeface="Cambria Math" panose="02040503050406030204" pitchFamily="18" charset="0"/>
                      </a:rPr>
                      <m:t> </m:t>
                    </m:r>
                    <m:r>
                      <a:rPr lang="en-IN" i="1" dirty="0" smtClean="0">
                        <a:latin typeface="Cambria Math" panose="02040503050406030204" pitchFamily="18" charset="0"/>
                      </a:rPr>
                      <m:t>𝑝𝑘</m:t>
                    </m:r>
                    <m:r>
                      <a:rPr lang="en-IN" i="1" dirty="0" smtClean="0">
                        <a:latin typeface="Cambria Math" panose="02040503050406030204" pitchFamily="18" charset="0"/>
                      </a:rPr>
                      <m:t> </m:t>
                    </m:r>
                    <m:r>
                      <a:rPr lang="en-IN" i="1" dirty="0" err="1" smtClean="0">
                        <a:latin typeface="Cambria Math" panose="02040503050406030204" pitchFamily="18" charset="0"/>
                      </a:rPr>
                      <m:t>𝑝</m:t>
                    </m:r>
                    <m:r>
                      <a:rPr lang="en-IN" i="1" baseline="-25000" dirty="0" err="1" smtClean="0">
                        <a:latin typeface="Cambria Math" panose="02040503050406030204" pitchFamily="18" charset="0"/>
                      </a:rPr>
                      <m:t>𝑗</m:t>
                    </m:r>
                    <m:r>
                      <a:rPr lang="en-IN" i="1" dirty="0" smtClean="0">
                        <a:latin typeface="Cambria Math" panose="02040503050406030204" pitchFamily="18" charset="0"/>
                      </a:rPr>
                      <m:t>}</m:t>
                    </m:r>
                  </m:oMath>
                </a14:m>
                <a:endParaRPr lang="en-IN" dirty="0"/>
              </a:p>
              <a:p>
                <a:pPr marL="0" indent="0">
                  <a:buNone/>
                </a:pPr>
                <a:r>
                  <a:rPr lang="en-IN" dirty="0"/>
                  <a:t>S</a:t>
                </a:r>
                <a:r>
                  <a:rPr lang="en-US" dirty="0" err="1"/>
                  <a:t>tep</a:t>
                </a:r>
                <a:r>
                  <a:rPr lang="en-US" dirty="0"/>
                  <a:t> 4: Return M[1, n] as the minimum cost of chain matrix multiplication.</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AE5B2068-8E89-47F2-825C-4BC46691935D}"/>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a:stretch>
              </a:blipFill>
            </p:spPr>
            <p:txBody>
              <a:bodyPr/>
              <a:lstStyle/>
              <a:p>
                <a:r>
                  <a:rPr lang="en-US">
                    <a:noFill/>
                  </a:rPr>
                  <a:t> </a:t>
                </a:r>
              </a:p>
            </p:txBody>
          </p:sp>
        </mc:Fallback>
      </mc:AlternateContent>
    </p:spTree>
    <p:extLst>
      <p:ext uri="{BB962C8B-B14F-4D97-AF65-F5344CB8AC3E}">
        <p14:creationId xmlns:p14="http://schemas.microsoft.com/office/powerpoint/2010/main" xmlns="" val="859609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B3831F-00D5-4DCB-8636-7BEDC71AF540}"/>
              </a:ext>
            </a:extLst>
          </p:cNvPr>
          <p:cNvSpPr>
            <a:spLocks noGrp="1"/>
          </p:cNvSpPr>
          <p:nvPr>
            <p:ph type="title"/>
          </p:nvPr>
        </p:nvSpPr>
        <p:spPr/>
        <p:txBody>
          <a:bodyPr/>
          <a:lstStyle/>
          <a:p>
            <a:r>
              <a:rPr lang="en-US" dirty="0"/>
              <a:t>Chain Matrix Multiplication</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A6137585-8765-4BE1-B2B2-1A40CE8CCD45}"/>
                  </a:ext>
                </a:extLst>
              </p:cNvPr>
              <p:cNvSpPr>
                <a:spLocks noGrp="1"/>
              </p:cNvSpPr>
              <p:nvPr>
                <p:ph idx="1"/>
              </p:nvPr>
            </p:nvSpPr>
            <p:spPr/>
            <p:txBody>
              <a:bodyPr>
                <a:normAutofit/>
              </a:bodyPr>
              <a:lstStyle/>
              <a:p>
                <a:r>
                  <a:rPr lang="en-US" dirty="0"/>
                  <a:t>The extraction of the optimal order is explained as follows:</a:t>
                </a:r>
              </a:p>
              <a:p>
                <a:r>
                  <a:rPr lang="en-US" dirty="0"/>
                  <a:t>Step 1: Read the trace matrix R with minimum k, yielding the minimum cost.</a:t>
                </a:r>
              </a:p>
              <a:p>
                <a:r>
                  <a:rPr lang="en-US" dirty="0"/>
                  <a:t>Step 2: Perform recursive call as follows:</a:t>
                </a:r>
              </a:p>
              <a:p>
                <a:pPr marL="0" indent="0">
                  <a:buNone/>
                </a:pPr>
                <a:r>
                  <a:rPr lang="en-US" dirty="0"/>
                  <a:t>	If (</a:t>
                </a:r>
                <a:r>
                  <a:rPr lang="en-US" dirty="0" err="1"/>
                  <a:t>i≠j</a:t>
                </a:r>
                <a:r>
                  <a:rPr lang="en-US" dirty="0"/>
                  <a:t>), then</a:t>
                </a:r>
              </a:p>
              <a:p>
                <a:pPr marL="0" indent="0">
                  <a:buNone/>
                </a:pPr>
                <a:r>
                  <a:rPr lang="en-US" dirty="0"/>
                  <a:t>	k = R[</a:t>
                </a:r>
                <a:r>
                  <a:rPr lang="en-US" dirty="0" err="1"/>
                  <a:t>i</a:t>
                </a:r>
                <a:r>
                  <a:rPr lang="en-US" dirty="0"/>
                  <a:t>, j]</a:t>
                </a:r>
              </a:p>
              <a:p>
                <a:pPr marL="0" indent="0">
                  <a:buNone/>
                </a:pPr>
                <a:r>
                  <a:rPr lang="en-US" dirty="0"/>
                  <a:t>	return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𝑚𝑢𝑙𝑡</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1…</m:t>
                        </m:r>
                        <m:r>
                          <a:rPr lang="en-US" b="0" i="1" dirty="0" smtClean="0">
                            <a:latin typeface="Cambria Math" panose="02040503050406030204" pitchFamily="18" charset="0"/>
                          </a:rPr>
                          <m:t>𝑘</m:t>
                        </m:r>
                      </m:sub>
                    </m:sSub>
                    <m:r>
                      <a:rPr lang="en-US" i="1" dirty="0" smtClean="0">
                        <a:latin typeface="Cambria Math" panose="02040503050406030204" pitchFamily="18" charset="0"/>
                      </a:rPr>
                      <m:t>) × </m:t>
                    </m:r>
                    <m:r>
                      <a:rPr lang="en-US" i="1" dirty="0" err="1" smtClean="0">
                        <a:latin typeface="Cambria Math" panose="02040503050406030204" pitchFamily="18" charset="0"/>
                      </a:rPr>
                      <m:t>𝑚𝑢𝑙𝑡</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𝑘</m:t>
                        </m:r>
                        <m:r>
                          <a:rPr lang="en-US" b="0" i="1" dirty="0" smtClean="0">
                            <a:latin typeface="Cambria Math" panose="02040503050406030204" pitchFamily="18" charset="0"/>
                          </a:rPr>
                          <m:t>+1…</m:t>
                        </m:r>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marL="0" indent="0">
                  <a:buNone/>
                </a:pPr>
                <a:r>
                  <a:rPr lang="en-US" dirty="0"/>
                  <a:t>	else</a:t>
                </a:r>
              </a:p>
              <a:p>
                <a:pPr marL="0" indent="0">
                  <a:buNone/>
                </a:pPr>
                <a:r>
                  <a:rPr lang="en-US" dirty="0"/>
                  <a:t>	return(R(</a:t>
                </a:r>
                <a:r>
                  <a:rPr lang="en-US" dirty="0" err="1"/>
                  <a:t>i</a:t>
                </a:r>
                <a:r>
                  <a:rPr lang="en-US" dirty="0"/>
                  <a:t>, j)</a:t>
                </a:r>
              </a:p>
              <a:p>
                <a:r>
                  <a:rPr lang="en-US" dirty="0"/>
                  <a:t>Step 3: End.</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A6137585-8765-4BE1-B2B2-1A40CE8CCD45}"/>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a:stretch>
              </a:blipFill>
            </p:spPr>
            <p:txBody>
              <a:bodyPr/>
              <a:lstStyle/>
              <a:p>
                <a:r>
                  <a:rPr lang="en-US">
                    <a:noFill/>
                  </a:rPr>
                  <a:t> </a:t>
                </a:r>
              </a:p>
            </p:txBody>
          </p:sp>
        </mc:Fallback>
      </mc:AlternateContent>
    </p:spTree>
    <p:extLst>
      <p:ext uri="{BB962C8B-B14F-4D97-AF65-F5344CB8AC3E}">
        <p14:creationId xmlns:p14="http://schemas.microsoft.com/office/powerpoint/2010/main" xmlns="" val="11230028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DB537F-8604-4097-A457-44B5B5A3205E}"/>
              </a:ext>
            </a:extLst>
          </p:cNvPr>
          <p:cNvSpPr>
            <a:spLocks noGrp="1"/>
          </p:cNvSpPr>
          <p:nvPr>
            <p:ph type="title"/>
          </p:nvPr>
        </p:nvSpPr>
        <p:spPr/>
        <p:txBody>
          <a:bodyPr/>
          <a:lstStyle/>
          <a:p>
            <a:r>
              <a:rPr lang="en-US" dirty="0"/>
              <a:t>Chain Matrix Multiplication</a:t>
            </a:r>
            <a:endParaRPr lang="en-IN" dirty="0"/>
          </a:p>
        </p:txBody>
      </p:sp>
      <p:pic>
        <p:nvPicPr>
          <p:cNvPr id="4" name="Content Placeholder 3">
            <a:extLst>
              <a:ext uri="{FF2B5EF4-FFF2-40B4-BE49-F238E27FC236}">
                <a16:creationId xmlns:a16="http://schemas.microsoft.com/office/drawing/2014/main" xmlns="" id="{C9FAD515-AC3C-445C-A3EF-DD1585EDD1BD}"/>
              </a:ext>
            </a:extLst>
          </p:cNvPr>
          <p:cNvPicPr>
            <a:picLocks noGrp="1" noChangeAspect="1"/>
          </p:cNvPicPr>
          <p:nvPr>
            <p:ph idx="1"/>
          </p:nvPr>
        </p:nvPicPr>
        <p:blipFill>
          <a:blip r:embed="rId2" cstate="print"/>
          <a:stretch>
            <a:fillRect/>
          </a:stretch>
        </p:blipFill>
        <p:spPr>
          <a:xfrm>
            <a:off x="1741211" y="1825625"/>
            <a:ext cx="8774665" cy="4351338"/>
          </a:xfrm>
          <a:prstGeom prst="rect">
            <a:avLst/>
          </a:prstGeom>
        </p:spPr>
      </p:pic>
    </p:spTree>
    <p:extLst>
      <p:ext uri="{BB962C8B-B14F-4D97-AF65-F5344CB8AC3E}">
        <p14:creationId xmlns:p14="http://schemas.microsoft.com/office/powerpoint/2010/main" xmlns="" val="4207220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4BC9BB-7872-42AB-AFDE-316A4FAA4382}"/>
              </a:ext>
            </a:extLst>
          </p:cNvPr>
          <p:cNvSpPr>
            <a:spLocks noGrp="1"/>
          </p:cNvSpPr>
          <p:nvPr>
            <p:ph type="title"/>
          </p:nvPr>
        </p:nvSpPr>
        <p:spPr/>
        <p:txBody>
          <a:bodyPr/>
          <a:lstStyle/>
          <a:p>
            <a:r>
              <a:rPr lang="en-US" dirty="0"/>
              <a:t>Chain Matrix Multiplication</a:t>
            </a:r>
            <a:endParaRPr lang="en-IN" dirty="0"/>
          </a:p>
        </p:txBody>
      </p:sp>
      <p:sp>
        <p:nvSpPr>
          <p:cNvPr id="3" name="Content Placeholder 2">
            <a:extLst>
              <a:ext uri="{FF2B5EF4-FFF2-40B4-BE49-F238E27FC236}">
                <a16:creationId xmlns:a16="http://schemas.microsoft.com/office/drawing/2014/main" xmlns="" id="{2E09E787-F4B1-4755-BE95-23F89229260F}"/>
              </a:ext>
            </a:extLst>
          </p:cNvPr>
          <p:cNvSpPr>
            <a:spLocks noGrp="1"/>
          </p:cNvSpPr>
          <p:nvPr>
            <p:ph idx="1"/>
          </p:nvPr>
        </p:nvSpPr>
        <p:spPr/>
        <p:txBody>
          <a:bodyPr/>
          <a:lstStyle/>
          <a:p>
            <a:r>
              <a:rPr lang="en-US" dirty="0">
                <a:solidFill>
                  <a:srgbClr val="FF0000"/>
                </a:solidFill>
              </a:rPr>
              <a:t>Consider the following four matrices whose orders are given and perform chain matrix multiplication using the dynamic programming approach:</a:t>
            </a:r>
          </a:p>
          <a:p>
            <a:endParaRPr lang="en-IN" dirty="0"/>
          </a:p>
        </p:txBody>
      </p:sp>
      <p:pic>
        <p:nvPicPr>
          <p:cNvPr id="5" name="Picture 4">
            <a:extLst>
              <a:ext uri="{FF2B5EF4-FFF2-40B4-BE49-F238E27FC236}">
                <a16:creationId xmlns:a16="http://schemas.microsoft.com/office/drawing/2014/main" xmlns="" id="{31A92531-875C-4C04-A3C1-0CDDD4082827}"/>
              </a:ext>
            </a:extLst>
          </p:cNvPr>
          <p:cNvPicPr>
            <a:picLocks noChangeAspect="1"/>
          </p:cNvPicPr>
          <p:nvPr/>
        </p:nvPicPr>
        <p:blipFill rotWithShape="1">
          <a:blip r:embed="rId2" cstate="print"/>
          <a:srcRect t="8734"/>
          <a:stretch/>
        </p:blipFill>
        <p:spPr>
          <a:xfrm>
            <a:off x="3367315" y="2885661"/>
            <a:ext cx="3991429" cy="1086678"/>
          </a:xfrm>
          <a:prstGeom prst="rect">
            <a:avLst/>
          </a:prstGeom>
        </p:spPr>
      </p:pic>
      <p:pic>
        <p:nvPicPr>
          <p:cNvPr id="4" name="Picture 3">
            <a:extLst>
              <a:ext uri="{FF2B5EF4-FFF2-40B4-BE49-F238E27FC236}">
                <a16:creationId xmlns:a16="http://schemas.microsoft.com/office/drawing/2014/main" xmlns="" id="{E28F950E-C731-4E68-80D2-D3507DE3AE1D}"/>
              </a:ext>
            </a:extLst>
          </p:cNvPr>
          <p:cNvPicPr>
            <a:picLocks noChangeAspect="1"/>
          </p:cNvPicPr>
          <p:nvPr/>
        </p:nvPicPr>
        <p:blipFill>
          <a:blip r:embed="rId3" cstate="print"/>
          <a:stretch>
            <a:fillRect/>
          </a:stretch>
        </p:blipFill>
        <p:spPr>
          <a:xfrm>
            <a:off x="3479043" y="3986571"/>
            <a:ext cx="4201111" cy="2314898"/>
          </a:xfrm>
          <a:prstGeom prst="rect">
            <a:avLst/>
          </a:prstGeom>
        </p:spPr>
      </p:pic>
    </p:spTree>
    <p:extLst>
      <p:ext uri="{BB962C8B-B14F-4D97-AF65-F5344CB8AC3E}">
        <p14:creationId xmlns:p14="http://schemas.microsoft.com/office/powerpoint/2010/main" xmlns="" val="3998447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6D4E8D2E-538E-4943-80AC-72F7E769D9BE}"/>
              </a:ext>
            </a:extLst>
          </p:cNvPr>
          <p:cNvPicPr>
            <a:picLocks noGrp="1" noChangeAspect="1"/>
          </p:cNvPicPr>
          <p:nvPr>
            <p:ph idx="1"/>
          </p:nvPr>
        </p:nvPicPr>
        <p:blipFill>
          <a:blip r:embed="rId2" cstate="print"/>
          <a:stretch>
            <a:fillRect/>
          </a:stretch>
        </p:blipFill>
        <p:spPr>
          <a:xfrm>
            <a:off x="6516918" y="135982"/>
            <a:ext cx="4067742" cy="2267266"/>
          </a:xfrm>
          <a:prstGeom prst="rect">
            <a:avLst/>
          </a:prstGeom>
        </p:spPr>
      </p:pic>
      <p:pic>
        <p:nvPicPr>
          <p:cNvPr id="5" name="Picture 4">
            <a:extLst>
              <a:ext uri="{FF2B5EF4-FFF2-40B4-BE49-F238E27FC236}">
                <a16:creationId xmlns:a16="http://schemas.microsoft.com/office/drawing/2014/main" xmlns="" id="{8223A0C4-CA07-48A0-89DB-3885DD2EDE17}"/>
              </a:ext>
            </a:extLst>
          </p:cNvPr>
          <p:cNvPicPr>
            <a:picLocks noChangeAspect="1"/>
          </p:cNvPicPr>
          <p:nvPr/>
        </p:nvPicPr>
        <p:blipFill>
          <a:blip r:embed="rId3" cstate="print"/>
          <a:stretch>
            <a:fillRect/>
          </a:stretch>
        </p:blipFill>
        <p:spPr>
          <a:xfrm>
            <a:off x="897791" y="617464"/>
            <a:ext cx="4777296" cy="1785785"/>
          </a:xfrm>
          <a:prstGeom prst="rect">
            <a:avLst/>
          </a:prstGeom>
        </p:spPr>
      </p:pic>
      <p:pic>
        <p:nvPicPr>
          <p:cNvPr id="6" name="Picture 5">
            <a:extLst>
              <a:ext uri="{FF2B5EF4-FFF2-40B4-BE49-F238E27FC236}">
                <a16:creationId xmlns:a16="http://schemas.microsoft.com/office/drawing/2014/main" xmlns="" id="{B71F9868-BB72-4EEC-8C9E-9D277929E58F}"/>
              </a:ext>
            </a:extLst>
          </p:cNvPr>
          <p:cNvPicPr>
            <a:picLocks noChangeAspect="1"/>
          </p:cNvPicPr>
          <p:nvPr/>
        </p:nvPicPr>
        <p:blipFill>
          <a:blip r:embed="rId4" cstate="print"/>
          <a:stretch>
            <a:fillRect/>
          </a:stretch>
        </p:blipFill>
        <p:spPr>
          <a:xfrm>
            <a:off x="897790" y="2671657"/>
            <a:ext cx="5038553" cy="1783096"/>
          </a:xfrm>
          <a:prstGeom prst="rect">
            <a:avLst/>
          </a:prstGeom>
        </p:spPr>
      </p:pic>
      <p:pic>
        <p:nvPicPr>
          <p:cNvPr id="7" name="Picture 6">
            <a:extLst>
              <a:ext uri="{FF2B5EF4-FFF2-40B4-BE49-F238E27FC236}">
                <a16:creationId xmlns:a16="http://schemas.microsoft.com/office/drawing/2014/main" xmlns="" id="{639AA836-899C-4BC2-8173-1DD408949CBF}"/>
              </a:ext>
            </a:extLst>
          </p:cNvPr>
          <p:cNvPicPr>
            <a:picLocks noChangeAspect="1"/>
          </p:cNvPicPr>
          <p:nvPr/>
        </p:nvPicPr>
        <p:blipFill>
          <a:blip r:embed="rId5" cstate="print"/>
          <a:stretch>
            <a:fillRect/>
          </a:stretch>
        </p:blipFill>
        <p:spPr>
          <a:xfrm>
            <a:off x="6516916" y="4216594"/>
            <a:ext cx="4324955" cy="2505425"/>
          </a:xfrm>
          <a:prstGeom prst="rect">
            <a:avLst/>
          </a:prstGeom>
        </p:spPr>
      </p:pic>
      <p:pic>
        <p:nvPicPr>
          <p:cNvPr id="8" name="Picture 7">
            <a:extLst>
              <a:ext uri="{FF2B5EF4-FFF2-40B4-BE49-F238E27FC236}">
                <a16:creationId xmlns:a16="http://schemas.microsoft.com/office/drawing/2014/main" xmlns="" id="{109BF7CE-1B7C-413D-BCC5-0728D331FE59}"/>
              </a:ext>
            </a:extLst>
          </p:cNvPr>
          <p:cNvPicPr>
            <a:picLocks noChangeAspect="1"/>
          </p:cNvPicPr>
          <p:nvPr/>
        </p:nvPicPr>
        <p:blipFill>
          <a:blip r:embed="rId6" cstate="print"/>
          <a:stretch>
            <a:fillRect/>
          </a:stretch>
        </p:blipFill>
        <p:spPr>
          <a:xfrm>
            <a:off x="897790" y="4723162"/>
            <a:ext cx="4777294" cy="1783096"/>
          </a:xfrm>
          <a:prstGeom prst="rect">
            <a:avLst/>
          </a:prstGeom>
        </p:spPr>
      </p:pic>
    </p:spTree>
    <p:extLst>
      <p:ext uri="{BB962C8B-B14F-4D97-AF65-F5344CB8AC3E}">
        <p14:creationId xmlns:p14="http://schemas.microsoft.com/office/powerpoint/2010/main" xmlns="" val="7423282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43ED3B27-EA6E-46A1-893B-63BAF25D6BA3}"/>
              </a:ext>
            </a:extLst>
          </p:cNvPr>
          <p:cNvPicPr>
            <a:picLocks noChangeAspect="1"/>
          </p:cNvPicPr>
          <p:nvPr/>
        </p:nvPicPr>
        <p:blipFill>
          <a:blip r:embed="rId2" cstate="print"/>
          <a:stretch>
            <a:fillRect/>
          </a:stretch>
        </p:blipFill>
        <p:spPr>
          <a:xfrm>
            <a:off x="1117601" y="535050"/>
            <a:ext cx="5126313" cy="2362530"/>
          </a:xfrm>
          <a:prstGeom prst="rect">
            <a:avLst/>
          </a:prstGeom>
        </p:spPr>
      </p:pic>
      <p:pic>
        <p:nvPicPr>
          <p:cNvPr id="5" name="Picture 4">
            <a:extLst>
              <a:ext uri="{FF2B5EF4-FFF2-40B4-BE49-F238E27FC236}">
                <a16:creationId xmlns:a16="http://schemas.microsoft.com/office/drawing/2014/main" xmlns="" id="{6CA8E0E6-0FCD-4897-9367-4C4D13F8A149}"/>
              </a:ext>
            </a:extLst>
          </p:cNvPr>
          <p:cNvPicPr>
            <a:picLocks noChangeAspect="1"/>
          </p:cNvPicPr>
          <p:nvPr/>
        </p:nvPicPr>
        <p:blipFill>
          <a:blip r:embed="rId3" cstate="print"/>
          <a:stretch>
            <a:fillRect/>
          </a:stretch>
        </p:blipFill>
        <p:spPr>
          <a:xfrm>
            <a:off x="6930448" y="432776"/>
            <a:ext cx="4143954" cy="2276793"/>
          </a:xfrm>
          <a:prstGeom prst="rect">
            <a:avLst/>
          </a:prstGeom>
        </p:spPr>
      </p:pic>
      <p:pic>
        <p:nvPicPr>
          <p:cNvPr id="6" name="Picture 5">
            <a:extLst>
              <a:ext uri="{FF2B5EF4-FFF2-40B4-BE49-F238E27FC236}">
                <a16:creationId xmlns:a16="http://schemas.microsoft.com/office/drawing/2014/main" xmlns="" id="{6F46F334-2D8E-4641-8ACD-F6557F7B92B6}"/>
              </a:ext>
            </a:extLst>
          </p:cNvPr>
          <p:cNvPicPr>
            <a:picLocks noChangeAspect="1"/>
          </p:cNvPicPr>
          <p:nvPr/>
        </p:nvPicPr>
        <p:blipFill>
          <a:blip r:embed="rId4" cstate="print"/>
          <a:stretch>
            <a:fillRect/>
          </a:stretch>
        </p:blipFill>
        <p:spPr>
          <a:xfrm>
            <a:off x="4048094" y="3429000"/>
            <a:ext cx="4391637" cy="2391109"/>
          </a:xfrm>
          <a:prstGeom prst="rect">
            <a:avLst/>
          </a:prstGeom>
        </p:spPr>
      </p:pic>
    </p:spTree>
    <p:extLst>
      <p:ext uri="{BB962C8B-B14F-4D97-AF65-F5344CB8AC3E}">
        <p14:creationId xmlns:p14="http://schemas.microsoft.com/office/powerpoint/2010/main" xmlns="" val="3984382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87155B-F2C8-49E3-8CC6-A75FA253959F}"/>
              </a:ext>
            </a:extLst>
          </p:cNvPr>
          <p:cNvSpPr>
            <a:spLocks noGrp="1"/>
          </p:cNvSpPr>
          <p:nvPr>
            <p:ph type="title"/>
          </p:nvPr>
        </p:nvSpPr>
        <p:spPr/>
        <p:txBody>
          <a:bodyPr/>
          <a:lstStyle/>
          <a:p>
            <a:r>
              <a:rPr lang="en-US" dirty="0"/>
              <a:t>Knapsack Problem</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E6EE60B6-8282-4676-A543-D016241B274B}"/>
                  </a:ext>
                </a:extLst>
              </p:cNvPr>
              <p:cNvSpPr>
                <a:spLocks noGrp="1"/>
              </p:cNvSpPr>
              <p:nvPr>
                <p:ph idx="1"/>
              </p:nvPr>
            </p:nvSpPr>
            <p:spPr>
              <a:xfrm>
                <a:off x="838200" y="1457740"/>
                <a:ext cx="10515600" cy="5400260"/>
              </a:xfrm>
            </p:spPr>
            <p:txBody>
              <a:bodyPr>
                <a:normAutofit fontScale="92500"/>
              </a:bodyPr>
              <a:lstStyle/>
              <a:p>
                <a:r>
                  <a:rPr lang="en-US" b="1" dirty="0"/>
                  <a:t>Step 1:</a:t>
                </a:r>
                <a:r>
                  <a:rPr lang="en-US" dirty="0"/>
                  <a:t> Let n be the number of objects.</a:t>
                </a:r>
              </a:p>
              <a:p>
                <a:r>
                  <a:rPr lang="en-US" b="1" dirty="0"/>
                  <a:t>Step 2:</a:t>
                </a:r>
                <a:r>
                  <a:rPr lang="en-US" dirty="0"/>
                  <a:t> Let W be the capacity of the knapsack.</a:t>
                </a:r>
              </a:p>
              <a:p>
                <a:r>
                  <a:rPr lang="en-US" b="1" dirty="0"/>
                  <a:t>Step 3:</a:t>
                </a:r>
                <a:r>
                  <a:rPr lang="en-US" dirty="0"/>
                  <a:t> Construct the matrix V [</a:t>
                </a:r>
                <a:r>
                  <a:rPr lang="en-US" dirty="0" err="1"/>
                  <a:t>i</a:t>
                </a:r>
                <a:r>
                  <a:rPr lang="en-US" dirty="0"/>
                  <a:t>, j] that stores items and their weights. Index </a:t>
                </a:r>
                <a:r>
                  <a:rPr lang="en-US" dirty="0" err="1"/>
                  <a:t>i</a:t>
                </a:r>
                <a:r>
                  <a:rPr lang="en-US" dirty="0"/>
                  <a:t> tracts the items added to the knapsack (i.e., 1 to n), and index j tracks the weights (i.e., 0 to W)</a:t>
                </a:r>
              </a:p>
              <a:p>
                <a:r>
                  <a:rPr lang="en-IN" b="1" dirty="0"/>
                  <a:t>Step 4: </a:t>
                </a:r>
                <a:r>
                  <a:rPr lang="en-IN" dirty="0"/>
                  <a:t>Initialize V[0, j] = 0 if j≥0. This implies no profit if no item is in the knapsack.</a:t>
                </a:r>
              </a:p>
              <a:p>
                <a:r>
                  <a:rPr lang="en-US" b="1" dirty="0"/>
                  <a:t>Step 5:</a:t>
                </a:r>
                <a:r>
                  <a:rPr lang="en-US" dirty="0"/>
                  <a:t> Recursively compute the following steps:</a:t>
                </a:r>
              </a:p>
              <a:p>
                <a:pPr marL="0" indent="0">
                  <a:buNone/>
                </a:pPr>
                <a:r>
                  <a:rPr lang="en-US" dirty="0"/>
                  <a:t>	</a:t>
                </a:r>
                <a:r>
                  <a:rPr lang="en-US" b="1" dirty="0"/>
                  <a:t>5a:</a:t>
                </a:r>
                <a:r>
                  <a:rPr lang="en-US" dirty="0"/>
                  <a:t> Leave the object </a:t>
                </a:r>
                <a:r>
                  <a:rPr lang="en-US" dirty="0" err="1"/>
                  <a:t>i</a:t>
                </a:r>
                <a:r>
                  <a:rPr lang="en-US" dirty="0"/>
                  <a:t> if </a:t>
                </a:r>
                <a14:m>
                  <m:oMath xmlns:m="http://schemas.openxmlformats.org/officeDocument/2006/math">
                    <m:r>
                      <a:rPr lang="en-US" i="1" dirty="0" smtClean="0">
                        <a:latin typeface="Cambria Math" panose="02040503050406030204" pitchFamily="18" charset="0"/>
                      </a:rPr>
                      <m:t>𝑤</m:t>
                    </m:r>
                    <m:r>
                      <a:rPr lang="en-US" i="1" baseline="-25000" dirty="0" err="1" smtClean="0">
                        <a:latin typeface="Cambria Math" panose="02040503050406030204" pitchFamily="18" charset="0"/>
                      </a:rPr>
                      <m:t>𝑗</m:t>
                    </m:r>
                    <m:r>
                      <a:rPr lang="en-US" i="1" dirty="0" smtClean="0">
                        <a:latin typeface="Cambria Math" panose="02040503050406030204" pitchFamily="18" charset="0"/>
                      </a:rPr>
                      <m:t> &gt; </m:t>
                    </m:r>
                    <m:r>
                      <a:rPr lang="en-US" i="1" dirty="0" smtClean="0">
                        <a:latin typeface="Cambria Math" panose="02040503050406030204" pitchFamily="18" charset="0"/>
                      </a:rPr>
                      <m:t>𝑗</m:t>
                    </m:r>
                    <m:r>
                      <a:rPr lang="en-US" i="1" dirty="0" smtClean="0">
                        <a:latin typeface="Cambria Math" panose="02040503050406030204" pitchFamily="18" charset="0"/>
                      </a:rPr>
                      <m:t> </m:t>
                    </m:r>
                  </m:oMath>
                </a14:m>
                <a:r>
                  <a:rPr lang="en-US" dirty="0"/>
                  <a:t>or </a:t>
                </a:r>
                <a14:m>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 − </m:t>
                    </m:r>
                    <m:r>
                      <a:rPr lang="en-US" i="1" dirty="0" err="1" smtClean="0">
                        <a:latin typeface="Cambria Math" panose="02040503050406030204" pitchFamily="18" charset="0"/>
                      </a:rPr>
                      <m:t>𝑤</m:t>
                    </m:r>
                    <m:r>
                      <a:rPr lang="en-US" i="1" baseline="-25000" dirty="0" err="1" smtClean="0">
                        <a:latin typeface="Cambria Math" panose="02040503050406030204" pitchFamily="18" charset="0"/>
                      </a:rPr>
                      <m:t>𝑖</m:t>
                    </m:r>
                    <m:r>
                      <a:rPr lang="en-US" i="1" dirty="0" smtClean="0">
                        <a:latin typeface="Cambria Math" panose="02040503050406030204" pitchFamily="18" charset="0"/>
                      </a:rPr>
                      <m:t> &lt; 0</m:t>
                    </m:r>
                  </m:oMath>
                </a14:m>
                <a:r>
                  <a:rPr lang="en-US" dirty="0"/>
                  <a:t>. This leaves the 	knapsack with the items </a:t>
                </a:r>
                <a14:m>
                  <m:oMath xmlns:m="http://schemas.openxmlformats.org/officeDocument/2006/math">
                    <m:r>
                      <a:rPr lang="en-US" i="1" dirty="0" smtClean="0">
                        <a:latin typeface="Cambria Math" panose="02040503050406030204" pitchFamily="18" charset="0"/>
                      </a:rPr>
                      <m:t>{1, 2, …, </m:t>
                    </m:r>
                    <m:r>
                      <a:rPr lang="en-US" i="1" dirty="0" smtClean="0">
                        <a:latin typeface="Cambria Math" panose="02040503050406030204" pitchFamily="18" charset="0"/>
                      </a:rPr>
                      <m:t>𝑖</m:t>
                    </m:r>
                    <m:r>
                      <a:rPr lang="en-US" i="1" dirty="0" smtClean="0">
                        <a:latin typeface="Cambria Math" panose="02040503050406030204" pitchFamily="18" charset="0"/>
                      </a:rPr>
                      <m:t>−1] </m:t>
                    </m:r>
                  </m:oMath>
                </a14:m>
                <a:r>
                  <a:rPr lang="en-US" dirty="0"/>
                  <a:t>with profit </a:t>
                </a:r>
                <a14:m>
                  <m:oMath xmlns:m="http://schemas.openxmlformats.org/officeDocument/2006/math">
                    <m:r>
                      <a:rPr lang="en-US" i="1" dirty="0" smtClean="0">
                        <a:latin typeface="Cambria Math" panose="02040503050406030204" pitchFamily="18" charset="0"/>
                      </a:rPr>
                      <m:t>𝑉</m:t>
                    </m:r>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𝑖</m:t>
                        </m:r>
                        <m:r>
                          <a:rPr lang="en-US" i="1" dirty="0" smtClean="0">
                            <a:latin typeface="Cambria Math" panose="02040503050406030204" pitchFamily="18" charset="0"/>
                          </a:rPr>
                          <m:t>−1,</m:t>
                        </m:r>
                        <m:r>
                          <a:rPr lang="en-US" i="1" dirty="0" smtClean="0">
                            <a:latin typeface="Cambria Math" panose="02040503050406030204" pitchFamily="18" charset="0"/>
                          </a:rPr>
                          <m:t>𝑗</m:t>
                        </m:r>
                      </m:e>
                    </m:d>
                    <m:r>
                      <a:rPr lang="en-US" i="1" dirty="0" smtClean="0">
                        <a:latin typeface="Cambria Math" panose="02040503050406030204" pitchFamily="18" charset="0"/>
                      </a:rPr>
                      <m:t>.</m:t>
                    </m:r>
                  </m:oMath>
                </a14:m>
                <a:endParaRPr lang="en-US" dirty="0"/>
              </a:p>
              <a:p>
                <a:pPr marL="0" indent="0">
                  <a:buNone/>
                </a:pPr>
                <a:r>
                  <a:rPr lang="en-US" dirty="0"/>
                  <a:t>	</a:t>
                </a:r>
                <a:r>
                  <a:rPr lang="en-US" b="1" dirty="0"/>
                  <a:t>5b:</a:t>
                </a:r>
                <a:r>
                  <a:rPr lang="en-US" dirty="0"/>
                  <a:t> Add the item </a:t>
                </a:r>
                <a:r>
                  <a:rPr lang="en-US" dirty="0" err="1"/>
                  <a:t>i</a:t>
                </a:r>
                <a:r>
                  <a:rPr lang="en-US" dirty="0"/>
                  <a:t> 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oMath>
                </a14:m>
                <a:r>
                  <a:rPr lang="en-US" dirty="0"/>
                  <a:t> or </a:t>
                </a:r>
                <a14:m>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 − </m:t>
                    </m:r>
                    <m:r>
                      <a:rPr lang="en-US" i="1" dirty="0" err="1" smtClean="0">
                        <a:latin typeface="Cambria Math" panose="02040503050406030204" pitchFamily="18" charset="0"/>
                      </a:rPr>
                      <m:t>𝑤</m:t>
                    </m:r>
                    <m:r>
                      <a:rPr lang="en-US" i="1" baseline="-25000" dirty="0" err="1" smtClean="0">
                        <a:latin typeface="Cambria Math" panose="02040503050406030204" pitchFamily="18" charset="0"/>
                      </a:rPr>
                      <m:t>𝑖</m:t>
                    </m:r>
                    <m:r>
                      <a:rPr lang="en-US" i="1" dirty="0" smtClean="0">
                        <a:latin typeface="Cambria Math" panose="02040503050406030204" pitchFamily="18" charset="0"/>
                      </a:rPr>
                      <m:t> ≥ 0</m:t>
                    </m:r>
                  </m:oMath>
                </a14:m>
                <a:r>
                  <a:rPr lang="en-US" dirty="0"/>
                  <a:t>. In this case, the addition of the items 	results in a profit max</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𝑖</m:t>
                    </m:r>
                    <m:r>
                      <a:rPr lang="en-US" i="1" dirty="0" smtClean="0">
                        <a:latin typeface="Cambria Math" panose="02040503050406030204" pitchFamily="18" charset="0"/>
                      </a:rPr>
                      <m:t>−1,</m:t>
                    </m:r>
                    <m:r>
                      <a:rPr lang="en-US" i="1" dirty="0" smtClean="0">
                        <a:latin typeface="Cambria Math" panose="02040503050406030204" pitchFamily="18" charset="0"/>
                      </a:rPr>
                      <m:t>𝑗</m:t>
                    </m:r>
                    <m:r>
                      <a:rPr lang="en-US" i="1" dirty="0" smtClean="0">
                        <a:latin typeface="Cambria Math" panose="02040503050406030204" pitchFamily="18" charset="0"/>
                      </a:rPr>
                      <m:t>], </m:t>
                    </m:r>
                    <m:r>
                      <a:rPr lang="en-US" i="1" dirty="0" smtClean="0">
                        <a:latin typeface="Cambria Math" panose="02040503050406030204" pitchFamily="18" charset="0"/>
                      </a:rPr>
                      <m:t>𝑉𝑖</m:t>
                    </m:r>
                    <m:r>
                      <a:rPr lang="en-US" i="1" dirty="0" smtClean="0">
                        <a:latin typeface="Cambria Math" panose="02040503050406030204" pitchFamily="18" charset="0"/>
                      </a:rPr>
                      <m:t> + </m:t>
                    </m:r>
                    <m:r>
                      <a:rPr lang="en-US" i="1" dirty="0" smtClean="0">
                        <a:latin typeface="Cambria Math" panose="02040503050406030204" pitchFamily="18" charset="0"/>
                      </a:rPr>
                      <m:t>𝑉</m:t>
                    </m:r>
                    <m:r>
                      <a:rPr lang="en-US" i="1" dirty="0" smtClean="0">
                        <a:latin typeface="Cambria Math" panose="02040503050406030204" pitchFamily="18" charset="0"/>
                      </a:rPr>
                      <m:t> [</m:t>
                    </m:r>
                    <m:r>
                      <a:rPr lang="en-US" i="1" dirty="0" smtClean="0">
                        <a:latin typeface="Cambria Math" panose="02040503050406030204" pitchFamily="18" charset="0"/>
                      </a:rPr>
                      <m:t>𝑖</m:t>
                    </m:r>
                    <m:r>
                      <a:rPr lang="en-US" i="1" dirty="0" smtClean="0">
                        <a:latin typeface="Cambria Math" panose="02040503050406030204" pitchFamily="18" charset="0"/>
                      </a:rPr>
                      <m:t>−1,</m:t>
                    </m:r>
                    <m:r>
                      <a:rPr lang="en-US" i="1" dirty="0" smtClean="0">
                        <a:latin typeface="Cambria Math" panose="02040503050406030204" pitchFamily="18" charset="0"/>
                      </a:rPr>
                      <m:t>𝑗</m:t>
                    </m:r>
                    <m:r>
                      <a:rPr lang="en-US" i="1" dirty="0" smtClean="0">
                        <a:latin typeface="Cambria Math" panose="02040503050406030204" pitchFamily="18" charset="0"/>
                      </a:rPr>
                      <m:t> − </m:t>
                    </m:r>
                    <m:r>
                      <a:rPr lang="en-US" i="1" dirty="0" err="1" smtClean="0">
                        <a:latin typeface="Cambria Math" panose="02040503050406030204" pitchFamily="18" charset="0"/>
                      </a:rPr>
                      <m:t>𝑤</m:t>
                    </m:r>
                    <m:r>
                      <a:rPr lang="en-US" i="1" baseline="-25000" dirty="0" err="1" smtClean="0">
                        <a:latin typeface="Cambria Math" panose="02040503050406030204" pitchFamily="18" charset="0"/>
                      </a:rPr>
                      <m:t>𝑖</m:t>
                    </m:r>
                    <m:r>
                      <a:rPr lang="en-US" i="1" dirty="0" smtClean="0">
                        <a:latin typeface="Cambria Math" panose="02040503050406030204" pitchFamily="18" charset="0"/>
                      </a:rPr>
                      <m:t>])}. </m:t>
                    </m:r>
                  </m:oMath>
                </a14:m>
                <a:r>
                  <a:rPr lang="en-US" dirty="0"/>
                  <a:t>Here </a:t>
                </a:r>
                <a14:m>
                  <m:oMath xmlns:m="http://schemas.openxmlformats.org/officeDocument/2006/math">
                    <m:r>
                      <a:rPr lang="en-US" i="1" dirty="0" smtClean="0">
                        <a:latin typeface="Cambria Math" panose="02040503050406030204" pitchFamily="18" charset="0"/>
                      </a:rPr>
                      <m:t>𝑉</m:t>
                    </m:r>
                    <m:r>
                      <a:rPr lang="en-US" i="1" baseline="-25000" dirty="0" smtClean="0">
                        <a:latin typeface="Cambria Math" panose="02040503050406030204" pitchFamily="18" charset="0"/>
                      </a:rPr>
                      <m:t>𝑖</m:t>
                    </m:r>
                  </m:oMath>
                </a14:m>
                <a:r>
                  <a:rPr lang="en-US" dirty="0"/>
                  <a:t> is the profit 	of the current item.</a:t>
                </a:r>
              </a:p>
              <a:p>
                <a:r>
                  <a:rPr lang="en-US" b="1" dirty="0"/>
                  <a:t>Step 6:</a:t>
                </a:r>
                <a:r>
                  <a:rPr lang="en-US" dirty="0"/>
                  <a:t> Return the maximum profit of adding feasible items to the knapsack, V [1… n].</a:t>
                </a:r>
              </a:p>
              <a:p>
                <a:r>
                  <a:rPr lang="en-US" b="1" dirty="0"/>
                  <a:t>Step 7:</a:t>
                </a:r>
                <a:r>
                  <a:rPr lang="en-US" dirty="0"/>
                  <a:t> End.</a:t>
                </a:r>
              </a:p>
              <a:p>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E6EE60B6-8282-4676-A543-D016241B274B}"/>
                  </a:ext>
                </a:extLst>
              </p:cNvPr>
              <p:cNvSpPr>
                <a:spLocks noGrp="1" noRot="1" noChangeAspect="1" noMove="1" noResize="1" noEditPoints="1" noAdjustHandles="1" noChangeArrowheads="1" noChangeShapeType="1" noTextEdit="1"/>
              </p:cNvSpPr>
              <p:nvPr>
                <p:ph idx="1"/>
              </p:nvPr>
            </p:nvSpPr>
            <p:spPr>
              <a:xfrm>
                <a:off x="838202" y="1457740"/>
                <a:ext cx="10515600" cy="5400260"/>
              </a:xfrm>
              <a:blipFill>
                <a:blip r:embed="rId2" cstate="print"/>
                <a:stretch>
                  <a:fillRect l="-1101" t="-1016" r="-348"/>
                </a:stretch>
              </a:blipFill>
            </p:spPr>
            <p:txBody>
              <a:bodyPr/>
              <a:lstStyle/>
              <a:p>
                <a:r>
                  <a:rPr lang="en-US">
                    <a:noFill/>
                  </a:rPr>
                  <a:t> </a:t>
                </a:r>
              </a:p>
            </p:txBody>
          </p:sp>
        </mc:Fallback>
      </mc:AlternateContent>
    </p:spTree>
    <p:extLst>
      <p:ext uri="{BB962C8B-B14F-4D97-AF65-F5344CB8AC3E}">
        <p14:creationId xmlns:p14="http://schemas.microsoft.com/office/powerpoint/2010/main" xmlns="" val="32710443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98EB74-290D-4BA3-9904-E29229CF0902}"/>
              </a:ext>
            </a:extLst>
          </p:cNvPr>
          <p:cNvSpPr>
            <a:spLocks noGrp="1"/>
          </p:cNvSpPr>
          <p:nvPr>
            <p:ph type="title"/>
          </p:nvPr>
        </p:nvSpPr>
        <p:spPr/>
        <p:txBody>
          <a:bodyPr/>
          <a:lstStyle/>
          <a:p>
            <a:r>
              <a:rPr lang="en-US" dirty="0"/>
              <a:t>Knapsack Problem</a:t>
            </a:r>
            <a:endParaRPr lang="en-IN" dirty="0"/>
          </a:p>
        </p:txBody>
      </p:sp>
      <p:pic>
        <p:nvPicPr>
          <p:cNvPr id="4" name="Content Placeholder 3">
            <a:extLst>
              <a:ext uri="{FF2B5EF4-FFF2-40B4-BE49-F238E27FC236}">
                <a16:creationId xmlns:a16="http://schemas.microsoft.com/office/drawing/2014/main" xmlns="" id="{6C3311A8-D169-4D8B-BCC7-16C08C32EA03}"/>
              </a:ext>
            </a:extLst>
          </p:cNvPr>
          <p:cNvPicPr>
            <a:picLocks noGrp="1" noChangeAspect="1"/>
          </p:cNvPicPr>
          <p:nvPr>
            <p:ph idx="1"/>
          </p:nvPr>
        </p:nvPicPr>
        <p:blipFill>
          <a:blip r:embed="rId2" cstate="print"/>
          <a:stretch>
            <a:fillRect/>
          </a:stretch>
        </p:blipFill>
        <p:spPr>
          <a:xfrm>
            <a:off x="874773" y="1853107"/>
            <a:ext cx="10507541" cy="4296375"/>
          </a:xfrm>
          <a:prstGeom prst="rect">
            <a:avLst/>
          </a:prstGeom>
        </p:spPr>
      </p:pic>
    </p:spTree>
    <p:extLst>
      <p:ext uri="{BB962C8B-B14F-4D97-AF65-F5344CB8AC3E}">
        <p14:creationId xmlns:p14="http://schemas.microsoft.com/office/powerpoint/2010/main" xmlns="" val="35213648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09DA306A-74A9-4251-887C-D4E738ADFD31}"/>
              </a:ext>
            </a:extLst>
          </p:cNvPr>
          <p:cNvSpPr>
            <a:spLocks noGrp="1"/>
          </p:cNvSpPr>
          <p:nvPr>
            <p:ph type="title"/>
          </p:nvPr>
        </p:nvSpPr>
        <p:spPr/>
        <p:txBody>
          <a:bodyPr/>
          <a:lstStyle/>
          <a:p>
            <a:r>
              <a:rPr lang="en-US" dirty="0"/>
              <a:t>Knapsack Problem</a:t>
            </a:r>
            <a:endParaRPr lang="en-IN" dirty="0"/>
          </a:p>
        </p:txBody>
      </p:sp>
      <p:sp>
        <p:nvSpPr>
          <p:cNvPr id="3" name="Content Placeholder 2">
            <a:extLst>
              <a:ext uri="{FF2B5EF4-FFF2-40B4-BE49-F238E27FC236}">
                <a16:creationId xmlns:a16="http://schemas.microsoft.com/office/drawing/2014/main" xmlns="" id="{28DCC86B-0FAA-4729-B8C6-EB742CDDEEF6}"/>
              </a:ext>
            </a:extLst>
          </p:cNvPr>
          <p:cNvSpPr>
            <a:spLocks noGrp="1"/>
          </p:cNvSpPr>
          <p:nvPr>
            <p:ph idx="1"/>
          </p:nvPr>
        </p:nvSpPr>
        <p:spPr/>
        <p:txBody>
          <a:bodyPr/>
          <a:lstStyle/>
          <a:p>
            <a:r>
              <a:rPr lang="en-US" dirty="0">
                <a:solidFill>
                  <a:srgbClr val="FF0000"/>
                </a:solidFill>
              </a:rPr>
              <a:t>Apply the dynamic programming algorithm to the instance of the knapsack problem shown in Table 13.28. Assume that the knapsack capacity is w = 3.</a:t>
            </a:r>
          </a:p>
          <a:p>
            <a:endParaRPr lang="en-IN" dirty="0"/>
          </a:p>
        </p:txBody>
      </p:sp>
      <p:pic>
        <p:nvPicPr>
          <p:cNvPr id="4" name="Picture 3">
            <a:extLst>
              <a:ext uri="{FF2B5EF4-FFF2-40B4-BE49-F238E27FC236}">
                <a16:creationId xmlns:a16="http://schemas.microsoft.com/office/drawing/2014/main" xmlns="" id="{588CF37A-AFEB-4ABB-8870-725E1091923A}"/>
              </a:ext>
            </a:extLst>
          </p:cNvPr>
          <p:cNvPicPr>
            <a:picLocks noChangeAspect="1"/>
          </p:cNvPicPr>
          <p:nvPr/>
        </p:nvPicPr>
        <p:blipFill>
          <a:blip r:embed="rId2" cstate="print"/>
          <a:stretch>
            <a:fillRect/>
          </a:stretch>
        </p:blipFill>
        <p:spPr>
          <a:xfrm>
            <a:off x="2478195" y="3322672"/>
            <a:ext cx="3527090" cy="2139306"/>
          </a:xfrm>
          <a:prstGeom prst="rect">
            <a:avLst/>
          </a:prstGeom>
        </p:spPr>
      </p:pic>
      <p:pic>
        <p:nvPicPr>
          <p:cNvPr id="2" name="Picture 1">
            <a:extLst>
              <a:ext uri="{FF2B5EF4-FFF2-40B4-BE49-F238E27FC236}">
                <a16:creationId xmlns:a16="http://schemas.microsoft.com/office/drawing/2014/main" xmlns="" id="{6300F099-4350-458A-943F-4DA08A277611}"/>
              </a:ext>
            </a:extLst>
          </p:cNvPr>
          <p:cNvPicPr>
            <a:picLocks noChangeAspect="1"/>
          </p:cNvPicPr>
          <p:nvPr/>
        </p:nvPicPr>
        <p:blipFill>
          <a:blip r:embed="rId3" cstate="print"/>
          <a:stretch>
            <a:fillRect/>
          </a:stretch>
        </p:blipFill>
        <p:spPr>
          <a:xfrm>
            <a:off x="6578988" y="3196772"/>
            <a:ext cx="4201111" cy="2391109"/>
          </a:xfrm>
          <a:prstGeom prst="rect">
            <a:avLst/>
          </a:prstGeom>
        </p:spPr>
      </p:pic>
    </p:spTree>
    <p:extLst>
      <p:ext uri="{BB962C8B-B14F-4D97-AF65-F5344CB8AC3E}">
        <p14:creationId xmlns:p14="http://schemas.microsoft.com/office/powerpoint/2010/main" xmlns="" val="13810738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909D04C4-A6AF-49A3-B1B5-4E977B08D4A2}"/>
              </a:ext>
            </a:extLst>
          </p:cNvPr>
          <p:cNvSpPr>
            <a:spLocks noGrp="1"/>
          </p:cNvSpPr>
          <p:nvPr>
            <p:ph idx="1"/>
          </p:nvPr>
        </p:nvSpPr>
        <p:spPr>
          <a:xfrm>
            <a:off x="838202" y="406401"/>
            <a:ext cx="10515600" cy="5770563"/>
          </a:xfrm>
        </p:spPr>
        <p:txBody>
          <a:bodyPr>
            <a:normAutofit/>
          </a:bodyPr>
          <a:lstStyle/>
          <a:p>
            <a:r>
              <a:rPr lang="en-US" b="1" dirty="0"/>
              <a:t>Computation of first row:</a:t>
            </a:r>
          </a:p>
          <a:p>
            <a:pPr marL="0" indent="0">
              <a:buNone/>
            </a:pPr>
            <a:r>
              <a:rPr lang="en-IN" dirty="0"/>
              <a:t>V[1, 1] = max{V[1 − 1, 1], 1 + V[0, 0]} = max{V[0, 1], 1 + 0} = 1</a:t>
            </a:r>
          </a:p>
          <a:p>
            <a:pPr marL="0" indent="0">
              <a:buNone/>
            </a:pPr>
            <a:r>
              <a:rPr lang="en-IN" dirty="0"/>
              <a:t>V[1, 2] = max{V[0, 1], 1 + V[0, 1]} = 1</a:t>
            </a:r>
          </a:p>
          <a:p>
            <a:pPr marL="0" indent="0">
              <a:buNone/>
            </a:pPr>
            <a:r>
              <a:rPr lang="en-IN" dirty="0"/>
              <a:t>V[1, 3] = max{V[0, 1], 1 + V[0, 2]} = 1</a:t>
            </a:r>
          </a:p>
          <a:p>
            <a:r>
              <a:rPr lang="en-US" b="1" dirty="0"/>
              <a:t>Computation of second row:</a:t>
            </a:r>
            <a:endParaRPr lang="en-IN" b="1" dirty="0"/>
          </a:p>
          <a:p>
            <a:pPr marL="0" indent="0">
              <a:buNone/>
            </a:pPr>
            <a:r>
              <a:rPr lang="en-IN" dirty="0"/>
              <a:t>V[2, 1] = 1</a:t>
            </a:r>
          </a:p>
          <a:p>
            <a:pPr marL="0" indent="0">
              <a:buNone/>
            </a:pPr>
            <a:r>
              <a:rPr lang="en-IN" dirty="0"/>
              <a:t>V[2, 2] = max{V[1, 1], 6 + V[1, 0]} = 6</a:t>
            </a:r>
          </a:p>
          <a:p>
            <a:pPr marL="0" indent="0">
              <a:buNone/>
            </a:pPr>
            <a:r>
              <a:rPr lang="en-IN" dirty="0"/>
              <a:t>V[2, 3] = max{V[1, 1], 6 + V[1, 1]} = 7</a:t>
            </a:r>
          </a:p>
          <a:p>
            <a:r>
              <a:rPr lang="en-US" b="1" dirty="0"/>
              <a:t>Computation of third row</a:t>
            </a:r>
            <a:endParaRPr lang="en-IN" b="1" dirty="0"/>
          </a:p>
          <a:p>
            <a:pPr marL="0" indent="0">
              <a:buNone/>
            </a:pPr>
            <a:r>
              <a:rPr lang="en-IN" dirty="0"/>
              <a:t>V[3, 1] = V[2, 1] = 1</a:t>
            </a:r>
          </a:p>
          <a:p>
            <a:pPr marL="0" indent="0">
              <a:buNone/>
            </a:pPr>
            <a:r>
              <a:rPr lang="en-IN" dirty="0"/>
              <a:t>V[3, 2] = V[2, 2] = 6</a:t>
            </a:r>
          </a:p>
          <a:p>
            <a:pPr marL="0" indent="0">
              <a:buNone/>
            </a:pPr>
            <a:r>
              <a:rPr lang="en-IN" dirty="0"/>
              <a:t>V[3, 3] = V[2, 3] = 7</a:t>
            </a:r>
          </a:p>
          <a:p>
            <a:pPr marL="0" indent="0">
              <a:buNone/>
            </a:pPr>
            <a:endParaRPr lang="en-IN" dirty="0"/>
          </a:p>
        </p:txBody>
      </p:sp>
      <p:pic>
        <p:nvPicPr>
          <p:cNvPr id="7" name="Picture 6">
            <a:extLst>
              <a:ext uri="{FF2B5EF4-FFF2-40B4-BE49-F238E27FC236}">
                <a16:creationId xmlns:a16="http://schemas.microsoft.com/office/drawing/2014/main" xmlns="" id="{7F1FBDE4-1510-48C3-A868-099AF9128C75}"/>
              </a:ext>
            </a:extLst>
          </p:cNvPr>
          <p:cNvPicPr>
            <a:picLocks noChangeAspect="1"/>
          </p:cNvPicPr>
          <p:nvPr/>
        </p:nvPicPr>
        <p:blipFill>
          <a:blip r:embed="rId2" cstate="print"/>
          <a:stretch>
            <a:fillRect/>
          </a:stretch>
        </p:blipFill>
        <p:spPr>
          <a:xfrm>
            <a:off x="7471554" y="1224319"/>
            <a:ext cx="4172532" cy="2324424"/>
          </a:xfrm>
          <a:prstGeom prst="rect">
            <a:avLst/>
          </a:prstGeom>
        </p:spPr>
      </p:pic>
      <p:pic>
        <p:nvPicPr>
          <p:cNvPr id="8" name="Picture 7">
            <a:extLst>
              <a:ext uri="{FF2B5EF4-FFF2-40B4-BE49-F238E27FC236}">
                <a16:creationId xmlns:a16="http://schemas.microsoft.com/office/drawing/2014/main" xmlns="" id="{8313BFC7-2599-45F5-9667-07B8A2ABDD0C}"/>
              </a:ext>
            </a:extLst>
          </p:cNvPr>
          <p:cNvPicPr>
            <a:picLocks noChangeAspect="1"/>
          </p:cNvPicPr>
          <p:nvPr/>
        </p:nvPicPr>
        <p:blipFill>
          <a:blip r:embed="rId3" cstate="print"/>
          <a:stretch>
            <a:fillRect/>
          </a:stretch>
        </p:blipFill>
        <p:spPr>
          <a:xfrm>
            <a:off x="4992915" y="4114986"/>
            <a:ext cx="3599543" cy="2391109"/>
          </a:xfrm>
          <a:prstGeom prst="rect">
            <a:avLst/>
          </a:prstGeom>
        </p:spPr>
      </p:pic>
      <p:pic>
        <p:nvPicPr>
          <p:cNvPr id="9" name="Picture 8">
            <a:extLst>
              <a:ext uri="{FF2B5EF4-FFF2-40B4-BE49-F238E27FC236}">
                <a16:creationId xmlns:a16="http://schemas.microsoft.com/office/drawing/2014/main" xmlns="" id="{8CF56F2F-7EFC-4C45-A307-9457201C6CF2}"/>
              </a:ext>
            </a:extLst>
          </p:cNvPr>
          <p:cNvPicPr>
            <a:picLocks noChangeAspect="1"/>
          </p:cNvPicPr>
          <p:nvPr/>
        </p:nvPicPr>
        <p:blipFill>
          <a:blip r:embed="rId4" cstate="print"/>
          <a:stretch>
            <a:fillRect/>
          </a:stretch>
        </p:blipFill>
        <p:spPr>
          <a:xfrm>
            <a:off x="8592458" y="4114986"/>
            <a:ext cx="3599543" cy="2353003"/>
          </a:xfrm>
          <a:prstGeom prst="rect">
            <a:avLst/>
          </a:prstGeom>
        </p:spPr>
      </p:pic>
    </p:spTree>
    <p:extLst>
      <p:ext uri="{BB962C8B-B14F-4D97-AF65-F5344CB8AC3E}">
        <p14:creationId xmlns:p14="http://schemas.microsoft.com/office/powerpoint/2010/main" xmlns="" val="30544319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74EEFF-FDFD-4BAF-B38A-4CBE0636F189}"/>
              </a:ext>
            </a:extLst>
          </p:cNvPr>
          <p:cNvSpPr>
            <a:spLocks noGrp="1"/>
          </p:cNvSpPr>
          <p:nvPr>
            <p:ph type="title"/>
          </p:nvPr>
        </p:nvSpPr>
        <p:spPr/>
        <p:txBody>
          <a:bodyPr/>
          <a:lstStyle/>
          <a:p>
            <a:r>
              <a:rPr lang="en-US" dirty="0"/>
              <a:t>Optimal Binary Search Trees</a:t>
            </a:r>
            <a:endParaRPr lang="en-IN" dirty="0"/>
          </a:p>
        </p:txBody>
      </p:sp>
      <p:sp>
        <p:nvSpPr>
          <p:cNvPr id="3" name="Content Placeholder 2">
            <a:extLst>
              <a:ext uri="{FF2B5EF4-FFF2-40B4-BE49-F238E27FC236}">
                <a16:creationId xmlns:a16="http://schemas.microsoft.com/office/drawing/2014/main" xmlns="" id="{70D92DC4-CCA0-4D37-B5D5-E6C00B5DD4E2}"/>
              </a:ext>
            </a:extLst>
          </p:cNvPr>
          <p:cNvSpPr>
            <a:spLocks noGrp="1"/>
          </p:cNvSpPr>
          <p:nvPr>
            <p:ph idx="1"/>
          </p:nvPr>
        </p:nvSpPr>
        <p:spPr/>
        <p:txBody>
          <a:bodyPr/>
          <a:lstStyle/>
          <a:p>
            <a:pPr marL="0" indent="0">
              <a:buNone/>
            </a:pPr>
            <a:r>
              <a:rPr lang="en-US" dirty="0"/>
              <a:t>1. Each node of a BST has one key.</a:t>
            </a:r>
          </a:p>
          <a:p>
            <a:pPr marL="0" indent="0">
              <a:buNone/>
            </a:pPr>
            <a:r>
              <a:rPr lang="en-US" dirty="0"/>
              <a:t>2. All the nodes on the LHS of a BST are less than or equal to the keys stored in the root.</a:t>
            </a:r>
          </a:p>
          <a:p>
            <a:pPr marL="0" indent="0">
              <a:buNone/>
            </a:pPr>
            <a:r>
              <a:rPr lang="en-US" dirty="0"/>
              <a:t>3. All the nodes on the RHS of a BST are greater than or equal to the keys stored in the root.</a:t>
            </a:r>
            <a:endParaRPr lang="en-IN" dirty="0"/>
          </a:p>
        </p:txBody>
      </p:sp>
      <p:pic>
        <p:nvPicPr>
          <p:cNvPr id="4" name="Picture 3">
            <a:extLst>
              <a:ext uri="{FF2B5EF4-FFF2-40B4-BE49-F238E27FC236}">
                <a16:creationId xmlns:a16="http://schemas.microsoft.com/office/drawing/2014/main" xmlns="" id="{8991F2A3-9E0D-4028-86CB-DA98B5EE32E4}"/>
              </a:ext>
            </a:extLst>
          </p:cNvPr>
          <p:cNvPicPr>
            <a:picLocks noChangeAspect="1"/>
          </p:cNvPicPr>
          <p:nvPr/>
        </p:nvPicPr>
        <p:blipFill>
          <a:blip r:embed="rId2" cstate="print"/>
          <a:stretch>
            <a:fillRect/>
          </a:stretch>
        </p:blipFill>
        <p:spPr>
          <a:xfrm>
            <a:off x="8362533" y="3619048"/>
            <a:ext cx="2991268" cy="3238952"/>
          </a:xfrm>
          <a:prstGeom prst="rect">
            <a:avLst/>
          </a:prstGeom>
        </p:spPr>
      </p:pic>
    </p:spTree>
    <p:extLst>
      <p:ext uri="{BB962C8B-B14F-4D97-AF65-F5344CB8AC3E}">
        <p14:creationId xmlns:p14="http://schemas.microsoft.com/office/powerpoint/2010/main" xmlns="" val="26954987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2106A0-68C5-4D50-8ADC-E580DD58D0E4}"/>
              </a:ext>
            </a:extLst>
          </p:cNvPr>
          <p:cNvSpPr>
            <a:spLocks noGrp="1"/>
          </p:cNvSpPr>
          <p:nvPr>
            <p:ph type="title"/>
          </p:nvPr>
        </p:nvSpPr>
        <p:spPr/>
        <p:txBody>
          <a:bodyPr/>
          <a:lstStyle/>
          <a:p>
            <a:r>
              <a:rPr lang="en-US" dirty="0"/>
              <a:t>Optimal Binary Search Trees</a:t>
            </a:r>
            <a:endParaRPr lang="en-IN" dirty="0"/>
          </a:p>
        </p:txBody>
      </p:sp>
      <p:pic>
        <p:nvPicPr>
          <p:cNvPr id="4" name="Content Placeholder 3">
            <a:extLst>
              <a:ext uri="{FF2B5EF4-FFF2-40B4-BE49-F238E27FC236}">
                <a16:creationId xmlns:a16="http://schemas.microsoft.com/office/drawing/2014/main" xmlns="" id="{6048284F-F1ED-4840-A8AD-E4830E287D8B}"/>
              </a:ext>
            </a:extLst>
          </p:cNvPr>
          <p:cNvPicPr>
            <a:picLocks noGrp="1" noChangeAspect="1"/>
          </p:cNvPicPr>
          <p:nvPr>
            <p:ph sz="half" idx="1"/>
          </p:nvPr>
        </p:nvPicPr>
        <p:blipFill>
          <a:blip r:embed="rId2" cstate="print"/>
          <a:stretch>
            <a:fillRect/>
          </a:stretch>
        </p:blipFill>
        <p:spPr>
          <a:xfrm>
            <a:off x="838201" y="1927168"/>
            <a:ext cx="5181600" cy="4148253"/>
          </a:xfrm>
          <a:prstGeom prst="rect">
            <a:avLst/>
          </a:prstGeom>
        </p:spPr>
      </p:pic>
      <mc:AlternateContent xmlns:mc="http://schemas.openxmlformats.org/markup-compatibility/2006">
        <mc:Choice xmlns:a14="http://schemas.microsoft.com/office/drawing/2010/main" xmlns="" Requires="a14">
          <p:sp>
            <p:nvSpPr>
              <p:cNvPr id="5" name="Content Placeholder 4">
                <a:extLst>
                  <a:ext uri="{FF2B5EF4-FFF2-40B4-BE49-F238E27FC236}">
                    <a16:creationId xmlns:a16="http://schemas.microsoft.com/office/drawing/2014/main" id="{0213AA54-7230-43C9-B658-E13A6D5EB1ED}"/>
                  </a:ext>
                </a:extLst>
              </p:cNvPr>
              <p:cNvSpPr>
                <a:spLocks noGrp="1"/>
              </p:cNvSpPr>
              <p:nvPr>
                <p:ph sz="half" idx="2"/>
              </p:nvPr>
            </p:nvSpPr>
            <p:spPr>
              <a:xfrm>
                <a:off x="7447722" y="1497497"/>
                <a:ext cx="4518991" cy="5181600"/>
              </a:xfrm>
            </p:spPr>
            <p:txBody>
              <a:bodyPr>
                <a:normAutofit fontScale="92500"/>
              </a:bodyPr>
              <a:lstStyle/>
              <a:p>
                <a:r>
                  <a:rPr lang="en-US" dirty="0"/>
                  <a:t> It can be observed that the number of possible resulting trees is a Catalan number. As discussed earlier in Chapter 6, the nth Catalan number Cn is given as follows:</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r>
                                <a:rPr lang="en-US" b="0" i="1" smtClean="0">
                                  <a:latin typeface="Cambria Math" panose="02040503050406030204" pitchFamily="18" charset="0"/>
                                </a:rPr>
                                <m:t>𝑛</m:t>
                              </m:r>
                            </m:e>
                          </m:mr>
                          <m:mr>
                            <m:e>
                              <m:r>
                                <a:rPr lang="en-US" b="0" i="1" smtClean="0">
                                  <a:latin typeface="Cambria Math" panose="02040503050406030204" pitchFamily="18" charset="0"/>
                                </a:rPr>
                                <m:t>𝑛</m:t>
                              </m:r>
                            </m:e>
                          </m:mr>
                        </m:m>
                      </m:e>
                    </m:d>
                  </m:oMath>
                </a14:m>
                <a:r>
                  <a:rPr lang="en-US" dirty="0"/>
                  <a:t>for n≥0</a:t>
                </a:r>
              </a:p>
              <a:p>
                <a:r>
                  <a:rPr lang="en-US" dirty="0"/>
                  <a:t>   This expression can be checked for, say, three nodes; therefore,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3</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3+1</m:t>
                        </m:r>
                      </m:den>
                    </m:f>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6</m:t>
                              </m:r>
                            </m:e>
                          </m:mr>
                          <m:mr>
                            <m:e>
                              <m:r>
                                <a:rPr lang="en-US" b="0" i="1" smtClean="0">
                                  <a:latin typeface="Cambria Math" panose="02040503050406030204" pitchFamily="18" charset="0"/>
                                </a:rPr>
                                <m:t>3</m:t>
                              </m:r>
                            </m:e>
                          </m:mr>
                        </m:m>
                      </m:e>
                    </m:d>
                    <m:r>
                      <a:rPr lang="en-US" b="0" i="1" smtClean="0">
                        <a:latin typeface="Cambria Math" panose="02040503050406030204" pitchFamily="18" charset="0"/>
                      </a:rPr>
                      <m:t> </m:t>
                    </m:r>
                  </m:oMath>
                </a14:m>
                <a:r>
                  <a:rPr lang="en-US" dirty="0"/>
                  <a:t>=5.</a:t>
                </a:r>
                <a:endParaRPr lang="en-IN" dirty="0"/>
              </a:p>
            </p:txBody>
          </p:sp>
        </mc:Choice>
        <mc:Fallback>
          <p:sp>
            <p:nvSpPr>
              <p:cNvPr id="5" name="Content Placeholder 4">
                <a:extLst>
                  <a:ext uri="{FF2B5EF4-FFF2-40B4-BE49-F238E27FC236}">
                    <a16:creationId xmlns:a16="http://schemas.microsoft.com/office/drawing/2014/main" xmlns="" xmlns:a14="http://schemas.microsoft.com/office/drawing/2010/main" id="{0213AA54-7230-43C9-B658-E13A6D5EB1ED}"/>
                  </a:ext>
                </a:extLst>
              </p:cNvPr>
              <p:cNvSpPr>
                <a:spLocks noGrp="1" noRot="1" noChangeAspect="1" noMove="1" noResize="1" noEditPoints="1" noAdjustHandles="1" noChangeArrowheads="1" noChangeShapeType="1" noTextEdit="1"/>
              </p:cNvSpPr>
              <p:nvPr>
                <p:ph sz="half" idx="2"/>
              </p:nvPr>
            </p:nvSpPr>
            <p:spPr>
              <a:xfrm>
                <a:off x="7447723" y="1497497"/>
                <a:ext cx="4518990" cy="5181600"/>
              </a:xfrm>
              <a:blipFill>
                <a:blip r:embed="rId3" cstate="print"/>
                <a:stretch>
                  <a:fillRect l="-2564" t="-1059" r="-1080"/>
                </a:stretch>
              </a:blipFill>
            </p:spPr>
            <p:txBody>
              <a:bodyPr/>
              <a:lstStyle/>
              <a:p>
                <a:r>
                  <a:rPr lang="en-US">
                    <a:noFill/>
                  </a:rPr>
                  <a:t> </a:t>
                </a:r>
              </a:p>
            </p:txBody>
          </p:sp>
        </mc:Fallback>
      </mc:AlternateContent>
    </p:spTree>
    <p:extLst>
      <p:ext uri="{BB962C8B-B14F-4D97-AF65-F5344CB8AC3E}">
        <p14:creationId xmlns:p14="http://schemas.microsoft.com/office/powerpoint/2010/main" xmlns="" val="20418174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E57C64-D07A-49F6-BFD4-D732859525E6}"/>
              </a:ext>
            </a:extLst>
          </p:cNvPr>
          <p:cNvSpPr>
            <a:spLocks noGrp="1"/>
          </p:cNvSpPr>
          <p:nvPr>
            <p:ph type="title"/>
          </p:nvPr>
        </p:nvSpPr>
        <p:spPr/>
        <p:txBody>
          <a:bodyPr/>
          <a:lstStyle/>
          <a:p>
            <a:r>
              <a:rPr lang="en-US" dirty="0"/>
              <a:t>Dynamic programming approach for constructing optimal BST</a:t>
            </a:r>
            <a:endParaRPr lang="en-IN"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B86BDAC0-5129-4480-9CD5-F6EA4117EF36}"/>
                  </a:ext>
                </a:extLst>
              </p:cNvPr>
              <p:cNvSpPr>
                <a:spLocks noGrp="1"/>
              </p:cNvSpPr>
              <p:nvPr>
                <p:ph idx="1"/>
              </p:nvPr>
            </p:nvSpPr>
            <p:spPr/>
            <p:txBody>
              <a:bodyPr>
                <a:normAutofit/>
              </a:bodyPr>
              <a:lstStyle/>
              <a:p>
                <a:r>
                  <a:rPr lang="en-US" dirty="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𝑛</m:t>
                        </m:r>
                      </m:sub>
                    </m:sSub>
                  </m:oMath>
                </a14:m>
                <a:r>
                  <a:rPr lang="en-US" dirty="0"/>
                  <a:t> be the distinct nodes of a BST. Let us assume these nodes are arranged in ascending order and 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sub>
                    </m:sSub>
                    <m:r>
                      <a:rPr lang="en-US" b="0" i="1" smtClean="0">
                        <a:latin typeface="Cambria Math" panose="02040503050406030204" pitchFamily="18" charset="0"/>
                      </a:rPr>
                      <m:t> </m:t>
                    </m:r>
                  </m:oMath>
                </a14:m>
                <a:r>
                  <a:rPr lang="en-US" dirty="0"/>
                  <a:t>be the probabilities of searching these items. The idea is to construct a table C, where each entry </a:t>
                </a:r>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 </m:t>
                    </m:r>
                    <m:r>
                      <a:rPr lang="en-US" i="1" dirty="0" smtClean="0">
                        <a:latin typeface="Cambria Math" panose="02040503050406030204" pitchFamily="18" charset="0"/>
                      </a:rPr>
                      <m:t>𝑗</m:t>
                    </m:r>
                    <m:r>
                      <a:rPr lang="en-US" i="1" dirty="0" smtClean="0">
                        <a:latin typeface="Cambria Math" panose="02040503050406030204" pitchFamily="18" charset="0"/>
                      </a:rPr>
                      <m:t>) </m:t>
                    </m:r>
                  </m:oMath>
                </a14:m>
                <a:r>
                  <a:rPr lang="en-US" dirty="0"/>
                  <a:t>represents the cost of the average number of comparisons required for a successful search in BST.</a:t>
                </a:r>
              </a:p>
              <a:p>
                <a:pPr lvl="0"/>
                <a:r>
                  <a:rPr lang="en-US" b="1" dirty="0"/>
                  <a:t>Step 1:</a:t>
                </a:r>
                <a:r>
                  <a:rPr lang="en-US" dirty="0"/>
                  <a:t> Read n symbols with probability </a:t>
                </a:r>
                <a:r>
                  <a:rPr lang="en-US" i="1" dirty="0"/>
                  <a:t>p</a:t>
                </a:r>
                <a:r>
                  <a:rPr lang="en-US" i="1" baseline="-25000" dirty="0"/>
                  <a:t>i</a:t>
                </a:r>
                <a:r>
                  <a:rPr lang="en-US" dirty="0"/>
                  <a:t>.</a:t>
                </a:r>
                <a:endParaRPr lang="en-IN" dirty="0"/>
              </a:p>
              <a:p>
                <a:pPr lvl="0"/>
                <a:r>
                  <a:rPr lang="en-US" b="1" dirty="0"/>
                  <a:t>Step 2: </a:t>
                </a:r>
                <a:r>
                  <a:rPr lang="en-US" dirty="0"/>
                  <a:t>Create the table C[</a:t>
                </a:r>
                <a:r>
                  <a:rPr lang="en-US" dirty="0" err="1"/>
                  <a:t>i</a:t>
                </a:r>
                <a:r>
                  <a:rPr lang="en-US" dirty="0"/>
                  <a:t>, j], 1 ≤ </a:t>
                </a:r>
                <a:r>
                  <a:rPr lang="en-US" dirty="0" err="1"/>
                  <a:t>i</a:t>
                </a:r>
                <a:r>
                  <a:rPr lang="en-US" dirty="0"/>
                  <a:t> ≤ j + 1 ≤ n.</a:t>
                </a:r>
                <a:endParaRPr lang="en-IN" dirty="0"/>
              </a:p>
              <a:p>
                <a:pPr lvl="0"/>
                <a:r>
                  <a:rPr lang="en-US" b="1" dirty="0"/>
                  <a:t>Step 3: </a:t>
                </a:r>
                <a:r>
                  <a:rPr lang="en-US" dirty="0"/>
                  <a:t>Set C[</a:t>
                </a:r>
                <a:r>
                  <a:rPr lang="en-US" dirty="0" err="1"/>
                  <a:t>i</a:t>
                </a:r>
                <a:r>
                  <a:rPr lang="en-US" dirty="0"/>
                  <a:t>, </a:t>
                </a:r>
                <a:r>
                  <a:rPr lang="en-US" dirty="0" err="1"/>
                  <a:t>i</a:t>
                </a:r>
                <a:r>
                  <a:rPr lang="en-US" dirty="0"/>
                  <a:t>] = pi and C[</a:t>
                </a:r>
                <a:r>
                  <a:rPr lang="en-US" dirty="0" err="1"/>
                  <a:t>i</a:t>
                </a:r>
                <a:r>
                  <a:rPr lang="en-US" dirty="0"/>
                  <a:t> − 1, j] = 0 for all </a:t>
                </a:r>
                <a:r>
                  <a:rPr lang="en-US" dirty="0" err="1"/>
                  <a:t>i</a:t>
                </a:r>
                <a14:m>
                  <m:oMath xmlns:m="http://schemas.openxmlformats.org/officeDocument/2006/math">
                    <m:r>
                      <a:rPr lang="en-US" i="1">
                        <a:latin typeface="Cambria Math" panose="02040503050406030204" pitchFamily="18" charset="0"/>
                      </a:rPr>
                      <m:t>∈</m:t>
                    </m:r>
                  </m:oMath>
                </a14:m>
                <a:r>
                  <a:rPr lang="en-US" dirty="0"/>
                  <a:t>[n].</a:t>
                </a:r>
                <a:endParaRPr lang="en-IN" dirty="0"/>
              </a:p>
              <a:p>
                <a:pPr lvl="0"/>
                <a:r>
                  <a:rPr lang="en-US" b="1" dirty="0"/>
                  <a:t>Step 4: </a:t>
                </a:r>
                <a:r>
                  <a:rPr lang="en-US" dirty="0"/>
                  <a:t>Recursively compute the following relation: C[</a:t>
                </a:r>
                <a:r>
                  <a:rPr lang="en-US" dirty="0" err="1"/>
                  <a:t>i</a:t>
                </a:r>
                <a:r>
                  <a:rPr lang="en-US" dirty="0"/>
                  <a:t>, j ] = C[1… k − 1] + C[k + 1… j ] +</a:t>
                </a:r>
                <a14:m>
                  <m:oMath xmlns:m="http://schemas.openxmlformats.org/officeDocument/2006/math">
                    <m:nary>
                      <m:naryPr>
                        <m:chr m:val="∑"/>
                        <m:limLoc m:val="undOvr"/>
                        <m:ctrlPr>
                          <a:rPr lang="en-IN" i="1">
                            <a:latin typeface="Cambria Math" panose="02040503050406030204" pitchFamily="18" charset="0"/>
                          </a:rPr>
                        </m:ctrlPr>
                      </m:naryPr>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𝑖</m:t>
                        </m:r>
                      </m:sub>
                      <m:sup>
                        <m:r>
                          <a:rPr lang="en-US" i="1">
                            <a:latin typeface="Cambria Math" panose="02040503050406030204" pitchFamily="18" charset="0"/>
                          </a:rPr>
                          <m:t>𝑗</m:t>
                        </m:r>
                      </m:sup>
                      <m:e>
                        <m:sSub>
                          <m:sSubPr>
                            <m:ctrlPr>
                              <a:rPr lang="en-IN"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sub>
                        </m:sSub>
                      </m:e>
                    </m:nary>
                  </m:oMath>
                </a14:m>
                <a:r>
                  <a:rPr lang="en-US" dirty="0"/>
                  <a:t>, for all </a:t>
                </a:r>
                <a:r>
                  <a:rPr lang="en-US" dirty="0" err="1"/>
                  <a:t>i</a:t>
                </a:r>
                <a:r>
                  <a:rPr lang="en-US" dirty="0"/>
                  <a:t> and j</a:t>
                </a:r>
                <a:endParaRPr lang="en-IN" dirty="0"/>
              </a:p>
              <a:p>
                <a:pPr lvl="0"/>
                <a:r>
                  <a:rPr lang="en-US" b="1" dirty="0"/>
                  <a:t>Step 5: </a:t>
                </a:r>
                <a:r>
                  <a:rPr lang="en-US" dirty="0"/>
                  <a:t>Return C[1 … n] as the maximum cost of constructing a BST.</a:t>
                </a:r>
                <a:endParaRPr lang="en-IN" dirty="0"/>
              </a:p>
              <a:p>
                <a:pPr lvl="0"/>
                <a:r>
                  <a:rPr lang="en-US" b="1" dirty="0"/>
                  <a:t>Step 6:</a:t>
                </a:r>
                <a:r>
                  <a:rPr lang="en-US" dirty="0"/>
                  <a:t> End.</a:t>
                </a: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B86BDAC0-5129-4480-9CD5-F6EA4117EF36}"/>
                  </a:ext>
                </a:extLst>
              </p:cNvPr>
              <p:cNvSpPr>
                <a:spLocks noGrp="1" noRot="1" noChangeAspect="1" noMove="1" noResize="1" noEditPoints="1" noAdjustHandles="1" noChangeArrowheads="1" noChangeShapeType="1" noTextEdit="1"/>
              </p:cNvSpPr>
              <p:nvPr>
                <p:ph idx="1"/>
              </p:nvPr>
            </p:nvSpPr>
            <p:spPr>
              <a:blipFill>
                <a:blip r:embed="rId2" cstate="print"/>
                <a:stretch>
                  <a:fillRect l="-1124" t="-1261"/>
                </a:stretch>
              </a:blipFill>
            </p:spPr>
            <p:txBody>
              <a:bodyPr/>
              <a:lstStyle/>
              <a:p>
                <a:r>
                  <a:rPr lang="en-US">
                    <a:noFill/>
                  </a:rPr>
                  <a:t> </a:t>
                </a:r>
              </a:p>
            </p:txBody>
          </p:sp>
        </mc:Fallback>
      </mc:AlternateContent>
    </p:spTree>
    <p:extLst>
      <p:ext uri="{BB962C8B-B14F-4D97-AF65-F5344CB8AC3E}">
        <p14:creationId xmlns:p14="http://schemas.microsoft.com/office/powerpoint/2010/main" xmlns="" val="26116260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FDFDA3-CF86-40EA-82BE-5454715D60A7}"/>
              </a:ext>
            </a:extLst>
          </p:cNvPr>
          <p:cNvSpPr>
            <a:spLocks noGrp="1"/>
          </p:cNvSpPr>
          <p:nvPr>
            <p:ph type="title"/>
          </p:nvPr>
        </p:nvSpPr>
        <p:spPr/>
        <p:txBody>
          <a:bodyPr/>
          <a:lstStyle/>
          <a:p>
            <a:r>
              <a:rPr lang="en-US" dirty="0"/>
              <a:t>BST Algorithm</a:t>
            </a:r>
            <a:endParaRPr lang="en-IN" dirty="0"/>
          </a:p>
        </p:txBody>
      </p:sp>
      <p:pic>
        <p:nvPicPr>
          <p:cNvPr id="5" name="Content Placeholder 4">
            <a:extLst>
              <a:ext uri="{FF2B5EF4-FFF2-40B4-BE49-F238E27FC236}">
                <a16:creationId xmlns:a16="http://schemas.microsoft.com/office/drawing/2014/main" xmlns="" id="{538711F6-128C-4B39-89BF-B8FDA3FC56DF}"/>
              </a:ext>
            </a:extLst>
          </p:cNvPr>
          <p:cNvPicPr>
            <a:picLocks noGrp="1" noChangeAspect="1"/>
          </p:cNvPicPr>
          <p:nvPr>
            <p:ph idx="1"/>
          </p:nvPr>
        </p:nvPicPr>
        <p:blipFill>
          <a:blip r:embed="rId2" cstate="print"/>
          <a:stretch>
            <a:fillRect/>
          </a:stretch>
        </p:blipFill>
        <p:spPr>
          <a:xfrm>
            <a:off x="2146985" y="1825625"/>
            <a:ext cx="7963118" cy="4351338"/>
          </a:xfrm>
          <a:prstGeom prst="rect">
            <a:avLst/>
          </a:prstGeom>
        </p:spPr>
      </p:pic>
    </p:spTree>
    <p:extLst>
      <p:ext uri="{BB962C8B-B14F-4D97-AF65-F5344CB8AC3E}">
        <p14:creationId xmlns:p14="http://schemas.microsoft.com/office/powerpoint/2010/main" xmlns="" val="31679894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BEAEC20-1056-47C6-9807-6EB88BF34942}"/>
              </a:ext>
            </a:extLst>
          </p:cNvPr>
          <p:cNvSpPr>
            <a:spLocks noGrp="1"/>
          </p:cNvSpPr>
          <p:nvPr>
            <p:ph idx="1"/>
          </p:nvPr>
        </p:nvSpPr>
        <p:spPr>
          <a:xfrm>
            <a:off x="838202" y="290287"/>
            <a:ext cx="10515600" cy="5886677"/>
          </a:xfrm>
        </p:spPr>
        <p:txBody>
          <a:bodyPr/>
          <a:lstStyle/>
          <a:p>
            <a:r>
              <a:rPr lang="en-US" dirty="0">
                <a:solidFill>
                  <a:srgbClr val="FF0000"/>
                </a:solidFill>
              </a:rPr>
              <a:t>Using the dynamic programming approach, construct an optimal BST for the following keys:</a:t>
            </a:r>
          </a:p>
          <a:p>
            <a:pPr marL="0" indent="0">
              <a:buNone/>
            </a:pPr>
            <a:r>
              <a:rPr lang="en-US" dirty="0">
                <a:solidFill>
                  <a:srgbClr val="FF0000"/>
                </a:solidFill>
              </a:rPr>
              <a:t>Key 1:Danny p1 = 2/7</a:t>
            </a:r>
          </a:p>
          <a:p>
            <a:pPr marL="0" indent="0">
              <a:buNone/>
            </a:pPr>
            <a:r>
              <a:rPr lang="en-US" dirty="0">
                <a:solidFill>
                  <a:srgbClr val="FF0000"/>
                </a:solidFill>
              </a:rPr>
              <a:t>Key 2:Ianp2 = 1/7</a:t>
            </a:r>
          </a:p>
          <a:p>
            <a:pPr marL="0" indent="0">
              <a:buNone/>
            </a:pPr>
            <a:r>
              <a:rPr lang="en-US" dirty="0">
                <a:solidFill>
                  <a:srgbClr val="FF0000"/>
                </a:solidFill>
              </a:rPr>
              <a:t>Key 3:Radha p3 = 3/7</a:t>
            </a:r>
          </a:p>
          <a:p>
            <a:pPr marL="0" indent="0">
              <a:buNone/>
            </a:pPr>
            <a:r>
              <a:rPr lang="en-US" dirty="0">
                <a:solidFill>
                  <a:srgbClr val="FF0000"/>
                </a:solidFill>
              </a:rPr>
              <a:t>Key 4:Zeep4 = 1/7</a:t>
            </a:r>
          </a:p>
          <a:p>
            <a:pPr indent="0">
              <a:lnSpc>
                <a:spcPct val="115000"/>
              </a:lnSpc>
              <a:spcAft>
                <a:spcPts val="1000"/>
              </a:spcAft>
              <a:buNone/>
            </a:pPr>
            <a:r>
              <a:rPr lang="en-US" sz="2200" dirty="0">
                <a:solidFill>
                  <a:srgbClr val="0F0F0F"/>
                </a:solidFill>
                <a:effectLst/>
                <a:ea typeface="Times New Roman" panose="02020603050405020304" pitchFamily="18" charset="0"/>
                <a:cs typeface="Times New Roman" panose="02020603050405020304" pitchFamily="18" charset="0"/>
              </a:rPr>
              <a:t>C</a:t>
            </a:r>
            <a:r>
              <a:rPr lang="en-US" sz="2200" baseline="-25000" dirty="0">
                <a:solidFill>
                  <a:srgbClr val="0F0F0F"/>
                </a:solidFill>
                <a:effectLst/>
                <a:ea typeface="Times New Roman" panose="02020603050405020304" pitchFamily="18" charset="0"/>
                <a:cs typeface="Times New Roman" panose="02020603050405020304" pitchFamily="18" charset="0"/>
              </a:rPr>
              <a:t>1,1</a:t>
            </a:r>
            <a:r>
              <a:rPr lang="en-US" sz="2200" dirty="0">
                <a:solidFill>
                  <a:srgbClr val="0F0F0F"/>
                </a:solidFill>
                <a:effectLst/>
                <a:ea typeface="Times New Roman" panose="02020603050405020304" pitchFamily="18" charset="0"/>
                <a:cs typeface="Times New Roman" panose="02020603050405020304" pitchFamily="18" charset="0"/>
              </a:rPr>
              <a:t> = p</a:t>
            </a:r>
            <a:r>
              <a:rPr lang="en-US" sz="2200" baseline="-25000" dirty="0">
                <a:solidFill>
                  <a:srgbClr val="0F0F0F"/>
                </a:solidFill>
                <a:effectLst/>
                <a:ea typeface="Times New Roman" panose="02020603050405020304" pitchFamily="18" charset="0"/>
                <a:cs typeface="Times New Roman" panose="02020603050405020304" pitchFamily="18" charset="0"/>
              </a:rPr>
              <a:t>1</a:t>
            </a:r>
            <a:r>
              <a:rPr lang="en-US" sz="2200" dirty="0">
                <a:solidFill>
                  <a:srgbClr val="0F0F0F"/>
                </a:solidFill>
                <a:effectLst/>
                <a:ea typeface="Times New Roman" panose="02020603050405020304" pitchFamily="18" charset="0"/>
                <a:cs typeface="Times New Roman" panose="02020603050405020304" pitchFamily="18" charset="0"/>
              </a:rPr>
              <a:t> = 2/ 7</a:t>
            </a:r>
            <a:endParaRPr lang="en-IN" sz="2200" dirty="0">
              <a:effectLst/>
              <a:ea typeface="Times New Roman" panose="02020603050405020304" pitchFamily="18" charset="0"/>
              <a:cs typeface="Times New Roman" panose="02020603050405020304" pitchFamily="18" charset="0"/>
            </a:endParaRPr>
          </a:p>
          <a:p>
            <a:pPr indent="0">
              <a:lnSpc>
                <a:spcPct val="115000"/>
              </a:lnSpc>
              <a:spcAft>
                <a:spcPts val="1000"/>
              </a:spcAft>
              <a:buNone/>
            </a:pPr>
            <a:r>
              <a:rPr lang="en-US" sz="2200" dirty="0">
                <a:solidFill>
                  <a:srgbClr val="0F0F0F"/>
                </a:solidFill>
                <a:effectLst/>
                <a:ea typeface="Times New Roman" panose="02020603050405020304" pitchFamily="18" charset="0"/>
                <a:cs typeface="Times New Roman" panose="02020603050405020304" pitchFamily="18" charset="0"/>
              </a:rPr>
              <a:t>C</a:t>
            </a:r>
            <a:r>
              <a:rPr lang="en-US" sz="2200" baseline="-25000" dirty="0">
                <a:solidFill>
                  <a:srgbClr val="0F0F0F"/>
                </a:solidFill>
                <a:effectLst/>
                <a:ea typeface="Times New Roman" panose="02020603050405020304" pitchFamily="18" charset="0"/>
                <a:cs typeface="Times New Roman" panose="02020603050405020304" pitchFamily="18" charset="0"/>
              </a:rPr>
              <a:t>2,2</a:t>
            </a:r>
            <a:r>
              <a:rPr lang="en-US" sz="2200" dirty="0">
                <a:solidFill>
                  <a:srgbClr val="0F0F0F"/>
                </a:solidFill>
                <a:effectLst/>
                <a:ea typeface="Times New Roman" panose="02020603050405020304" pitchFamily="18" charset="0"/>
                <a:cs typeface="Times New Roman" panose="02020603050405020304" pitchFamily="18" charset="0"/>
              </a:rPr>
              <a:t> = p</a:t>
            </a:r>
            <a:r>
              <a:rPr lang="en-US" sz="2200" baseline="-25000" dirty="0">
                <a:solidFill>
                  <a:srgbClr val="0F0F0F"/>
                </a:solidFill>
                <a:effectLst/>
                <a:ea typeface="Times New Roman" panose="02020603050405020304" pitchFamily="18" charset="0"/>
                <a:cs typeface="Times New Roman" panose="02020603050405020304" pitchFamily="18" charset="0"/>
              </a:rPr>
              <a:t>2</a:t>
            </a:r>
            <a:r>
              <a:rPr lang="en-US" sz="2200" dirty="0">
                <a:solidFill>
                  <a:srgbClr val="0F0F0F"/>
                </a:solidFill>
                <a:effectLst/>
                <a:ea typeface="Times New Roman" panose="02020603050405020304" pitchFamily="18" charset="0"/>
                <a:cs typeface="Times New Roman" panose="02020603050405020304" pitchFamily="18" charset="0"/>
              </a:rPr>
              <a:t> = 1/ 7</a:t>
            </a:r>
            <a:endParaRPr lang="en-IN" sz="2200" dirty="0">
              <a:effectLst/>
              <a:ea typeface="Times New Roman" panose="02020603050405020304" pitchFamily="18" charset="0"/>
              <a:cs typeface="Times New Roman" panose="02020603050405020304" pitchFamily="18" charset="0"/>
            </a:endParaRPr>
          </a:p>
          <a:p>
            <a:pPr indent="0">
              <a:lnSpc>
                <a:spcPct val="115000"/>
              </a:lnSpc>
              <a:spcAft>
                <a:spcPts val="1000"/>
              </a:spcAft>
              <a:buNone/>
            </a:pPr>
            <a:r>
              <a:rPr lang="en-US" sz="2200" dirty="0">
                <a:solidFill>
                  <a:srgbClr val="0F0F0F"/>
                </a:solidFill>
                <a:effectLst/>
                <a:ea typeface="Times New Roman" panose="02020603050405020304" pitchFamily="18" charset="0"/>
                <a:cs typeface="Times New Roman" panose="02020603050405020304" pitchFamily="18" charset="0"/>
              </a:rPr>
              <a:t>C</a:t>
            </a:r>
            <a:r>
              <a:rPr lang="en-US" sz="2200" baseline="-25000" dirty="0">
                <a:solidFill>
                  <a:srgbClr val="0F0F0F"/>
                </a:solidFill>
                <a:effectLst/>
                <a:ea typeface="Times New Roman" panose="02020603050405020304" pitchFamily="18" charset="0"/>
                <a:cs typeface="Times New Roman" panose="02020603050405020304" pitchFamily="18" charset="0"/>
              </a:rPr>
              <a:t>3,3</a:t>
            </a:r>
            <a:r>
              <a:rPr lang="en-US" sz="2200" dirty="0">
                <a:solidFill>
                  <a:srgbClr val="0F0F0F"/>
                </a:solidFill>
                <a:effectLst/>
                <a:ea typeface="Times New Roman" panose="02020603050405020304" pitchFamily="18" charset="0"/>
                <a:cs typeface="Times New Roman" panose="02020603050405020304" pitchFamily="18" charset="0"/>
              </a:rPr>
              <a:t> = p</a:t>
            </a:r>
            <a:r>
              <a:rPr lang="en-US" sz="2200" baseline="-25000" dirty="0">
                <a:solidFill>
                  <a:srgbClr val="0F0F0F"/>
                </a:solidFill>
                <a:effectLst/>
                <a:ea typeface="Times New Roman" panose="02020603050405020304" pitchFamily="18" charset="0"/>
                <a:cs typeface="Times New Roman" panose="02020603050405020304" pitchFamily="18" charset="0"/>
              </a:rPr>
              <a:t>3</a:t>
            </a:r>
            <a:r>
              <a:rPr lang="en-US" sz="2200" dirty="0">
                <a:solidFill>
                  <a:srgbClr val="0F0F0F"/>
                </a:solidFill>
                <a:effectLst/>
                <a:ea typeface="Times New Roman" panose="02020603050405020304" pitchFamily="18" charset="0"/>
                <a:cs typeface="Times New Roman" panose="02020603050405020304" pitchFamily="18" charset="0"/>
              </a:rPr>
              <a:t> = 3 /7</a:t>
            </a:r>
            <a:endParaRPr lang="en-IN" sz="2200" dirty="0">
              <a:effectLst/>
              <a:ea typeface="Times New Roman" panose="02020603050405020304" pitchFamily="18" charset="0"/>
              <a:cs typeface="Times New Roman" panose="02020603050405020304" pitchFamily="18" charset="0"/>
            </a:endParaRPr>
          </a:p>
          <a:p>
            <a:pPr indent="0">
              <a:lnSpc>
                <a:spcPct val="115000"/>
              </a:lnSpc>
              <a:spcAft>
                <a:spcPts val="1000"/>
              </a:spcAft>
              <a:buNone/>
            </a:pPr>
            <a:r>
              <a:rPr lang="en-US" sz="2200" dirty="0">
                <a:solidFill>
                  <a:srgbClr val="0F0F0F"/>
                </a:solidFill>
                <a:effectLst/>
                <a:ea typeface="Times New Roman" panose="02020603050405020304" pitchFamily="18" charset="0"/>
                <a:cs typeface="Times New Roman" panose="02020603050405020304" pitchFamily="18" charset="0"/>
              </a:rPr>
              <a:t>C</a:t>
            </a:r>
            <a:r>
              <a:rPr lang="en-US" sz="2200" baseline="-25000" dirty="0">
                <a:solidFill>
                  <a:srgbClr val="0F0F0F"/>
                </a:solidFill>
                <a:effectLst/>
                <a:ea typeface="Times New Roman" panose="02020603050405020304" pitchFamily="18" charset="0"/>
                <a:cs typeface="Times New Roman" panose="02020603050405020304" pitchFamily="18" charset="0"/>
              </a:rPr>
              <a:t>4,4</a:t>
            </a:r>
            <a:r>
              <a:rPr lang="en-US" sz="2200" dirty="0">
                <a:solidFill>
                  <a:srgbClr val="0F0F0F"/>
                </a:solidFill>
                <a:effectLst/>
                <a:ea typeface="Times New Roman" panose="02020603050405020304" pitchFamily="18" charset="0"/>
                <a:cs typeface="Times New Roman" panose="02020603050405020304" pitchFamily="18" charset="0"/>
              </a:rPr>
              <a:t> = p</a:t>
            </a:r>
            <a:r>
              <a:rPr lang="en-US" sz="2200" baseline="-25000" dirty="0">
                <a:solidFill>
                  <a:srgbClr val="0F0F0F"/>
                </a:solidFill>
                <a:effectLst/>
                <a:ea typeface="Times New Roman" panose="02020603050405020304" pitchFamily="18" charset="0"/>
                <a:cs typeface="Times New Roman" panose="02020603050405020304" pitchFamily="18" charset="0"/>
              </a:rPr>
              <a:t>4</a:t>
            </a:r>
            <a:r>
              <a:rPr lang="en-US" sz="2200" dirty="0">
                <a:solidFill>
                  <a:srgbClr val="0F0F0F"/>
                </a:solidFill>
                <a:effectLst/>
                <a:ea typeface="Times New Roman" panose="02020603050405020304" pitchFamily="18" charset="0"/>
                <a:cs typeface="Times New Roman" panose="02020603050405020304" pitchFamily="18" charset="0"/>
              </a:rPr>
              <a:t> = 1/ 7</a:t>
            </a:r>
            <a:endParaRPr lang="en-IN" sz="2200" dirty="0">
              <a:effectLst/>
              <a:ea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xmlns="" id="{9858AA8E-C7E3-4CB8-97E4-7B91C713BEDA}"/>
              </a:ext>
            </a:extLst>
          </p:cNvPr>
          <p:cNvPicPr>
            <a:picLocks noChangeAspect="1"/>
          </p:cNvPicPr>
          <p:nvPr/>
        </p:nvPicPr>
        <p:blipFill>
          <a:blip r:embed="rId2" cstate="print"/>
          <a:stretch>
            <a:fillRect/>
          </a:stretch>
        </p:blipFill>
        <p:spPr>
          <a:xfrm>
            <a:off x="3581049" y="2928825"/>
            <a:ext cx="5029902" cy="2638793"/>
          </a:xfrm>
          <a:prstGeom prst="rect">
            <a:avLst/>
          </a:prstGeom>
        </p:spPr>
      </p:pic>
    </p:spTree>
    <p:extLst>
      <p:ext uri="{BB962C8B-B14F-4D97-AF65-F5344CB8AC3E}">
        <p14:creationId xmlns:p14="http://schemas.microsoft.com/office/powerpoint/2010/main" xmlns="" val="18892818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26BFD0BE-6B4D-4178-BDBE-AA929890D19D}"/>
                  </a:ext>
                </a:extLst>
              </p:cNvPr>
              <p:cNvSpPr txBox="1"/>
              <p:nvPr/>
            </p:nvSpPr>
            <p:spPr>
              <a:xfrm>
                <a:off x="507999" y="470132"/>
                <a:ext cx="7257144" cy="6449394"/>
              </a:xfrm>
              <a:prstGeom prst="rect">
                <a:avLst/>
              </a:prstGeom>
              <a:noFill/>
            </p:spPr>
            <p:txBody>
              <a:bodyPr wrap="square">
                <a:spAutoFit/>
              </a:bodyPr>
              <a:lstStyle/>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C[1,2]=min</a:t>
                </a:r>
                <a14:m>
                  <m:oMath xmlns:m="http://schemas.openxmlformats.org/officeDocument/2006/math">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1,0</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2,2</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1,1</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3,2</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eqArr>
                      </m:e>
                    </m:d>
                  </m:oMath>
                </a14:m>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min{0 + 1/7 + 3/7,2/7 + 0 + 3/7}</a:t>
                </a:r>
                <a:r>
                  <a:rPr lang="en-IN" sz="1600" dirty="0">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min{4/7, 5/7} = 4/7</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minimum is when k = 1.</a:t>
                </a: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 [2, 3] can be computed as follows (here,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2; j = 3; ∴k = 2, 3):</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C[2,3]=min</a:t>
                </a:r>
                <a14:m>
                  <m:oMath xmlns:m="http://schemas.openxmlformats.org/officeDocument/2006/math">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2,1</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3,3</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2,2</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4,3</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eqArr>
                      </m:e>
                    </m:d>
                  </m:oMath>
                </a14:m>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min{0 +3/7+ (1/7+ 3/7), 1/7 + 0 + (2/7+ 3/7)}</a:t>
                </a:r>
                <a:r>
                  <a:rPr lang="en-IN" dirty="0">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min{7/7, 5/7} = 6/7</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minimum is when k = 3.</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 [3, 4] can be computed as follows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3; j = 4; ∴k = 3, 4):</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C[3,4]=min</a:t>
                </a:r>
                <a14:m>
                  <m:oMath xmlns:m="http://schemas.openxmlformats.org/officeDocument/2006/math">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3,2</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4,4</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3,3</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5,4</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eqArr>
                      </m:e>
                    </m:d>
                  </m:oMath>
                </a14:m>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min{0 + 1/7 + (3/7 + 1/7), 3/7 + 0 + (3/7+ 1/7)}</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min{5/7, 1} = 5/7</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minimum is when k = 3.</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xmlns="" xmlns:a14="http://schemas.microsoft.com/office/drawing/2010/main" id="{26BFD0BE-6B4D-4178-BDBE-AA929890D19D}"/>
                  </a:ext>
                </a:extLst>
              </p:cNvPr>
              <p:cNvSpPr txBox="1">
                <a:spLocks noRot="1" noChangeAspect="1" noMove="1" noResize="1" noEditPoints="1" noAdjustHandles="1" noChangeArrowheads="1" noChangeShapeType="1" noTextEdit="1"/>
              </p:cNvSpPr>
              <p:nvPr/>
            </p:nvSpPr>
            <p:spPr>
              <a:xfrm>
                <a:off x="507998" y="470132"/>
                <a:ext cx="7257145" cy="6449394"/>
              </a:xfrm>
              <a:prstGeom prst="rect">
                <a:avLst/>
              </a:prstGeom>
              <a:blipFill>
                <a:blip r:embed="rId2" cstate="print"/>
                <a:stretch>
                  <a:fillRect l="-672"/>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xmlns="" id="{45C8EF89-EA3F-445C-BF0F-9B3E50B39E6F}"/>
              </a:ext>
            </a:extLst>
          </p:cNvPr>
          <p:cNvPicPr>
            <a:picLocks noChangeAspect="1"/>
          </p:cNvPicPr>
          <p:nvPr/>
        </p:nvPicPr>
        <p:blipFill>
          <a:blip r:embed="rId3" cstate="print"/>
          <a:stretch>
            <a:fillRect/>
          </a:stretch>
        </p:blipFill>
        <p:spPr>
          <a:xfrm>
            <a:off x="6972855" y="174664"/>
            <a:ext cx="5068007" cy="2676899"/>
          </a:xfrm>
          <a:prstGeom prst="rect">
            <a:avLst/>
          </a:prstGeom>
        </p:spPr>
      </p:pic>
    </p:spTree>
    <p:extLst>
      <p:ext uri="{BB962C8B-B14F-4D97-AF65-F5344CB8AC3E}">
        <p14:creationId xmlns:p14="http://schemas.microsoft.com/office/powerpoint/2010/main" xmlns="" val="20612274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D3809CAB-69BA-4799-9D45-910975B28876}"/>
                  </a:ext>
                </a:extLst>
              </p:cNvPr>
              <p:cNvSpPr txBox="1"/>
              <p:nvPr/>
            </p:nvSpPr>
            <p:spPr>
              <a:xfrm>
                <a:off x="261256" y="163971"/>
                <a:ext cx="8926286" cy="6530057"/>
              </a:xfrm>
              <a:prstGeom prst="rect">
                <a:avLst/>
              </a:prstGeom>
              <a:noFill/>
            </p:spPr>
            <p:txBody>
              <a:bodyPr wrap="square">
                <a:spAutoFit/>
              </a:bodyPr>
              <a:lstStyle/>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C[1,3]=min</a:t>
                </a:r>
                <a14:m>
                  <m:oMath xmlns:m="http://schemas.openxmlformats.org/officeDocument/2006/math">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1,0</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2,3</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when</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i</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1,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j</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3,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k</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1</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[1, 1] +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[3, 3]</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when</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i</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1,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j</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3,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k</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2</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2] +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[4, 3]</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when</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i</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1,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j</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3,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k</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3</m:t>
                            </m:r>
                          </m:e>
                        </m:eqArr>
                      </m:e>
                    </m:d>
                  </m:oMath>
                </a14:m>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=min{0+5/7+(2/7+1/7+3/7),2/7+3/7+(2/7+1/7+3/7),4/7+0+(2/7+1/7+3/7)}</a:t>
                </a:r>
              </a:p>
              <a:p>
                <a:pPr>
                  <a:lnSpc>
                    <a:spcPct val="115000"/>
                  </a:lnSpc>
                  <a:spcAft>
                    <a:spcPts val="1000"/>
                  </a:spcAft>
                </a:pP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min{11/7,11/7, 10/7} = 10/7</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minimum is when k = 3.</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Similarly, C[2, 4] can be computed as follows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2; j = 4;</a:t>
                </a:r>
                <a:r>
                  <a:rPr lang="en-US" sz="1800"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 = 2, 3, 4):</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C[2,4]=min</a:t>
                </a:r>
                <a14:m>
                  <m:oMath xmlns:m="http://schemas.openxmlformats.org/officeDocument/2006/math">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2,3</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d>
                              <m:dPr>
                                <m:begChr m:val="["/>
                                <m:endChr m:val="]"/>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5,4</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[2,2]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[4, 4]</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e>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[2,3] + </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[5,4]</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 </m:t>
                            </m:r>
                          </m:e>
                        </m:eqArr>
                      </m:e>
                    </m:d>
                  </m:oMath>
                </a14:m>
                <a:endParaRPr lang="en-IN" sz="16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min{5/7 + 0 + (1/7 + 3/7+ 1/7), 1/7 + 1/7 + (1/7 + 3/7 + 1/7), 6/7 + 0 + (1/7 + 3/7+ 1/7)}</a:t>
                </a:r>
                <a:endParaRPr lang="en-IN" sz="16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min{10/7,7/7, 11/7} = 7/7</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minimum is when k = 2.</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p:sp>
            <p:nvSpPr>
              <p:cNvPr id="4" name="TextBox 3">
                <a:extLst>
                  <a:ext uri="{FF2B5EF4-FFF2-40B4-BE49-F238E27FC236}">
                    <a16:creationId xmlns:a16="http://schemas.microsoft.com/office/drawing/2014/main" xmlns="" xmlns:a14="http://schemas.microsoft.com/office/drawing/2010/main" id="{D3809CAB-69BA-4799-9D45-910975B28876}"/>
                  </a:ext>
                </a:extLst>
              </p:cNvPr>
              <p:cNvSpPr txBox="1">
                <a:spLocks noRot="1" noChangeAspect="1" noMove="1" noResize="1" noEditPoints="1" noAdjustHandles="1" noChangeArrowheads="1" noChangeShapeType="1" noTextEdit="1"/>
              </p:cNvSpPr>
              <p:nvPr/>
            </p:nvSpPr>
            <p:spPr>
              <a:xfrm>
                <a:off x="261255" y="163972"/>
                <a:ext cx="8926286" cy="6530057"/>
              </a:xfrm>
              <a:prstGeom prst="rect">
                <a:avLst/>
              </a:prstGeom>
              <a:blipFill>
                <a:blip r:embed="rId2" cstate="print"/>
                <a:stretch>
                  <a:fillRect l="-615" r="-546" b="-46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xmlns="" id="{928EADB9-4CA5-4F06-9D0C-7C6F7A009FE7}"/>
              </a:ext>
            </a:extLst>
          </p:cNvPr>
          <p:cNvPicPr>
            <a:picLocks noChangeAspect="1"/>
          </p:cNvPicPr>
          <p:nvPr/>
        </p:nvPicPr>
        <p:blipFill>
          <a:blip r:embed="rId3" cstate="print"/>
          <a:stretch>
            <a:fillRect/>
          </a:stretch>
        </p:blipFill>
        <p:spPr>
          <a:xfrm>
            <a:off x="6910368" y="2762029"/>
            <a:ext cx="5020377" cy="2619741"/>
          </a:xfrm>
          <a:prstGeom prst="rect">
            <a:avLst/>
          </a:prstGeom>
        </p:spPr>
      </p:pic>
    </p:spTree>
    <p:extLst>
      <p:ext uri="{BB962C8B-B14F-4D97-AF65-F5344CB8AC3E}">
        <p14:creationId xmlns:p14="http://schemas.microsoft.com/office/powerpoint/2010/main" xmlns="" val="17913739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F612DAF7-2D7E-4CE5-AC16-089561DDBDB6}"/>
                  </a:ext>
                </a:extLst>
              </p:cNvPr>
              <p:cNvSpPr txBox="1"/>
              <p:nvPr/>
            </p:nvSpPr>
            <p:spPr>
              <a:xfrm>
                <a:off x="0" y="688120"/>
                <a:ext cx="9144001" cy="3878241"/>
              </a:xfrm>
              <a:prstGeom prst="rect">
                <a:avLst/>
              </a:prstGeom>
              <a:noFill/>
            </p:spPr>
            <p:txBody>
              <a:bodyPr wrap="square">
                <a:spAutoFit/>
              </a:bodyPr>
              <a:lstStyle/>
              <a:p>
                <a:pPr>
                  <a:lnSpc>
                    <a:spcPct val="115000"/>
                  </a:lnSpc>
                  <a:spcAft>
                    <a:spcPts val="1000"/>
                  </a:spcAft>
                </a:pPr>
                <a:r>
                  <a:rPr lang="en-US" sz="2000" dirty="0">
                    <a:solidFill>
                      <a:srgbClr val="000000"/>
                    </a:solidFill>
                    <a:effectLst/>
                    <a:ea typeface="Times New Roman" panose="02020603050405020304" pitchFamily="18" charset="0"/>
                    <a:cs typeface="Times New Roman" panose="02020603050405020304" pitchFamily="18" charset="0"/>
                  </a:rPr>
                  <a:t>Finally, the last entry C[1, 4] should be computed with </a:t>
                </a:r>
                <a:r>
                  <a:rPr lang="en-US" sz="2000" dirty="0" err="1">
                    <a:solidFill>
                      <a:srgbClr val="000000"/>
                    </a:solidFill>
                    <a:effectLst/>
                    <a:ea typeface="Times New Roman" panose="02020603050405020304" pitchFamily="18" charset="0"/>
                    <a:cs typeface="Times New Roman" panose="02020603050405020304" pitchFamily="18" charset="0"/>
                  </a:rPr>
                  <a:t>i</a:t>
                </a:r>
                <a:r>
                  <a:rPr lang="en-US" sz="2000" dirty="0">
                    <a:solidFill>
                      <a:srgbClr val="000000"/>
                    </a:solidFill>
                    <a:effectLst/>
                    <a:ea typeface="Times New Roman" panose="02020603050405020304" pitchFamily="18" charset="0"/>
                    <a:cs typeface="Times New Roman" panose="02020603050405020304" pitchFamily="18" charset="0"/>
                  </a:rPr>
                  <a:t> = 1; j = 4; ∴k = 1, 2, 3, 4:</a:t>
                </a:r>
                <a:endParaRPr lang="en-IN" sz="2000" dirty="0">
                  <a:effectLst/>
                  <a:ea typeface="Times New Roman" panose="02020603050405020304" pitchFamily="18" charset="0"/>
                  <a:cs typeface="Times New Roman" panose="02020603050405020304" pitchFamily="18" charset="0"/>
                </a:endParaRPr>
              </a:p>
              <a:p>
                <a:pPr>
                  <a:lnSpc>
                    <a:spcPct val="115000"/>
                  </a:lnSpc>
                  <a:spcAft>
                    <a:spcPts val="1000"/>
                  </a:spcAft>
                </a:pPr>
                <a:r>
                  <a:rPr lang="en-US" sz="2000" dirty="0">
                    <a:solidFill>
                      <a:srgbClr val="000000"/>
                    </a:solidFill>
                    <a:effectLst/>
                    <a:ea typeface="Times New Roman" panose="02020603050405020304" pitchFamily="18" charset="0"/>
                    <a:cs typeface="Times New Roman" panose="02020603050405020304" pitchFamily="18" charset="0"/>
                  </a:rPr>
                  <a:t>C[2,4]=min</a:t>
                </a:r>
                <a14:m>
                  <m:oMath xmlns:m="http://schemas.openxmlformats.org/officeDocument/2006/math">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eqArr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1, 0</m:t>
                                </m:r>
                              </m:e>
                            </m:d>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2, 4</m:t>
                                </m:r>
                              </m:e>
                            </m:d>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m:t>
                            </m:r>
                          </m:e>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1] + </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 4]+</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2] + </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 4]+</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 </m:t>
                            </m:r>
                          </m:e>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[1,3] + </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C</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 4]+</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eqArr>
                      </m:e>
                    </m:d>
                  </m:oMath>
                </a14:m>
                <a:endParaRPr lang="en-IN" sz="2000" dirty="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effectLst/>
                    <a:ea typeface="Times New Roman" panose="02020603050405020304" pitchFamily="18" charset="0"/>
                    <a:cs typeface="Times New Roman" panose="02020603050405020304" pitchFamily="18" charset="0"/>
                  </a:rPr>
                  <a:t>    </a:t>
                </a:r>
                <a:r>
                  <a:rPr lang="en-US" sz="2000" dirty="0">
                    <a:solidFill>
                      <a:srgbClr val="000000"/>
                    </a:solidFill>
                    <a:effectLst/>
                    <a:ea typeface="Times New Roman" panose="02020603050405020304" pitchFamily="18" charset="0"/>
                    <a:cs typeface="Times New Roman" panose="02020603050405020304" pitchFamily="18" charset="0"/>
                  </a:rPr>
                  <a:t>= min{0 + 7/7+ (7/7), 2/7 + 5/7+ (7/7),4/7 + 1/7+ (7/7), 10/7 + 1/7 +(7/7)</a:t>
                </a:r>
                <a:endParaRPr lang="en-IN" sz="2000" dirty="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effectLst/>
                    <a:ea typeface="Times New Roman" panose="02020603050405020304" pitchFamily="18" charset="0"/>
                    <a:cs typeface="Times New Roman" panose="02020603050405020304" pitchFamily="18" charset="0"/>
                  </a:rPr>
                  <a:t>        </a:t>
                </a:r>
                <a:r>
                  <a:rPr lang="en-US" sz="2000" dirty="0">
                    <a:solidFill>
                      <a:srgbClr val="000000"/>
                    </a:solidFill>
                    <a:effectLst/>
                    <a:ea typeface="Times New Roman" panose="02020603050405020304" pitchFamily="18" charset="0"/>
                    <a:cs typeface="Times New Roman" panose="02020603050405020304" pitchFamily="18" charset="0"/>
                  </a:rPr>
                  <a:t>= min{14/7, 14/7, 12/7, 18/7} = 12/7</a:t>
                </a:r>
                <a:endParaRPr lang="en-IN" sz="2000" dirty="0">
                  <a:effectLst/>
                  <a:ea typeface="Times New Roman" panose="02020603050405020304" pitchFamily="18" charset="0"/>
                  <a:cs typeface="Times New Roman" panose="02020603050405020304" pitchFamily="18" charset="0"/>
                </a:endParaRPr>
              </a:p>
              <a:p>
                <a:r>
                  <a:rPr lang="en-US" sz="2000" dirty="0">
                    <a:solidFill>
                      <a:srgbClr val="000000"/>
                    </a:solidFill>
                    <a:effectLst/>
                    <a:ea typeface="Times New Roman" panose="02020603050405020304" pitchFamily="18" charset="0"/>
                  </a:rPr>
                  <a:t>   The minimum is when k = 3.</a:t>
                </a:r>
              </a:p>
              <a:p>
                <a:r>
                  <a:rPr lang="en-US" sz="2000" dirty="0"/>
                  <a:t>It can be observed that the minimum cost is 13/7</a:t>
                </a:r>
                <a:endParaRPr lang="en-IN" sz="2000" dirty="0"/>
              </a:p>
            </p:txBody>
          </p:sp>
        </mc:Choice>
        <mc:Fallback>
          <p:sp>
            <p:nvSpPr>
              <p:cNvPr id="4" name="TextBox 3">
                <a:extLst>
                  <a:ext uri="{FF2B5EF4-FFF2-40B4-BE49-F238E27FC236}">
                    <a16:creationId xmlns:a16="http://schemas.microsoft.com/office/drawing/2014/main" xmlns="" xmlns:a14="http://schemas.microsoft.com/office/drawing/2010/main" id="{F612DAF7-2D7E-4CE5-AC16-089561DDBDB6}"/>
                  </a:ext>
                </a:extLst>
              </p:cNvPr>
              <p:cNvSpPr txBox="1">
                <a:spLocks noRot="1" noChangeAspect="1" noMove="1" noResize="1" noEditPoints="1" noAdjustHandles="1" noChangeArrowheads="1" noChangeShapeType="1" noTextEdit="1"/>
              </p:cNvSpPr>
              <p:nvPr/>
            </p:nvSpPr>
            <p:spPr>
              <a:xfrm>
                <a:off x="1" y="688121"/>
                <a:ext cx="9144002" cy="3878241"/>
              </a:xfrm>
              <a:prstGeom prst="rect">
                <a:avLst/>
              </a:prstGeom>
              <a:blipFill>
                <a:blip r:embed="rId2" cstate="print"/>
                <a:stretch>
                  <a:fillRect l="-667" t="-629" b="-188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xmlns="" id="{2AB6D222-7250-4A68-A378-D63076DC22D7}"/>
              </a:ext>
            </a:extLst>
          </p:cNvPr>
          <p:cNvPicPr>
            <a:picLocks noChangeAspect="1"/>
          </p:cNvPicPr>
          <p:nvPr/>
        </p:nvPicPr>
        <p:blipFill>
          <a:blip r:embed="rId3" cstate="print"/>
          <a:stretch>
            <a:fillRect/>
          </a:stretch>
        </p:blipFill>
        <p:spPr>
          <a:xfrm>
            <a:off x="7823201" y="1130264"/>
            <a:ext cx="4368802" cy="2578068"/>
          </a:xfrm>
          <a:prstGeom prst="rect">
            <a:avLst/>
          </a:prstGeom>
        </p:spPr>
      </p:pic>
      <p:pic>
        <p:nvPicPr>
          <p:cNvPr id="6" name="Picture 5">
            <a:extLst>
              <a:ext uri="{FF2B5EF4-FFF2-40B4-BE49-F238E27FC236}">
                <a16:creationId xmlns:a16="http://schemas.microsoft.com/office/drawing/2014/main" xmlns="" id="{78C9231C-CC5E-4AE4-B2C3-752395C942E0}"/>
              </a:ext>
            </a:extLst>
          </p:cNvPr>
          <p:cNvPicPr>
            <a:picLocks noChangeAspect="1"/>
          </p:cNvPicPr>
          <p:nvPr/>
        </p:nvPicPr>
        <p:blipFill>
          <a:blip r:embed="rId4" cstate="print"/>
          <a:stretch>
            <a:fillRect/>
          </a:stretch>
        </p:blipFill>
        <p:spPr>
          <a:xfrm>
            <a:off x="7333572" y="3946590"/>
            <a:ext cx="4858428" cy="2744496"/>
          </a:xfrm>
          <a:prstGeom prst="rect">
            <a:avLst/>
          </a:prstGeom>
        </p:spPr>
      </p:pic>
      <p:pic>
        <p:nvPicPr>
          <p:cNvPr id="7" name="Picture 6">
            <a:extLst>
              <a:ext uri="{FF2B5EF4-FFF2-40B4-BE49-F238E27FC236}">
                <a16:creationId xmlns:a16="http://schemas.microsoft.com/office/drawing/2014/main" xmlns="" id="{8ACD5FEF-9FB6-4B04-97FE-06CC742E8E1C}"/>
              </a:ext>
            </a:extLst>
          </p:cNvPr>
          <p:cNvPicPr>
            <a:picLocks noChangeAspect="1"/>
          </p:cNvPicPr>
          <p:nvPr/>
        </p:nvPicPr>
        <p:blipFill>
          <a:blip r:embed="rId5" cstate="print"/>
          <a:stretch>
            <a:fillRect/>
          </a:stretch>
        </p:blipFill>
        <p:spPr>
          <a:xfrm>
            <a:off x="3807504" y="4804619"/>
            <a:ext cx="2448267" cy="1755840"/>
          </a:xfrm>
          <a:prstGeom prst="rect">
            <a:avLst/>
          </a:prstGeom>
        </p:spPr>
      </p:pic>
      <p:sp>
        <p:nvSpPr>
          <p:cNvPr id="10" name="TextBox 9">
            <a:extLst>
              <a:ext uri="{FF2B5EF4-FFF2-40B4-BE49-F238E27FC236}">
                <a16:creationId xmlns:a16="http://schemas.microsoft.com/office/drawing/2014/main" xmlns="" id="{D4C911C5-D246-4CBF-BE29-FE229D3A408A}"/>
              </a:ext>
            </a:extLst>
          </p:cNvPr>
          <p:cNvSpPr txBox="1"/>
          <p:nvPr/>
        </p:nvSpPr>
        <p:spPr>
          <a:xfrm>
            <a:off x="-954313" y="5066636"/>
            <a:ext cx="6132284" cy="857671"/>
          </a:xfrm>
          <a:prstGeom prst="rect">
            <a:avLst/>
          </a:prstGeom>
          <a:noFill/>
        </p:spPr>
        <p:txBody>
          <a:bodyPr wrap="square">
            <a:spAutoFit/>
          </a:bodyPr>
          <a:lstStyle/>
          <a:p>
            <a:pPr marL="1828800">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a:t>
            </a:r>
            <a:r>
              <a:rPr lang="en-US"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800" i="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+ 2 ×( </a:t>
            </a:r>
            <a:r>
              <a:rPr lang="en-US"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800" i="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800" i="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+ 3 × </a:t>
            </a:r>
            <a:r>
              <a:rPr lang="en-US"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800" i="1" baseline="-25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1828800">
              <a:lnSpc>
                <a:spcPct val="115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3/7 + 6/7 + 3/7 = 12/7</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151496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45A10A-8517-4DB7-895D-2A1AC94CCE39}"/>
              </a:ext>
            </a:extLst>
          </p:cNvPr>
          <p:cNvSpPr>
            <a:spLocks noGrp="1"/>
          </p:cNvSpPr>
          <p:nvPr>
            <p:ph type="title"/>
          </p:nvPr>
        </p:nvSpPr>
        <p:spPr/>
        <p:txBody>
          <a:bodyPr/>
          <a:lstStyle/>
          <a:p>
            <a:r>
              <a:rPr lang="en-IN" dirty="0"/>
              <a:t>FLOW-SHOP SCHEDULING PROBLEM</a:t>
            </a: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D58B14F2-6B85-46AC-BBA3-5DF81132D521}"/>
                  </a:ext>
                </a:extLst>
              </p:cNvPr>
              <p:cNvSpPr>
                <a:spLocks noGrp="1"/>
              </p:cNvSpPr>
              <p:nvPr>
                <p:ph idx="1"/>
              </p:nvPr>
            </p:nvSpPr>
            <p:spPr/>
            <p:txBody>
              <a:bodyPr>
                <a:normAutofit fontScale="85000" lnSpcReduction="10000"/>
              </a:bodyPr>
              <a:lstStyle/>
              <a:p>
                <a:r>
                  <a:rPr lang="en-IN" dirty="0"/>
                  <a:t>Single-machine Sequencing Problem</a:t>
                </a:r>
              </a:p>
              <a:p>
                <a:pPr>
                  <a:lnSpc>
                    <a:spcPct val="115000"/>
                  </a:lnSpc>
                  <a:spcBef>
                    <a:spcPts val="600"/>
                  </a:spcBef>
                  <a:spcAft>
                    <a:spcPts val="1000"/>
                  </a:spcAft>
                </a:pPr>
                <a:r>
                  <a:rPr lang="en-US" b="1" dirty="0">
                    <a:solidFill>
                      <a:srgbClr val="000000"/>
                    </a:solidFill>
                    <a:effectLst/>
                    <a:ea typeface="Times New Roman" panose="02020603050405020304" pitchFamily="18" charset="0"/>
                    <a:cs typeface="Times New Roman" panose="02020603050405020304" pitchFamily="18" charset="0"/>
                  </a:rPr>
                  <a:t>Finishing time or completion time</a:t>
                </a:r>
                <a:r>
                  <a:rPr lang="en-US" dirty="0">
                    <a:solidFill>
                      <a:srgbClr val="000000"/>
                    </a:solidFill>
                    <a:effectLst/>
                    <a:ea typeface="Times New Roman" panose="02020603050405020304" pitchFamily="18" charset="0"/>
                    <a:cs typeface="Times New Roman" panose="02020603050405020304" pitchFamily="18" charset="0"/>
                  </a:rPr>
                  <a:t> The finishing time fi(s) of job </a:t>
                </a:r>
                <a:r>
                  <a:rPr lang="en-US" dirty="0" err="1">
                    <a:solidFill>
                      <a:srgbClr val="000000"/>
                    </a:solidFill>
                    <a:effectLst/>
                    <a:ea typeface="Times New Roman" panose="02020603050405020304" pitchFamily="18" charset="0"/>
                    <a:cs typeface="Times New Roman" panose="02020603050405020304" pitchFamily="18" charset="0"/>
                  </a:rPr>
                  <a:t>i</a:t>
                </a:r>
                <a:r>
                  <a:rPr lang="en-US" dirty="0">
                    <a:solidFill>
                      <a:srgbClr val="000000"/>
                    </a:solidFill>
                    <a:effectLst/>
                    <a:ea typeface="Times New Roman" panose="02020603050405020304" pitchFamily="18" charset="0"/>
                    <a:cs typeface="Times New Roman" panose="02020603050405020304" pitchFamily="18" charset="0"/>
                  </a:rPr>
                  <a:t> is the time by which</a:t>
                </a:r>
                <a:r>
                  <a:rPr lang="en-US" dirty="0">
                    <a:effectLst/>
                    <a:ea typeface="Times New Roman" panose="02020603050405020304" pitchFamily="18" charset="0"/>
                    <a:cs typeface="Times New Roman" panose="02020603050405020304" pitchFamily="18" charset="0"/>
                  </a:rPr>
                  <a:t> </a:t>
                </a:r>
                <a:r>
                  <a:rPr lang="en-US" dirty="0">
                    <a:solidFill>
                      <a:srgbClr val="000000"/>
                    </a:solidFill>
                    <a:effectLst/>
                    <a:ea typeface="Times New Roman" panose="02020603050405020304" pitchFamily="18" charset="0"/>
                    <a:cs typeface="Times New Roman" panose="02020603050405020304" pitchFamily="18" charset="0"/>
                  </a:rPr>
                  <a:t>all the tasks are completed in schedule s. The finish time F(s) of s is defined as the maximum</a:t>
                </a:r>
                <a:r>
                  <a:rPr lang="en-US" dirty="0">
                    <a:effectLst/>
                    <a:ea typeface="Times New Roman" panose="02020603050405020304" pitchFamily="18" charset="0"/>
                    <a:cs typeface="Times New Roman" panose="02020603050405020304" pitchFamily="18" charset="0"/>
                  </a:rPr>
                  <a:t> </a:t>
                </a:r>
                <a:r>
                  <a:rPr lang="en-US" dirty="0">
                    <a:solidFill>
                      <a:srgbClr val="000000"/>
                    </a:solidFill>
                    <a:effectLst/>
                    <a:ea typeface="Times New Roman" panose="02020603050405020304" pitchFamily="18" charset="0"/>
                    <a:cs typeface="Times New Roman" panose="02020603050405020304" pitchFamily="18" charset="0"/>
                  </a:rPr>
                  <a:t>finish time of the jobs.</a:t>
                </a:r>
                <a:endParaRPr lang="en-IN" dirty="0">
                  <a:effectLst/>
                  <a:ea typeface="Times New Roman" panose="02020603050405020304" pitchFamily="18" charset="0"/>
                  <a:cs typeface="Times New Roman" panose="02020603050405020304" pitchFamily="18" charset="0"/>
                </a:endParaRPr>
              </a:p>
              <a:p>
                <a:pPr>
                  <a:lnSpc>
                    <a:spcPct val="115000"/>
                  </a:lnSpc>
                  <a:spcAft>
                    <a:spcPts val="1000"/>
                  </a:spcAft>
                </a:pPr>
                <a14:m>
                  <m:oMath xmlns:m="http://schemas.openxmlformats.org/officeDocument/2006/math">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𝐹</m:t>
                    </m:r>
                    <m:d>
                      <m:d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𝑠</m:t>
                        </m:r>
                      </m:e>
                    </m:d>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limLowPr>
                          <m:e>
                            <m:r>
                              <m:rPr>
                                <m:sty m:val="p"/>
                              </m:rPr>
                              <a:rPr lang="en-US">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max</m:t>
                            </m:r>
                          </m:e>
                          <m:lim>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𝑛</m:t>
                            </m:r>
                          </m:lim>
                        </m:limLow>
                      </m:fName>
                      <m:e>
                        <m:d>
                          <m:dPr>
                            <m:begChr m:val="{"/>
                            <m:endChr m:val="}"/>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e>
                        </m:d>
                      </m:e>
                    </m:func>
                  </m:oMath>
                </a14:m>
                <a:r>
                  <a:rPr lang="en-US" dirty="0">
                    <a:solidFill>
                      <a:srgbClr val="000000"/>
                    </a:solidFill>
                    <a:effectLst/>
                    <a:ea typeface="Times New Roman" panose="02020603050405020304" pitchFamily="18" charset="0"/>
                    <a:cs typeface="Times New Roman" panose="02020603050405020304" pitchFamily="18" charset="0"/>
                  </a:rPr>
                  <a:t> </a:t>
                </a:r>
                <a:endParaRPr lang="en-IN" dirty="0">
                  <a:effectLst/>
                  <a:ea typeface="Times New Roman" panose="02020603050405020304" pitchFamily="18" charset="0"/>
                  <a:cs typeface="Times New Roman" panose="02020603050405020304" pitchFamily="18" charset="0"/>
                </a:endParaRPr>
              </a:p>
              <a:p>
                <a:pPr>
                  <a:lnSpc>
                    <a:spcPct val="115000"/>
                  </a:lnSpc>
                  <a:spcAft>
                    <a:spcPts val="1000"/>
                  </a:spcAft>
                </a:pPr>
                <a:r>
                  <a:rPr lang="en-US" b="1" dirty="0">
                    <a:solidFill>
                      <a:srgbClr val="000000"/>
                    </a:solidFill>
                    <a:effectLst/>
                    <a:ea typeface="Times New Roman" panose="02020603050405020304" pitchFamily="18" charset="0"/>
                    <a:cs typeface="Times New Roman" panose="02020603050405020304" pitchFamily="18" charset="0"/>
                  </a:rPr>
                  <a:t>Mean flow time</a:t>
                </a:r>
                <a:r>
                  <a:rPr lang="en-US" dirty="0">
                    <a:solidFill>
                      <a:srgbClr val="000000"/>
                    </a:solidFill>
                    <a:effectLst/>
                    <a:ea typeface="Times New Roman" panose="02020603050405020304" pitchFamily="18" charset="0"/>
                    <a:cs typeface="Times New Roman" panose="02020603050405020304" pitchFamily="18" charset="0"/>
                  </a:rPr>
                  <a:t> The mean flow time is defined as follows:</a:t>
                </a:r>
                <a:endParaRPr lang="en-IN" dirty="0">
                  <a:effectLst/>
                  <a:ea typeface="Times New Roman" panose="02020603050405020304" pitchFamily="18" charset="0"/>
                  <a:cs typeface="Times New Roman" panose="02020603050405020304" pitchFamily="18" charset="0"/>
                </a:endParaRPr>
              </a:p>
              <a:p>
                <a:pPr>
                  <a:lnSpc>
                    <a:spcPct val="115000"/>
                  </a:lnSpc>
                  <a:spcAft>
                    <a:spcPts val="1000"/>
                  </a:spcAft>
                </a:pPr>
                <a14:m>
                  <m:oMathPara xmlns:m="http://schemas.openxmlformats.org/officeDocument/2006/math">
                    <m:oMathParaPr>
                      <m:jc m:val="centerGroup"/>
                    </m:oMathParaPr>
                    <m:oMath xmlns:m="http://schemas.openxmlformats.org/officeDocument/2006/math">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𝑚𝑓𝑡</m:t>
                      </m:r>
                      <m:d>
                        <m:d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𝑠</m:t>
                          </m:r>
                        </m:e>
                      </m:d>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𝑛</m:t>
                          </m:r>
                        </m:den>
                      </m:f>
                      <m:nary>
                        <m:naryPr>
                          <m:chr m:val="∑"/>
                          <m:limLoc m:val="undOvr"/>
                          <m:supHide m:val="on"/>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up/>
                        <m:e>
                          <m:sSub>
                            <m:sSubPr>
                              <m:ctrlPr>
                                <a:rPr lang="en-IN"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i="1">
                              <a:solidFill>
                                <a:srgbClr val="0F0F0F"/>
                              </a:solidFill>
                              <a:effectLst/>
                              <a:latin typeface="Cambria Math" panose="02040503050406030204" pitchFamily="18" charset="0"/>
                              <a:ea typeface="Times New Roman" panose="02020603050405020304" pitchFamily="18" charset="0"/>
                              <a:cs typeface="Times New Roman" panose="02020603050405020304" pitchFamily="18" charset="0"/>
                            </a:rPr>
                            <m:t>)</m:t>
                          </m:r>
                        </m:e>
                      </m:nary>
                    </m:oMath>
                  </m:oMathPara>
                </a14:m>
                <a:endParaRPr lang="en-IN" dirty="0">
                  <a:effectLst/>
                  <a:ea typeface="Times New Roman" panose="02020603050405020304" pitchFamily="18" charset="0"/>
                  <a:cs typeface="Times New Roman" panose="02020603050405020304" pitchFamily="18" charset="0"/>
                </a:endParaRPr>
              </a:p>
              <a:p>
                <a:endParaRPr lang="en-IN" dirty="0"/>
              </a:p>
              <a:p>
                <a:pPr marL="0" indent="0">
                  <a:buNone/>
                </a:pP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D58B14F2-6B85-46AC-BBA3-5DF81132D521}"/>
                  </a:ext>
                </a:extLst>
              </p:cNvPr>
              <p:cNvSpPr>
                <a:spLocks noGrp="1" noRot="1" noChangeAspect="1" noMove="1" noResize="1" noEditPoints="1" noAdjustHandles="1" noChangeArrowheads="1" noChangeShapeType="1" noTextEdit="1"/>
              </p:cNvSpPr>
              <p:nvPr>
                <p:ph idx="1"/>
              </p:nvPr>
            </p:nvSpPr>
            <p:spPr>
              <a:blipFill>
                <a:blip r:embed="rId2" cstate="print"/>
                <a:stretch>
                  <a:fillRect l="-963" t="-1541"/>
                </a:stretch>
              </a:blipFill>
            </p:spPr>
            <p:txBody>
              <a:bodyPr/>
              <a:lstStyle/>
              <a:p>
                <a:r>
                  <a:rPr lang="en-US">
                    <a:noFill/>
                  </a:rPr>
                  <a:t> </a:t>
                </a:r>
              </a:p>
            </p:txBody>
          </p:sp>
        </mc:Fallback>
      </mc:AlternateContent>
    </p:spTree>
    <p:extLst>
      <p:ext uri="{BB962C8B-B14F-4D97-AF65-F5344CB8AC3E}">
        <p14:creationId xmlns:p14="http://schemas.microsoft.com/office/powerpoint/2010/main" xmlns="" val="27451927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898FF0-AAAA-40AB-AEB3-9C3CB866D861}"/>
              </a:ext>
            </a:extLst>
          </p:cNvPr>
          <p:cNvSpPr>
            <a:spLocks noGrp="1"/>
          </p:cNvSpPr>
          <p:nvPr>
            <p:ph type="title"/>
          </p:nvPr>
        </p:nvSpPr>
        <p:spPr/>
        <p:txBody>
          <a:bodyPr/>
          <a:lstStyle/>
          <a:p>
            <a:r>
              <a:rPr lang="en-IN" dirty="0"/>
              <a:t>FLOW-SHOP SCHEDULING PROBLEM</a:t>
            </a:r>
          </a:p>
        </p:txBody>
      </p:sp>
      <p:sp>
        <p:nvSpPr>
          <p:cNvPr id="3" name="Content Placeholder 2">
            <a:extLst>
              <a:ext uri="{FF2B5EF4-FFF2-40B4-BE49-F238E27FC236}">
                <a16:creationId xmlns:a16="http://schemas.microsoft.com/office/drawing/2014/main" xmlns="" id="{37D4362C-6FAC-4954-BD06-F94D9D5AFC7D}"/>
              </a:ext>
            </a:extLst>
          </p:cNvPr>
          <p:cNvSpPr>
            <a:spLocks noGrp="1"/>
          </p:cNvSpPr>
          <p:nvPr>
            <p:ph idx="1"/>
          </p:nvPr>
        </p:nvSpPr>
        <p:spPr/>
        <p:txBody>
          <a:bodyPr>
            <a:normAutofit/>
          </a:bodyPr>
          <a:lstStyle/>
          <a:p>
            <a:r>
              <a:rPr lang="en-IN" dirty="0"/>
              <a:t>Two-machine Sequencing Problem</a:t>
            </a:r>
            <a:endParaRPr lang="en-IN" b="1" dirty="0"/>
          </a:p>
          <a:p>
            <a:r>
              <a:rPr lang="en-US" b="1" dirty="0">
                <a:solidFill>
                  <a:srgbClr val="000000"/>
                </a:solidFill>
                <a:effectLst/>
                <a:ea typeface="Times New Roman" panose="02020603050405020304" pitchFamily="18" charset="0"/>
                <a:cs typeface="Times New Roman" panose="02020603050405020304" pitchFamily="18" charset="0"/>
              </a:rPr>
              <a:t>Step 1: </a:t>
            </a:r>
            <a:r>
              <a:rPr lang="en-US" dirty="0">
                <a:solidFill>
                  <a:srgbClr val="000000"/>
                </a:solidFill>
                <a:effectLst/>
                <a:ea typeface="Times New Roman" panose="02020603050405020304" pitchFamily="18" charset="0"/>
                <a:cs typeface="Times New Roman" panose="02020603050405020304" pitchFamily="18" charset="0"/>
              </a:rPr>
              <a:t>Find the smallest value of (A</a:t>
            </a:r>
            <a:r>
              <a:rPr lang="en-US" baseline="-25000" dirty="0">
                <a:solidFill>
                  <a:srgbClr val="000000"/>
                </a:solidFill>
                <a:effectLst/>
                <a:ea typeface="Times New Roman" panose="02020603050405020304" pitchFamily="18" charset="0"/>
                <a:cs typeface="Times New Roman" panose="02020603050405020304" pitchFamily="18" charset="0"/>
              </a:rPr>
              <a:t>1</a:t>
            </a:r>
            <a:r>
              <a:rPr lang="en-US" dirty="0">
                <a:solidFill>
                  <a:srgbClr val="000000"/>
                </a:solidFill>
                <a:effectLst/>
                <a:ea typeface="Times New Roman" panose="02020603050405020304" pitchFamily="18" charset="0"/>
                <a:cs typeface="Times New Roman" panose="02020603050405020304" pitchFamily="18" charset="0"/>
              </a:rPr>
              <a:t>, B</a:t>
            </a:r>
            <a:r>
              <a:rPr lang="en-US" baseline="-25000" dirty="0">
                <a:solidFill>
                  <a:srgbClr val="000000"/>
                </a:solidFill>
                <a:effectLst/>
                <a:ea typeface="Times New Roman" panose="02020603050405020304" pitchFamily="18" charset="0"/>
                <a:cs typeface="Times New Roman" panose="02020603050405020304" pitchFamily="18" charset="0"/>
              </a:rPr>
              <a:t>1</a:t>
            </a:r>
            <a:r>
              <a:rPr lang="en-US" dirty="0">
                <a:solidFill>
                  <a:srgbClr val="000000"/>
                </a:solidFill>
                <a:effectLst/>
                <a:ea typeface="Times New Roman" panose="02020603050405020304" pitchFamily="18" charset="0"/>
                <a:cs typeface="Times New Roman" panose="02020603050405020304" pitchFamily="18" charset="0"/>
              </a:rPr>
              <a:t>).</a:t>
            </a:r>
          </a:p>
          <a:p>
            <a:r>
              <a:rPr lang="en-US" b="1" dirty="0">
                <a:solidFill>
                  <a:srgbClr val="000000"/>
                </a:solidFill>
                <a:effectLst/>
                <a:ea typeface="Times New Roman" panose="02020603050405020304" pitchFamily="18" charset="0"/>
                <a:cs typeface="Times New Roman" panose="02020603050405020304" pitchFamily="18" charset="0"/>
              </a:rPr>
              <a:t>Step 2: </a:t>
            </a:r>
            <a:r>
              <a:rPr lang="en-US" dirty="0">
                <a:solidFill>
                  <a:srgbClr val="000000"/>
                </a:solidFill>
                <a:effectLst/>
                <a:ea typeface="Times New Roman" panose="02020603050405020304" pitchFamily="18" charset="0"/>
                <a:cs typeface="Times New Roman" panose="02020603050405020304" pitchFamily="18" charset="0"/>
              </a:rPr>
              <a:t>If the smallest job is A</a:t>
            </a:r>
            <a:r>
              <a:rPr lang="en-US" baseline="-25000" dirty="0">
                <a:solidFill>
                  <a:srgbClr val="000000"/>
                </a:solidFill>
                <a:effectLst/>
                <a:ea typeface="Times New Roman" panose="02020603050405020304" pitchFamily="18" charset="0"/>
                <a:cs typeface="Times New Roman" panose="02020603050405020304" pitchFamily="18" charset="0"/>
              </a:rPr>
              <a:t>i</a:t>
            </a:r>
            <a:r>
              <a:rPr lang="en-US" dirty="0">
                <a:solidFill>
                  <a:srgbClr val="000000"/>
                </a:solidFill>
                <a:effectLst/>
                <a:ea typeface="Times New Roman" panose="02020603050405020304" pitchFamily="18" charset="0"/>
                <a:cs typeface="Times New Roman" panose="02020603050405020304" pitchFamily="18" charset="0"/>
              </a:rPr>
              <a:t>, then process the job on machine A first.</a:t>
            </a:r>
            <a:endParaRPr lang="en-IN"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dirty="0">
                <a:solidFill>
                  <a:srgbClr val="000000"/>
                </a:solidFill>
                <a:effectLst/>
                <a:ea typeface="Times New Roman" panose="02020603050405020304" pitchFamily="18" charset="0"/>
                <a:cs typeface="Times New Roman" panose="02020603050405020304" pitchFamily="18" charset="0"/>
              </a:rPr>
              <a:t>	If the smallest job is B</a:t>
            </a:r>
            <a:r>
              <a:rPr lang="en-US" baseline="-25000" dirty="0">
                <a:solidFill>
                  <a:srgbClr val="000000"/>
                </a:solidFill>
                <a:effectLst/>
                <a:ea typeface="Times New Roman" panose="02020603050405020304" pitchFamily="18" charset="0"/>
                <a:cs typeface="Times New Roman" panose="02020603050405020304" pitchFamily="18" charset="0"/>
              </a:rPr>
              <a:t>i</a:t>
            </a:r>
            <a:r>
              <a:rPr lang="en-US" dirty="0">
                <a:solidFill>
                  <a:srgbClr val="000000"/>
                </a:solidFill>
                <a:effectLst/>
                <a:ea typeface="Times New Roman" panose="02020603050405020304" pitchFamily="18" charset="0"/>
                <a:cs typeface="Times New Roman" panose="02020603050405020304" pitchFamily="18" charset="0"/>
              </a:rPr>
              <a:t>, then process the job on machine B at the end.</a:t>
            </a:r>
            <a:endParaRPr lang="en-IN" dirty="0">
              <a:effectLst/>
              <a:ea typeface="Times New Roman" panose="02020603050405020304" pitchFamily="18" charset="0"/>
              <a:cs typeface="Times New Roman" panose="02020603050405020304" pitchFamily="18" charset="0"/>
            </a:endParaRPr>
          </a:p>
          <a:p>
            <a:pPr marL="0" indent="0">
              <a:lnSpc>
                <a:spcPct val="115000"/>
              </a:lnSpc>
              <a:spcAft>
                <a:spcPts val="1000"/>
              </a:spcAft>
              <a:buNone/>
            </a:pPr>
            <a:r>
              <a:rPr lang="en-US" dirty="0">
                <a:solidFill>
                  <a:srgbClr val="000000"/>
                </a:solidFill>
                <a:ea typeface="Times New Roman" panose="02020603050405020304" pitchFamily="18" charset="0"/>
                <a:cs typeface="Times New Roman" panose="02020603050405020304" pitchFamily="18" charset="0"/>
              </a:rPr>
              <a:t>	</a:t>
            </a:r>
            <a:r>
              <a:rPr lang="en-US" dirty="0">
                <a:solidFill>
                  <a:srgbClr val="000000"/>
                </a:solidFill>
                <a:effectLst/>
                <a:ea typeface="Times New Roman" panose="02020603050405020304" pitchFamily="18" charset="0"/>
                <a:cs typeface="Times New Roman" panose="02020603050405020304" pitchFamily="18" charset="0"/>
              </a:rPr>
              <a:t>In case of a tie, that is, A</a:t>
            </a:r>
            <a:r>
              <a:rPr lang="en-US" baseline="-25000" dirty="0">
                <a:solidFill>
                  <a:srgbClr val="000000"/>
                </a:solidFill>
                <a:effectLst/>
                <a:ea typeface="Times New Roman" panose="02020603050405020304" pitchFamily="18" charset="0"/>
                <a:cs typeface="Times New Roman" panose="02020603050405020304" pitchFamily="18" charset="0"/>
              </a:rPr>
              <a:t>i</a:t>
            </a:r>
            <a:r>
              <a:rPr lang="en-US" dirty="0">
                <a:solidFill>
                  <a:srgbClr val="000000"/>
                </a:solidFill>
                <a:effectLst/>
                <a:ea typeface="Times New Roman" panose="02020603050405020304" pitchFamily="18" charset="0"/>
                <a:cs typeface="Times New Roman" panose="02020603050405020304" pitchFamily="18" charset="0"/>
              </a:rPr>
              <a:t> = B</a:t>
            </a:r>
            <a:r>
              <a:rPr lang="en-US" baseline="-25000" dirty="0">
                <a:solidFill>
                  <a:srgbClr val="000000"/>
                </a:solidFill>
                <a:effectLst/>
                <a:ea typeface="Times New Roman" panose="02020603050405020304" pitchFamily="18" charset="0"/>
                <a:cs typeface="Times New Roman" panose="02020603050405020304" pitchFamily="18" charset="0"/>
              </a:rPr>
              <a:t>i</a:t>
            </a:r>
            <a:r>
              <a:rPr lang="en-US" dirty="0">
                <a:solidFill>
                  <a:srgbClr val="000000"/>
                </a:solidFill>
                <a:effectLst/>
                <a:ea typeface="Times New Roman" panose="02020603050405020304" pitchFamily="18" charset="0"/>
                <a:cs typeface="Times New Roman" panose="02020603050405020304" pitchFamily="18" charset="0"/>
              </a:rPr>
              <a:t>, choose any of the jobs.</a:t>
            </a:r>
            <a:endParaRPr lang="en-IN" dirty="0">
              <a:ea typeface="Times New Roman" panose="02020603050405020304" pitchFamily="18" charset="0"/>
              <a:cs typeface="Times New Roman" panose="02020603050405020304" pitchFamily="18" charset="0"/>
            </a:endParaRPr>
          </a:p>
          <a:p>
            <a:pPr>
              <a:lnSpc>
                <a:spcPct val="115000"/>
              </a:lnSpc>
              <a:spcAft>
                <a:spcPts val="1000"/>
              </a:spcAft>
            </a:pPr>
            <a:r>
              <a:rPr lang="en-US" b="1" dirty="0">
                <a:solidFill>
                  <a:srgbClr val="000000"/>
                </a:solidFill>
                <a:effectLst/>
                <a:ea typeface="Times New Roman" panose="02020603050405020304" pitchFamily="18" charset="0"/>
                <a:cs typeface="Times New Roman" panose="02020603050405020304" pitchFamily="18" charset="0"/>
              </a:rPr>
              <a:t>Step 3: </a:t>
            </a:r>
            <a:r>
              <a:rPr lang="en-US" dirty="0">
                <a:solidFill>
                  <a:srgbClr val="000000"/>
                </a:solidFill>
                <a:effectLst/>
                <a:ea typeface="Times New Roman" panose="02020603050405020304" pitchFamily="18" charset="0"/>
                <a:cs typeface="Times New Roman" panose="02020603050405020304" pitchFamily="18" charset="0"/>
              </a:rPr>
              <a:t>Repeat Step 2 till all jobs are scheduled.</a:t>
            </a:r>
            <a:endParaRPr lang="en-IN" dirty="0">
              <a:ea typeface="Times New Roman" panose="02020603050405020304" pitchFamily="18" charset="0"/>
              <a:cs typeface="Times New Roman" panose="02020603050405020304" pitchFamily="18" charset="0"/>
            </a:endParaRPr>
          </a:p>
          <a:p>
            <a:pPr>
              <a:lnSpc>
                <a:spcPct val="115000"/>
              </a:lnSpc>
              <a:spcAft>
                <a:spcPts val="1000"/>
              </a:spcAft>
            </a:pPr>
            <a:r>
              <a:rPr lang="en-US" b="1" dirty="0">
                <a:solidFill>
                  <a:srgbClr val="000000"/>
                </a:solidFill>
                <a:effectLst/>
                <a:ea typeface="Times New Roman" panose="02020603050405020304" pitchFamily="18" charset="0"/>
                <a:cs typeface="Times New Roman" panose="02020603050405020304" pitchFamily="18" charset="0"/>
              </a:rPr>
              <a:t>Step 4: </a:t>
            </a:r>
            <a:r>
              <a:rPr lang="en-US" dirty="0">
                <a:solidFill>
                  <a:srgbClr val="000000"/>
                </a:solidFill>
                <a:effectLst/>
                <a:ea typeface="Times New Roman" panose="02020603050405020304" pitchFamily="18" charset="0"/>
                <a:cs typeface="Times New Roman" panose="02020603050405020304" pitchFamily="18" charset="0"/>
              </a:rPr>
              <a:t>Calculate the minimum elapsed time and exit.</a:t>
            </a:r>
            <a:endParaRPr lang="en-IN" dirty="0">
              <a:effectLst/>
              <a:ea typeface="Times New Roman" panose="02020603050405020304" pitchFamily="18" charset="0"/>
              <a:cs typeface="Times New Roman" panose="02020603050405020304" pitchFamily="18" charset="0"/>
            </a:endParaRPr>
          </a:p>
          <a:p>
            <a:r>
              <a:rPr lang="en-US" dirty="0"/>
              <a:t>The complexity analysis of this algorithm is O(</a:t>
            </a:r>
            <a:r>
              <a:rPr lang="en-US" dirty="0" err="1"/>
              <a:t>nlogn</a:t>
            </a:r>
            <a:r>
              <a:rPr lang="en-US" dirty="0"/>
              <a:t>)</a:t>
            </a:r>
            <a:endParaRPr lang="en-IN" dirty="0"/>
          </a:p>
        </p:txBody>
      </p:sp>
    </p:spTree>
    <p:extLst>
      <p:ext uri="{BB962C8B-B14F-4D97-AF65-F5344CB8AC3E}">
        <p14:creationId xmlns:p14="http://schemas.microsoft.com/office/powerpoint/2010/main" xmlns="" val="39096872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D914991-F355-4C08-9E3C-40FACC17783B}"/>
              </a:ext>
            </a:extLst>
          </p:cNvPr>
          <p:cNvSpPr>
            <a:spLocks noGrp="1"/>
          </p:cNvSpPr>
          <p:nvPr>
            <p:ph idx="1"/>
          </p:nvPr>
        </p:nvSpPr>
        <p:spPr>
          <a:xfrm>
            <a:off x="838202" y="377371"/>
            <a:ext cx="10515600" cy="5799592"/>
          </a:xfrm>
        </p:spPr>
        <p:txBody>
          <a:bodyPr/>
          <a:lstStyle/>
          <a:p>
            <a:r>
              <a:rPr lang="en-US" dirty="0">
                <a:solidFill>
                  <a:srgbClr val="FF0000"/>
                </a:solidFill>
              </a:rPr>
              <a:t>Let there be five jobs. All these jobs have to go through machines A and B in the order A followed by B. The processing times of the jobs are given in Table 13.41.Find the optimal order for ordering these tasks using Johnson–Bellman algorithm.</a:t>
            </a:r>
          </a:p>
          <a:p>
            <a:endParaRPr lang="en-IN" dirty="0"/>
          </a:p>
        </p:txBody>
      </p:sp>
      <p:pic>
        <p:nvPicPr>
          <p:cNvPr id="4" name="Picture 3">
            <a:extLst>
              <a:ext uri="{FF2B5EF4-FFF2-40B4-BE49-F238E27FC236}">
                <a16:creationId xmlns:a16="http://schemas.microsoft.com/office/drawing/2014/main" xmlns="" id="{ED26C52E-4619-4B18-823B-78CA83976657}"/>
              </a:ext>
            </a:extLst>
          </p:cNvPr>
          <p:cNvPicPr>
            <a:picLocks noChangeAspect="1"/>
          </p:cNvPicPr>
          <p:nvPr/>
        </p:nvPicPr>
        <p:blipFill>
          <a:blip r:embed="rId2" cstate="print"/>
          <a:stretch>
            <a:fillRect/>
          </a:stretch>
        </p:blipFill>
        <p:spPr>
          <a:xfrm>
            <a:off x="3919502" y="2059033"/>
            <a:ext cx="3772427" cy="1276528"/>
          </a:xfrm>
          <a:prstGeom prst="rect">
            <a:avLst/>
          </a:prstGeom>
        </p:spPr>
      </p:pic>
      <p:pic>
        <p:nvPicPr>
          <p:cNvPr id="5" name="Picture 4">
            <a:extLst>
              <a:ext uri="{FF2B5EF4-FFF2-40B4-BE49-F238E27FC236}">
                <a16:creationId xmlns:a16="http://schemas.microsoft.com/office/drawing/2014/main" xmlns="" id="{F5227909-6E6A-49E0-9ADC-4D9EBE9DCCDE}"/>
              </a:ext>
            </a:extLst>
          </p:cNvPr>
          <p:cNvPicPr>
            <a:picLocks noChangeAspect="1"/>
          </p:cNvPicPr>
          <p:nvPr/>
        </p:nvPicPr>
        <p:blipFill>
          <a:blip r:embed="rId3" cstate="print"/>
          <a:stretch>
            <a:fillRect/>
          </a:stretch>
        </p:blipFill>
        <p:spPr>
          <a:xfrm>
            <a:off x="2566497" y="3655971"/>
            <a:ext cx="7059010" cy="1562318"/>
          </a:xfrm>
          <a:prstGeom prst="rect">
            <a:avLst/>
          </a:prstGeom>
        </p:spPr>
      </p:pic>
      <p:pic>
        <p:nvPicPr>
          <p:cNvPr id="6" name="Picture 5">
            <a:extLst>
              <a:ext uri="{FF2B5EF4-FFF2-40B4-BE49-F238E27FC236}">
                <a16:creationId xmlns:a16="http://schemas.microsoft.com/office/drawing/2014/main" xmlns="" id="{A0994FF4-6FA8-4C05-89AB-5E614CF8DFBF}"/>
              </a:ext>
            </a:extLst>
          </p:cNvPr>
          <p:cNvPicPr>
            <a:picLocks noChangeAspect="1"/>
          </p:cNvPicPr>
          <p:nvPr/>
        </p:nvPicPr>
        <p:blipFill>
          <a:blip r:embed="rId4" cstate="print"/>
          <a:stretch>
            <a:fillRect/>
          </a:stretch>
        </p:blipFill>
        <p:spPr>
          <a:xfrm>
            <a:off x="2795127" y="5218289"/>
            <a:ext cx="6601746" cy="1390844"/>
          </a:xfrm>
          <a:prstGeom prst="rect">
            <a:avLst/>
          </a:prstGeom>
        </p:spPr>
      </p:pic>
    </p:spTree>
    <p:extLst>
      <p:ext uri="{BB962C8B-B14F-4D97-AF65-F5344CB8AC3E}">
        <p14:creationId xmlns:p14="http://schemas.microsoft.com/office/powerpoint/2010/main" xmlns="" val="36583174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438A2FB-A785-4B3C-B12D-DC642EFAB18A}"/>
              </a:ext>
            </a:extLst>
          </p:cNvPr>
          <p:cNvPicPr>
            <a:picLocks noChangeAspect="1"/>
          </p:cNvPicPr>
          <p:nvPr/>
        </p:nvPicPr>
        <p:blipFill>
          <a:blip r:embed="rId2" cstate="print"/>
          <a:stretch>
            <a:fillRect/>
          </a:stretch>
        </p:blipFill>
        <p:spPr>
          <a:xfrm>
            <a:off x="2323167" y="1914558"/>
            <a:ext cx="6878011" cy="1038370"/>
          </a:xfrm>
          <a:prstGeom prst="rect">
            <a:avLst/>
          </a:prstGeom>
        </p:spPr>
      </p:pic>
      <p:pic>
        <p:nvPicPr>
          <p:cNvPr id="5" name="Picture 4">
            <a:extLst>
              <a:ext uri="{FF2B5EF4-FFF2-40B4-BE49-F238E27FC236}">
                <a16:creationId xmlns:a16="http://schemas.microsoft.com/office/drawing/2014/main" xmlns="" id="{254220D5-B1C8-42DA-800E-9FE9F73FB471}"/>
              </a:ext>
            </a:extLst>
          </p:cNvPr>
          <p:cNvPicPr>
            <a:picLocks noChangeAspect="1"/>
          </p:cNvPicPr>
          <p:nvPr/>
        </p:nvPicPr>
        <p:blipFill>
          <a:blip r:embed="rId3" cstate="print"/>
          <a:stretch>
            <a:fillRect/>
          </a:stretch>
        </p:blipFill>
        <p:spPr>
          <a:xfrm>
            <a:off x="1454878" y="199564"/>
            <a:ext cx="9050012" cy="1590897"/>
          </a:xfrm>
          <a:prstGeom prst="rect">
            <a:avLst/>
          </a:prstGeom>
        </p:spPr>
      </p:pic>
      <p:pic>
        <p:nvPicPr>
          <p:cNvPr id="7" name="Picture 6">
            <a:extLst>
              <a:ext uri="{FF2B5EF4-FFF2-40B4-BE49-F238E27FC236}">
                <a16:creationId xmlns:a16="http://schemas.microsoft.com/office/drawing/2014/main" xmlns="" id="{16D99E1F-E620-463D-A6B3-F6B29F0F97FF}"/>
              </a:ext>
            </a:extLst>
          </p:cNvPr>
          <p:cNvPicPr>
            <a:picLocks noChangeAspect="1"/>
          </p:cNvPicPr>
          <p:nvPr/>
        </p:nvPicPr>
        <p:blipFill>
          <a:blip r:embed="rId4" cstate="print"/>
          <a:stretch>
            <a:fillRect/>
          </a:stretch>
        </p:blipFill>
        <p:spPr>
          <a:xfrm>
            <a:off x="3085950" y="2952928"/>
            <a:ext cx="5352441" cy="3705509"/>
          </a:xfrm>
          <a:prstGeom prst="rect">
            <a:avLst/>
          </a:prstGeom>
        </p:spPr>
      </p:pic>
    </p:spTree>
    <p:extLst>
      <p:ext uri="{BB962C8B-B14F-4D97-AF65-F5344CB8AC3E}">
        <p14:creationId xmlns:p14="http://schemas.microsoft.com/office/powerpoint/2010/main" xmlns="" val="3891816965"/>
      </p:ext>
    </p:extLst>
  </p:cSld>
  <p:clrMapOvr>
    <a:masterClrMapping/>
  </p:clrMapOvr>
</p:sld>
</file>

<file path=ppt/theme/theme1.xml><?xml version="1.0" encoding="utf-8"?>
<a:theme xmlns:a="http://schemas.openxmlformats.org/drawingml/2006/main" name="OUP Theme">
  <a:themeElements>
    <a:clrScheme name="Oxford uni press">
      <a:dk1>
        <a:srgbClr val="000000"/>
      </a:dk1>
      <a:lt1>
        <a:srgbClr val="FFFFFF"/>
      </a:lt1>
      <a:dk2>
        <a:srgbClr val="011E41"/>
      </a:dk2>
      <a:lt2>
        <a:srgbClr val="CAD7D8"/>
      </a:lt2>
      <a:accent1>
        <a:srgbClr val="0043E0"/>
      </a:accent1>
      <a:accent2>
        <a:srgbClr val="FD5820"/>
      </a:accent2>
      <a:accent3>
        <a:srgbClr val="C8DC00"/>
      </a:accent3>
      <a:accent4>
        <a:srgbClr val="FFE12C"/>
      </a:accent4>
      <a:accent5>
        <a:srgbClr val="F3A7B8"/>
      </a:accent5>
      <a:accent6>
        <a:srgbClr val="9B1827"/>
      </a:accent6>
      <a:hlink>
        <a:srgbClr val="000000"/>
      </a:hlink>
      <a:folHlink>
        <a:srgbClr val="000000"/>
      </a:folHlink>
    </a:clrScheme>
    <a:fontScheme name="Oxford Uni Press">
      <a:majorFont>
        <a:latin typeface="DM Serif Display"/>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200" dirty="0">
            <a:solidFill>
              <a:schemeClr val="tx2"/>
            </a:solidFill>
          </a:defRPr>
        </a:defPPr>
      </a:lstStyle>
    </a:txDef>
  </a:objectDefaults>
  <a:extraClrSchemeLst/>
  <a:extLst>
    <a:ext uri="{05A4C25C-085E-4340-85A3-A5531E510DB2}">
      <thm15:themeFamily xmlns:thm15="http://schemas.microsoft.com/office/thememl/2012/main" xmlns="" name="Chapter 1 - Introduction to Aglorithms" id="{37E86CF8-EEBD-42EB-8900-5384A116C268}" vid="{B927B7F4-6075-442D-95BC-A32AB05F58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1 - Introduction to Aglorithms</Template>
  <TotalTime>297</TotalTime>
  <Words>2745</Words>
  <Application>Microsoft Office PowerPoint</Application>
  <PresentationFormat>Custom</PresentationFormat>
  <Paragraphs>209</Paragraphs>
  <Slides>70</Slides>
  <Notes>0</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OUP Theme</vt:lpstr>
      <vt:lpstr>Dynamic Programming</vt:lpstr>
      <vt:lpstr>BASICS OF DYNAMIC PROGRAMMING</vt:lpstr>
      <vt:lpstr>BASICS OF DYNAMIC PROGRAMMING-cont’d</vt:lpstr>
      <vt:lpstr>Dynamic programming vs divide-and-conquer approaches</vt:lpstr>
      <vt:lpstr>Dynamic programming approach vs greedy approach</vt:lpstr>
      <vt:lpstr>Dynamic programming approach vs greedy approach</vt:lpstr>
      <vt:lpstr>Components of Dynamic Programming</vt:lpstr>
      <vt:lpstr>Components of Dynamic Programming</vt:lpstr>
      <vt:lpstr>overlapping subproblems</vt:lpstr>
      <vt:lpstr>overlapping subproblems</vt:lpstr>
      <vt:lpstr>Optimal substructure</vt:lpstr>
      <vt:lpstr>Optimal substructure</vt:lpstr>
      <vt:lpstr>Optimal substructure</vt:lpstr>
      <vt:lpstr>Optimal substructure</vt:lpstr>
      <vt:lpstr>FIBONACCI PROBLEM</vt:lpstr>
      <vt:lpstr>Bottom-up approach</vt:lpstr>
      <vt:lpstr>Fibonacci Algorithm using dynamic programming</vt:lpstr>
      <vt:lpstr>Top-down approach and Memoization</vt:lpstr>
      <vt:lpstr>Memoization technique algorithm</vt:lpstr>
      <vt:lpstr>COMPUTING BINOMIAL COEFFICIENTS</vt:lpstr>
      <vt:lpstr>COMPUTING BINOMIAL COEFFICIENTS</vt:lpstr>
      <vt:lpstr>Computing binomial coefficients Algorithm</vt:lpstr>
      <vt:lpstr>Pascal Triangle</vt:lpstr>
      <vt:lpstr>Slide 24</vt:lpstr>
      <vt:lpstr>MULTISTAGE GRAPH PROBLEM (stagecoach problem)</vt:lpstr>
      <vt:lpstr>Forward computation procedure</vt:lpstr>
      <vt:lpstr>MULTISTAGE GRAPH Algorithm</vt:lpstr>
      <vt:lpstr>MULTISTAGE GRAPH Algorithm</vt:lpstr>
      <vt:lpstr>Slide 29</vt:lpstr>
      <vt:lpstr>Backward computation procedure </vt:lpstr>
      <vt:lpstr>Slide 31</vt:lpstr>
      <vt:lpstr>TRANSITIVE CLOSURE AND WARSHELL ALGORITHM</vt:lpstr>
      <vt:lpstr>Warshall Algorithm</vt:lpstr>
      <vt:lpstr>Floyd-Warshall all-pairs shortest algorithm</vt:lpstr>
      <vt:lpstr>Floyd-Warshall all-pairs shortest algorithm</vt:lpstr>
      <vt:lpstr>Floyd-Warshall all-pairs shortest algorithm</vt:lpstr>
      <vt:lpstr>Floyd-Warshall all-pairs shortest algorithm</vt:lpstr>
      <vt:lpstr>Slide 38</vt:lpstr>
      <vt:lpstr>Slide 39</vt:lpstr>
      <vt:lpstr>Bellman-Ford Algorithm</vt:lpstr>
      <vt:lpstr>Bellman-Ford Algorithm</vt:lpstr>
      <vt:lpstr>Bellman-Ford Algorithm</vt:lpstr>
      <vt:lpstr>Bellman-Ford Algorithm</vt:lpstr>
      <vt:lpstr>Slide 44</vt:lpstr>
      <vt:lpstr>Slide 45</vt:lpstr>
      <vt:lpstr>Travelling salesman problem</vt:lpstr>
      <vt:lpstr>Travelling salesman problem</vt:lpstr>
      <vt:lpstr>Slide 48</vt:lpstr>
      <vt:lpstr>Chain Matrix Multiplication</vt:lpstr>
      <vt:lpstr>Chain Matrix Multiplication</vt:lpstr>
      <vt:lpstr>Chain Matrix Multiplication</vt:lpstr>
      <vt:lpstr>Chain Matrix Multiplication</vt:lpstr>
      <vt:lpstr>Slide 53</vt:lpstr>
      <vt:lpstr>Slide 54</vt:lpstr>
      <vt:lpstr>Knapsack Problem</vt:lpstr>
      <vt:lpstr>Knapsack Problem</vt:lpstr>
      <vt:lpstr>Knapsack Problem</vt:lpstr>
      <vt:lpstr>Slide 58</vt:lpstr>
      <vt:lpstr>Optimal Binary Search Trees</vt:lpstr>
      <vt:lpstr>Optimal Binary Search Trees</vt:lpstr>
      <vt:lpstr>Dynamic programming approach for constructing optimal BST</vt:lpstr>
      <vt:lpstr>BST Algorithm</vt:lpstr>
      <vt:lpstr>Slide 63</vt:lpstr>
      <vt:lpstr>Slide 64</vt:lpstr>
      <vt:lpstr>Slide 65</vt:lpstr>
      <vt:lpstr>Slide 66</vt:lpstr>
      <vt:lpstr>FLOW-SHOP SCHEDULING PROBLEM</vt:lpstr>
      <vt:lpstr>FLOW-SHOP SCHEDULING PROBLEM</vt:lpstr>
      <vt:lpstr>Slide 69</vt:lpstr>
      <vt:lpstr>Slide 70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 Dynamic Programming</dc:title>
  <dc:creator>rathna rajendar</dc:creator>
  <cp:lastModifiedBy>ajay.kumar</cp:lastModifiedBy>
  <cp:revision>43</cp:revision>
  <dcterms:created xsi:type="dcterms:W3CDTF">2023-11-27T16:23:04Z</dcterms:created>
  <dcterms:modified xsi:type="dcterms:W3CDTF">2026-03-18T06:14:51Z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5cb09a-2992-49d6-8ac9-5f63e7b1ad2f_Enabled">
    <vt:lpwstr>true</vt:lpwstr>
  </property>
  <property fmtid="{D5CDD505-2E9C-101B-9397-08002B2CF9AE}" pid="3" name="MSIP_Label_be5cb09a-2992-49d6-8ac9-5f63e7b1ad2f_SetDate">
    <vt:lpwstr>2023-12-14T08:54:21Z</vt:lpwstr>
  </property>
  <property fmtid="{D5CDD505-2E9C-101B-9397-08002B2CF9AE}" pid="4" name="MSIP_Label_be5cb09a-2992-49d6-8ac9-5f63e7b1ad2f_Method">
    <vt:lpwstr>Standard</vt:lpwstr>
  </property>
  <property fmtid="{D5CDD505-2E9C-101B-9397-08002B2CF9AE}" pid="5" name="MSIP_Label_be5cb09a-2992-49d6-8ac9-5f63e7b1ad2f_Name">
    <vt:lpwstr>Controlled</vt:lpwstr>
  </property>
  <property fmtid="{D5CDD505-2E9C-101B-9397-08002B2CF9AE}" pid="6" name="MSIP_Label_be5cb09a-2992-49d6-8ac9-5f63e7b1ad2f_SiteId">
    <vt:lpwstr>91761b62-4c45-43f5-9f0e-be8ad9b551ff</vt:lpwstr>
  </property>
  <property fmtid="{D5CDD505-2E9C-101B-9397-08002B2CF9AE}" pid="7" name="MSIP_Label_be5cb09a-2992-49d6-8ac9-5f63e7b1ad2f_ActionId">
    <vt:lpwstr>78d885c7-ce3f-42a9-937c-9a5158d0e817</vt:lpwstr>
  </property>
  <property fmtid="{D5CDD505-2E9C-101B-9397-08002B2CF9AE}" pid="8" name="MSIP_Label_be5cb09a-2992-49d6-8ac9-5f63e7b1ad2f_ContentBits">
    <vt:lpwstr>0</vt:lpwstr>
  </property>
</Properties>
</file>